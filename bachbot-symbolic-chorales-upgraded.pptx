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df8dddecf848cf" /><Relationship Type="http://schemas.openxmlformats.org/officeDocument/2006/relationships/extended-properties" Target="/docProps/app.xml" Id="Re5624675f9be4594" /><Relationship Type="http://schemas.openxmlformats.org/officeDocument/2006/relationships/officeDocument" Target="/ppt/presentation.xml" Id="Rff7cd67e026449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9f3f0034764412"/>
  </p:sldMasterIdLst>
  <p:notesMasterIdLst>
    <p:notesMasterId xmlns:r="http://schemas.openxmlformats.org/officeDocument/2006/relationships" r:id="R7f80088d3c5f461c"/>
  </p:notesMasterIdLst>
  <p:sldIdLst>
    <p:sldId xmlns:r="http://schemas.openxmlformats.org/officeDocument/2006/relationships" id="256" r:id="R209ce30469ed44a4"/>
    <p:sldId xmlns:r="http://schemas.openxmlformats.org/officeDocument/2006/relationships" id="257" r:id="R1e8952c240d34a90"/>
    <p:sldId xmlns:r="http://schemas.openxmlformats.org/officeDocument/2006/relationships" id="258" r:id="R83a8faedcf1a40cb"/>
    <p:sldId xmlns:r="http://schemas.openxmlformats.org/officeDocument/2006/relationships" id="259" r:id="Rf7b99c89e43949e6"/>
    <p:sldId xmlns:r="http://schemas.openxmlformats.org/officeDocument/2006/relationships" id="260" r:id="R4445198d9d1c4c1a"/>
    <p:sldId xmlns:r="http://schemas.openxmlformats.org/officeDocument/2006/relationships" id="261" r:id="R654ff715a682480a"/>
    <p:sldId xmlns:r="http://schemas.openxmlformats.org/officeDocument/2006/relationships" id="262" r:id="R86b044952b9645ad"/>
    <p:sldId xmlns:r="http://schemas.openxmlformats.org/officeDocument/2006/relationships" id="263" r:id="Rfd37513455494147"/>
    <p:sldId xmlns:r="http://schemas.openxmlformats.org/officeDocument/2006/relationships" id="264" r:id="R760dd74be2bc48aa"/>
    <p:sldId xmlns:r="http://schemas.openxmlformats.org/officeDocument/2006/relationships" id="265" r:id="R63183ce27cd14190"/>
    <p:sldId xmlns:r="http://schemas.openxmlformats.org/officeDocument/2006/relationships" id="266" r:id="Rb55f0794bcab4ef8"/>
    <p:sldId xmlns:r="http://schemas.openxmlformats.org/officeDocument/2006/relationships" id="267" r:id="Rf83ac1f573054ad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9f3f0034764412" /><Relationship Type="http://schemas.openxmlformats.org/officeDocument/2006/relationships/theme" Target="/ppt/theme/theme1.xml" Id="R143014fb085b4d52" /><Relationship Type="http://schemas.openxmlformats.org/officeDocument/2006/relationships/notesMaster" Target="/ppt/notesMasters/notesMaster1.xml" Id="R7f80088d3c5f461c" /><Relationship Type="http://schemas.openxmlformats.org/officeDocument/2006/relationships/presProps" Target="/ppt/presProps.xml" Id="R574b5e2d49eb41bc" /><Relationship Type="http://schemas.openxmlformats.org/officeDocument/2006/relationships/viewProps" Target="/ppt/viewProps.xml" Id="R3cf8490b51ef4839" /><Relationship Type="http://schemas.openxmlformats.org/officeDocument/2006/relationships/tableStyles" Target="/ppt/tableStyles.xml" Id="R3f958a91ce8641b8" /><Relationship Type="http://schemas.openxmlformats.org/officeDocument/2006/relationships/slide" Target="/ppt/slides/slide1.xml" Id="R209ce30469ed44a4" /><Relationship Type="http://schemas.openxmlformats.org/officeDocument/2006/relationships/slide" Target="/ppt/slides/slide2.xml" Id="R1e8952c240d34a90" /><Relationship Type="http://schemas.openxmlformats.org/officeDocument/2006/relationships/slide" Target="/ppt/slides/slide3.xml" Id="R83a8faedcf1a40cb" /><Relationship Type="http://schemas.openxmlformats.org/officeDocument/2006/relationships/slide" Target="/ppt/slides/slide4.xml" Id="Rf7b99c89e43949e6" /><Relationship Type="http://schemas.openxmlformats.org/officeDocument/2006/relationships/slide" Target="/ppt/slides/slide5.xml" Id="R4445198d9d1c4c1a" /><Relationship Type="http://schemas.openxmlformats.org/officeDocument/2006/relationships/slide" Target="/ppt/slides/slide6.xml" Id="R654ff715a682480a" /><Relationship Type="http://schemas.openxmlformats.org/officeDocument/2006/relationships/slide" Target="/ppt/slides/slide7.xml" Id="R86b044952b9645ad" /><Relationship Type="http://schemas.openxmlformats.org/officeDocument/2006/relationships/slide" Target="/ppt/slides/slide8.xml" Id="Rfd37513455494147" /><Relationship Type="http://schemas.openxmlformats.org/officeDocument/2006/relationships/slide" Target="/ppt/slides/slide9.xml" Id="R760dd74be2bc48aa" /><Relationship Type="http://schemas.openxmlformats.org/officeDocument/2006/relationships/slide" Target="/ppt/slides/slide10.xml" Id="R63183ce27cd14190" /><Relationship Type="http://schemas.openxmlformats.org/officeDocument/2006/relationships/slide" Target="/ppt/slides/slide11.xml" Id="Rb55f0794bcab4ef8" /><Relationship Type="http://schemas.openxmlformats.org/officeDocument/2006/relationships/slide" Target="/ppt/slides/slide12.xml" Id="Rf83ac1f573054a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6f2f62547dd4d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c74fa64aa942df" /><Relationship Type="http://schemas.openxmlformats.org/officeDocument/2006/relationships/notesMaster" Target="/ppt/notesMasters/notesMaster1.xml" Id="R1905945160c740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0edbc430734b9d" /><Relationship Type="http://schemas.openxmlformats.org/officeDocument/2006/relationships/notesMaster" Target="/ppt/notesMasters/notesMaster1.xml" Id="Rc56b1663fc9a42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e87d7edaf74b87" /><Relationship Type="http://schemas.openxmlformats.org/officeDocument/2006/relationships/notesMaster" Target="/ppt/notesMasters/notesMaster1.xml" Id="R56052d7b530948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4ff6e0b1384ce2" /><Relationship Type="http://schemas.openxmlformats.org/officeDocument/2006/relationships/notesMaster" Target="/ppt/notesMasters/notesMaster1.xml" Id="Red64ff48480740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f149c19837431b" /><Relationship Type="http://schemas.openxmlformats.org/officeDocument/2006/relationships/notesMaster" Target="/ppt/notesMasters/notesMaster1.xml" Id="R28b59da1d1ab49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b746ca0d3d454d" /><Relationship Type="http://schemas.openxmlformats.org/officeDocument/2006/relationships/notesMaster" Target="/ppt/notesMasters/notesMaster1.xml" Id="Rec23c78500ca41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f4267508e54519" /><Relationship Type="http://schemas.openxmlformats.org/officeDocument/2006/relationships/notesMaster" Target="/ppt/notesMasters/notesMaster1.xml" Id="R57ded93d3ad64f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4be950734a40b8" /><Relationship Type="http://schemas.openxmlformats.org/officeDocument/2006/relationships/notesMaster" Target="/ppt/notesMasters/notesMaster1.xml" Id="R81278349fbea42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c943412f804557" /><Relationship Type="http://schemas.openxmlformats.org/officeDocument/2006/relationships/notesMaster" Target="/ppt/notesMasters/notesMaster1.xml" Id="Re97eb0f543084e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5bab5d88fb482c" /><Relationship Type="http://schemas.openxmlformats.org/officeDocument/2006/relationships/notesMaster" Target="/ppt/notesMasters/notesMaster1.xml" Id="Reed4bf04092b45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6caa8e8f684f1b" /><Relationship Type="http://schemas.openxmlformats.org/officeDocument/2006/relationships/notesMaster" Target="/ppt/notesMasters/notesMaster1.xml" Id="R16fac047e1d54d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8ec85d126e4b24" /><Relationship Type="http://schemas.openxmlformats.org/officeDocument/2006/relationships/notesMaster" Target="/ppt/notesMasters/notesMaster1.xml" Id="Rc3c6dd6f75424d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5163d4669d45a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c1082ff0e254ee8" /><Relationship Type="http://schemas.openxmlformats.org/officeDocument/2006/relationships/slideLayout" Target="/ppt/slideLayouts/slideLayout2.xml" Id="Rb3a15a15422b49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a15a15422b49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29647146a74362" /><Relationship Type="http://schemas.openxmlformats.org/officeDocument/2006/relationships/notesSlide" Target="/ppt/notesSlides/notesSlide1.xml" Id="Rb5f92c26d83a46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8f9f3291204ae5" /><Relationship Type="http://schemas.openxmlformats.org/officeDocument/2006/relationships/notesSlide" Target="/ppt/notesSlides/notesSlide2.xml" Id="R4d6795e3dbfe45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e8ca282c26462b" /><Relationship Type="http://schemas.openxmlformats.org/officeDocument/2006/relationships/notesSlide" Target="/ppt/notesSlides/notesSlide3.xml" Id="Rae88bdd2b0b54b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c37865c4a3456f" /><Relationship Type="http://schemas.openxmlformats.org/officeDocument/2006/relationships/image" Target="/ppt/media/image.png" Id="Rc47380c86e5f4cc1" /><Relationship Type="http://schemas.openxmlformats.org/officeDocument/2006/relationships/image" Target="/ppt/media/image2.png" Id="Rc35e0385ce174356" /><Relationship Type="http://schemas.openxmlformats.org/officeDocument/2006/relationships/image" Target="/ppt/media/image3.png" Id="R0c28155fd5bf4de1" /><Relationship Type="http://schemas.openxmlformats.org/officeDocument/2006/relationships/notesSlide" Target="/ppt/notesSlides/notesSlide4.xml" Id="Rc2a76078bbc547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78ccda4b9c48e8" /><Relationship Type="http://schemas.openxmlformats.org/officeDocument/2006/relationships/notesSlide" Target="/ppt/notesSlides/notesSlide5.xml" Id="Ref8ffb93905641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c635e163c14562" /><Relationship Type="http://schemas.openxmlformats.org/officeDocument/2006/relationships/image" Target="/ppt/media/image4.png" Id="Rc6bfc396ef2c443c" /><Relationship Type="http://schemas.openxmlformats.org/officeDocument/2006/relationships/image" Target="/ppt/media/image5.png" Id="R8346020d9f9649e5" /><Relationship Type="http://schemas.openxmlformats.org/officeDocument/2006/relationships/notesSlide" Target="/ppt/notesSlides/notesSlide6.xml" Id="Rcd0283b9c2d942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ede7b8243848f1" /><Relationship Type="http://schemas.openxmlformats.org/officeDocument/2006/relationships/notesSlide" Target="/ppt/notesSlides/notesSlide7.xml" Id="Rdeb47a6738154a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54c63689554925" /><Relationship Type="http://schemas.openxmlformats.org/officeDocument/2006/relationships/image" Target="/ppt/media/image6.png" Id="R6dcfd3d043534047" /><Relationship Type="http://schemas.openxmlformats.org/officeDocument/2006/relationships/image" Target="/ppt/media/image7.png" Id="R1b0fd62245444ef3" /><Relationship Type="http://schemas.openxmlformats.org/officeDocument/2006/relationships/notesSlide" Target="/ppt/notesSlides/notesSlide8.xml" Id="R76ec9d58dc5343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d65b823b9b41eb" /><Relationship Type="http://schemas.openxmlformats.org/officeDocument/2006/relationships/notesSlide" Target="/ppt/notesSlides/notesSlide9.xml" Id="R224efb0b820543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1dd222bb614f4f" /><Relationship Type="http://schemas.openxmlformats.org/officeDocument/2006/relationships/notesSlide" Target="/ppt/notesSlides/notesSlide10.xml" Id="Rd5581c7c63e043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e6cda61f7546c3" /><Relationship Type="http://schemas.openxmlformats.org/officeDocument/2006/relationships/notesSlide" Target="/ppt/notesSlides/notesSlide11.xml" Id="R6a95be61f40a4c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7a8dffa75b41bb" /><Relationship Type="http://schemas.openxmlformats.org/officeDocument/2006/relationships/notesSlide" Target="/ppt/notesSlides/notesSlide12.xml" Id="R7b709a6b1e0e4c9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6D07E3-7BB8-46E8-91B2-52742C76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9E654-5029-4051-B918-6FB68C96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533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BachBot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4D1C5-C828-48B0-ABE2-97A9096D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676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4D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9E4DD"/>
                </a:solidFill>
                <a:latin typeface="Aptos"/>
                <a:ea typeface="Aptos"/>
                <a:cs typeface="Aptos"/>
              </a:rPr>
              <a:t>Symbolic Bach-style chorale generation with neural models plus music-theory decoding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F62ED-6EA1-4832-9ED3-9EDFCC74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2190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01803-D131-4F09-A927-AB21BBD3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62702-A970-4FD6-AC4C-79B08C1B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371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4CF7B-E9CC-4169-88E5-468DA2CE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042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865"/>
                </a:solidFill>
                <a:latin typeface="Aptos"/>
                <a:ea typeface="Aptos"/>
                <a:cs typeface="Aptos"/>
              </a:rPr>
              <a:t>usable Bach chorales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FFA46-A9C3-4A58-9D63-827EBEF4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36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36A"/>
                </a:solidFill>
                <a:latin typeface="Aptos"/>
                <a:ea typeface="Aptos"/>
                <a:cs typeface="Aptos"/>
              </a:rPr>
              <a:t>from music21 corpus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229FBD-6E9E-489A-A2E8-39B2FDFF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2381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B18AF-9971-4BCF-98F4-73142179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74"/>
          </a:solidFill>
          <a:ln xmlns:a="http://schemas.openxmlformats.org/drawingml/2006/main" w="0">
            <a:solidFill>
              <a:srgbClr val="2D7D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F92FC-0215-4CB8-9A0D-E93F6E11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480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1107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73B6C-F22F-4C63-A976-59436E31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004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865"/>
                </a:solidFill>
                <a:latin typeface="Aptos"/>
                <a:ea typeface="Aptos"/>
                <a:cs typeface="Aptos"/>
              </a:rPr>
              <a:t>augmented train sequences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9EBEC-1826-4E6D-80F6-EE9BF75A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385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36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36A"/>
                </a:solidFill>
                <a:latin typeface="Aptos"/>
                <a:ea typeface="Aptos"/>
                <a:cs typeface="Aptos"/>
              </a:rPr>
              <a:t>train split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7F052-DF48-4AA7-B69F-1296BF26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52750"/>
            <a:ext cx="2381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58BD1-F8EA-497F-9F1F-1BFED244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52750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C8E"/>
          </a:solidFill>
          <a:ln xmlns:a="http://schemas.openxmlformats.org/drawingml/2006/main" w="0">
            <a:solidFill>
              <a:srgbClr val="3D6C8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020ED3-AD22-4E33-AF4C-E31222C3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F84F17-6CF9-4935-8460-99F44991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004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865"/>
                </a:solidFill>
                <a:latin typeface="Aptos"/>
                <a:ea typeface="Aptos"/>
                <a:cs typeface="Aptos"/>
              </a:rPr>
              <a:t>assignment tasks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8DBCFB-01E9-4E57-BCB7-C1784A48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385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36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36A"/>
                </a:solidFill>
                <a:latin typeface="Aptos"/>
                <a:ea typeface="Aptos"/>
                <a:cs typeface="Aptos"/>
              </a:rPr>
              <a:t>free generation + harmonization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E8CEA-9D4A-416A-873E-B1180F0A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95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14CD8D-7808-4256-B721-B84640AC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4780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4"/>
          </a:solidFill>
          <a:ln xmlns:a="http://schemas.openxmlformats.org/drawingml/2006/main" w="0">
            <a:solidFill>
              <a:srgbClr val="E8E2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15771F-9C71-4EA8-A917-BC01C8B7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295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761741-D9E7-4351-97FC-A2EA4E9D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295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990FEB-13A2-4F61-9330-75E23073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295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E91E2A-1D39-474C-BDAB-36014891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295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094C64-A7E0-405C-9A5D-608A3F8C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44780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4"/>
          </a:solidFill>
          <a:ln xmlns:a="http://schemas.openxmlformats.org/drawingml/2006/main" w="0">
            <a:solidFill>
              <a:srgbClr val="E8E2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20A49B-9853-490A-9559-EF43B96F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295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1ADC35-0114-4493-B03E-EE9799EA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295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C4C483-1B4B-4C28-9542-9F0EBB73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295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A4F961-F056-42B9-9633-BA59DE73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295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5F1289-B776-4ED1-99D3-A28A12A0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44780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4"/>
          </a:solidFill>
          <a:ln xmlns:a="http://schemas.openxmlformats.org/drawingml/2006/main" w="0">
            <a:solidFill>
              <a:srgbClr val="E8E2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873F53-3391-414A-856E-CDB93808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295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C4C14A-5C1E-41FD-813A-165B183F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295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6E1A29-37BA-4AB4-ACBB-8B7305CD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295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B2D0EF-A291-4DB1-8064-720C8052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52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74"/>
          </a:solidFill>
          <a:ln xmlns:a="http://schemas.openxmlformats.org/drawingml/2006/main" w="0">
            <a:solidFill>
              <a:srgbClr val="2D7D7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808846-6CAA-4447-A886-A615349F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52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74"/>
          </a:solidFill>
          <a:ln xmlns:a="http://schemas.openxmlformats.org/drawingml/2006/main" w="0">
            <a:solidFill>
              <a:srgbClr val="2D7D7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58CB4E-BAA1-4F52-B117-C326EAD1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52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74"/>
          </a:solidFill>
          <a:ln xmlns:a="http://schemas.openxmlformats.org/drawingml/2006/main" w="0">
            <a:solidFill>
              <a:srgbClr val="2D7D7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6E30B0-FFA0-4126-9053-91B10678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52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74"/>
          </a:solidFill>
          <a:ln xmlns:a="http://schemas.openxmlformats.org/drawingml/2006/main" w="0">
            <a:solidFill>
              <a:srgbClr val="2D7D7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578E0D-322A-4E3E-9E72-0CC18289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0500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4"/>
          </a:solidFill>
          <a:ln xmlns:a="http://schemas.openxmlformats.org/drawingml/2006/main" w="0">
            <a:solidFill>
              <a:srgbClr val="E8E2D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8352F1-868D-4C70-B91B-C3232CCD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52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74"/>
          </a:solidFill>
          <a:ln xmlns:a="http://schemas.openxmlformats.org/drawingml/2006/main" w="0">
            <a:solidFill>
              <a:srgbClr val="2D7D7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526200-4992-459A-8549-0EE04246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52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74"/>
          </a:solidFill>
          <a:ln xmlns:a="http://schemas.openxmlformats.org/drawingml/2006/main" w="0">
            <a:solidFill>
              <a:srgbClr val="2D7D7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D94AF9-0059-4D6C-878C-3EE0850A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752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74"/>
          </a:solidFill>
          <a:ln xmlns:a="http://schemas.openxmlformats.org/drawingml/2006/main" w="0">
            <a:solidFill>
              <a:srgbClr val="2D7D7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A86F53-63B7-4067-999C-F53FD7F9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752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74"/>
          </a:solidFill>
          <a:ln xmlns:a="http://schemas.openxmlformats.org/drawingml/2006/main" w="0">
            <a:solidFill>
              <a:srgbClr val="2D7D7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2ED60E-5BE3-4F5E-9EFD-99FBF696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0500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4"/>
          </a:solidFill>
          <a:ln xmlns:a="http://schemas.openxmlformats.org/drawingml/2006/main" w="0">
            <a:solidFill>
              <a:srgbClr val="E8E2D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A86C3E-982B-44C6-9A25-B15E48A0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752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74"/>
          </a:solidFill>
          <a:ln xmlns:a="http://schemas.openxmlformats.org/drawingml/2006/main" w="0">
            <a:solidFill>
              <a:srgbClr val="2D7D7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50F18C-1702-4152-9CCA-DFF878CF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752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74"/>
          </a:solidFill>
          <a:ln xmlns:a="http://schemas.openxmlformats.org/drawingml/2006/main" w="0">
            <a:solidFill>
              <a:srgbClr val="2D7D7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14F662-CB68-4A01-B09B-2E40B6D7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752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74"/>
          </a:solidFill>
          <a:ln xmlns:a="http://schemas.openxmlformats.org/drawingml/2006/main" w="0">
            <a:solidFill>
              <a:srgbClr val="2D7D7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CD15C26-F231-465E-82E6-9D9A0CAE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52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74"/>
          </a:solidFill>
          <a:ln xmlns:a="http://schemas.openxmlformats.org/drawingml/2006/main" w="0">
            <a:solidFill>
              <a:srgbClr val="2D7D7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852F41-0A70-40FE-996E-5296594F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90500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4"/>
          </a:solidFill>
          <a:ln xmlns:a="http://schemas.openxmlformats.org/drawingml/2006/main" w="0">
            <a:solidFill>
              <a:srgbClr val="E8E2D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279096-76B0-48D2-BF2C-5963D1B3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098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C8E"/>
          </a:solidFill>
          <a:ln xmlns:a="http://schemas.openxmlformats.org/drawingml/2006/main" w="0">
            <a:solidFill>
              <a:srgbClr val="3D6C8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6C21A0-68AF-4AFB-9E29-A465B5AD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C8E"/>
          </a:solidFill>
          <a:ln xmlns:a="http://schemas.openxmlformats.org/drawingml/2006/main" w="0">
            <a:solidFill>
              <a:srgbClr val="3D6C8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EACBD80-4886-4186-8FDD-74A548F5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098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C8E"/>
          </a:solidFill>
          <a:ln xmlns:a="http://schemas.openxmlformats.org/drawingml/2006/main" w="0">
            <a:solidFill>
              <a:srgbClr val="3D6C8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3491DEC-81BE-4A43-BE3D-B89DFE8B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6220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4"/>
          </a:solidFill>
          <a:ln xmlns:a="http://schemas.openxmlformats.org/drawingml/2006/main" w="0">
            <a:solidFill>
              <a:srgbClr val="E8E2D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C7653F7-6084-47A1-9D78-32693135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098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C8E"/>
          </a:solidFill>
          <a:ln xmlns:a="http://schemas.openxmlformats.org/drawingml/2006/main" w="0">
            <a:solidFill>
              <a:srgbClr val="3D6C8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21AA9E-2451-4D2F-BAB2-54F2BE7B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098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C8E"/>
          </a:solidFill>
          <a:ln xmlns:a="http://schemas.openxmlformats.org/drawingml/2006/main" w="0">
            <a:solidFill>
              <a:srgbClr val="3D6C8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E919D8E-C131-4AC6-948E-17EE09A9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098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C8E"/>
          </a:solidFill>
          <a:ln xmlns:a="http://schemas.openxmlformats.org/drawingml/2006/main" w="0">
            <a:solidFill>
              <a:srgbClr val="3D6C8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5A576D1-DF56-4DCA-BE85-8EA974F9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098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C8E"/>
          </a:solidFill>
          <a:ln xmlns:a="http://schemas.openxmlformats.org/drawingml/2006/main" w="0">
            <a:solidFill>
              <a:srgbClr val="3D6C8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DEBDEB2-675D-4D21-A9AE-837325B6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6220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4"/>
          </a:solidFill>
          <a:ln xmlns:a="http://schemas.openxmlformats.org/drawingml/2006/main" w="0">
            <a:solidFill>
              <a:srgbClr val="E8E2D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3410694-EC6F-420A-8EF4-0D59EAA9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098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C8E"/>
          </a:solidFill>
          <a:ln xmlns:a="http://schemas.openxmlformats.org/drawingml/2006/main" w="0">
            <a:solidFill>
              <a:srgbClr val="3D6C8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5B442C9-34EF-42E6-87E4-685C1F07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2098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C8E"/>
          </a:solidFill>
          <a:ln xmlns:a="http://schemas.openxmlformats.org/drawingml/2006/main" w="0">
            <a:solidFill>
              <a:srgbClr val="3D6C8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1798E8C-C5AE-487A-921A-C6D164A7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2098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C8E"/>
          </a:solidFill>
          <a:ln xmlns:a="http://schemas.openxmlformats.org/drawingml/2006/main" w="0">
            <a:solidFill>
              <a:srgbClr val="3D6C8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70C2892-D599-4826-8C2C-D03C6200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098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C8E"/>
          </a:solidFill>
          <a:ln xmlns:a="http://schemas.openxmlformats.org/drawingml/2006/main" w="0">
            <a:solidFill>
              <a:srgbClr val="3D6C8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0D99134-BDD1-4A13-A544-018FC1B9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36220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4"/>
          </a:solidFill>
          <a:ln xmlns:a="http://schemas.openxmlformats.org/drawingml/2006/main" w="0">
            <a:solidFill>
              <a:srgbClr val="E8E2D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4269153-EF44-4600-AB6B-390797AC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098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C8E"/>
          </a:solidFill>
          <a:ln xmlns:a="http://schemas.openxmlformats.org/drawingml/2006/main" w="0">
            <a:solidFill>
              <a:srgbClr val="3D6C8E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7734164-F3F7-499C-89D6-87C3315D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67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A4C"/>
          </a:solidFill>
          <a:ln xmlns:a="http://schemas.openxmlformats.org/drawingml/2006/main" w="0">
            <a:solidFill>
              <a:srgbClr val="668A4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3BF711F-40C4-48B1-AF36-59EC8A76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67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A4C"/>
          </a:solidFill>
          <a:ln xmlns:a="http://schemas.openxmlformats.org/drawingml/2006/main" w="0">
            <a:solidFill>
              <a:srgbClr val="668A4C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945D4E8-07E0-4BC2-BA3D-4E9A6EB4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1940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4"/>
          </a:solidFill>
          <a:ln xmlns:a="http://schemas.openxmlformats.org/drawingml/2006/main" w="0">
            <a:solidFill>
              <a:srgbClr val="E8E2D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C1B62BB-B606-4682-839B-16A90E44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67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A4C"/>
          </a:solidFill>
          <a:ln xmlns:a="http://schemas.openxmlformats.org/drawingml/2006/main" w="0">
            <a:solidFill>
              <a:srgbClr val="668A4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B12A950-0F12-42E0-8982-3E2914C5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67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A4C"/>
          </a:solidFill>
          <a:ln xmlns:a="http://schemas.openxmlformats.org/drawingml/2006/main" w="0">
            <a:solidFill>
              <a:srgbClr val="668A4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A190318-55AF-46B9-BA6B-246348D3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67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A4C"/>
          </a:solidFill>
          <a:ln xmlns:a="http://schemas.openxmlformats.org/drawingml/2006/main" w="0">
            <a:solidFill>
              <a:srgbClr val="668A4C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1585CAE-243F-4012-B9A8-7BDC2CCB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A4C"/>
          </a:solidFill>
          <a:ln xmlns:a="http://schemas.openxmlformats.org/drawingml/2006/main" w="0">
            <a:solidFill>
              <a:srgbClr val="668A4C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2522881-3DBD-4AFF-A50B-A9D4B625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1940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4"/>
          </a:solidFill>
          <a:ln xmlns:a="http://schemas.openxmlformats.org/drawingml/2006/main" w="0">
            <a:solidFill>
              <a:srgbClr val="E8E2D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741115D-11DA-4D43-8841-6F3CD35D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67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A4C"/>
          </a:solidFill>
          <a:ln xmlns:a="http://schemas.openxmlformats.org/drawingml/2006/main" w="0">
            <a:solidFill>
              <a:srgbClr val="668A4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39B6403-0DFF-41AD-83D2-F19CEBEA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67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A4C"/>
          </a:solidFill>
          <a:ln xmlns:a="http://schemas.openxmlformats.org/drawingml/2006/main" w="0">
            <a:solidFill>
              <a:srgbClr val="668A4C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F824EC1-F2DF-487E-B399-683261D9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67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A4C"/>
          </a:solidFill>
          <a:ln xmlns:a="http://schemas.openxmlformats.org/drawingml/2006/main" w="0">
            <a:solidFill>
              <a:srgbClr val="668A4C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21FD1E6-4DE2-4A95-9338-5A4538D9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667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A4C"/>
          </a:solidFill>
          <a:ln xmlns:a="http://schemas.openxmlformats.org/drawingml/2006/main" w="0">
            <a:solidFill>
              <a:srgbClr val="668A4C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2B87696-4B0C-4C49-B3DC-AEF6114E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81940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4"/>
          </a:solidFill>
          <a:ln xmlns:a="http://schemas.openxmlformats.org/drawingml/2006/main" w="0">
            <a:solidFill>
              <a:srgbClr val="E8E2D4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48E2BF8-431B-4101-9381-82A94996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67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A4C"/>
          </a:solidFill>
          <a:ln xmlns:a="http://schemas.openxmlformats.org/drawingml/2006/main" w="0">
            <a:solidFill>
              <a:srgbClr val="668A4C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9092EA7-EF1E-48D2-AFFD-67779375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667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A4C"/>
          </a:solidFill>
          <a:ln xmlns:a="http://schemas.openxmlformats.org/drawingml/2006/main" w="0">
            <a:solidFill>
              <a:srgbClr val="668A4C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E624124-14D4-4D1D-9391-37144A32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052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SATB token grid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F7B182D-0088-40AD-AA26-BA1AAA43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909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5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5CF"/>
                </a:solidFill>
                <a:latin typeface="Aptos"/>
                <a:ea typeface="Aptos"/>
                <a:cs typeface="Aptos"/>
              </a:rPr>
              <a:t>soprano | alto | tenor | bass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40E7881-8E6A-49F1-84C0-8BCCB283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1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17C"/>
                </a:solidFill>
                <a:latin typeface="Aptos"/>
                <a:ea typeface="Aptos"/>
                <a:cs typeface="Aptos"/>
              </a:rPr>
              <a:t>BachBot | CSE 253 Assignment 2 | 01</a:t>
            </a:r>
          </a:p>
        </p:txBody>
      </p:sp>
    </p:spTree>
    <p:extLst>
      <p:ext uri="{BB962C8B-B14F-4D97-AF65-F5344CB8AC3E}">
        <p14:creationId xmlns:p14="http://schemas.microsoft.com/office/powerpoint/2010/main" val="13926641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B2B0F0-CC86-477B-A3BD-8824A1E7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A929B-7D28-45F3-8C44-C691AE4C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048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01DFE-ABBD-460F-A334-413C05D1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191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6664D-5CD9-4F0E-8957-20AD2174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33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CFC32-3C48-4FDA-A6E9-50465B0C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477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89624-E5D9-4B7C-9BDB-8A2B4332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20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4ED6F-AD05-45B3-8688-F18741D8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8102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FEA3E-4B42-47F2-A162-76658643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9245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F2B9B-103F-48A2-A3A8-EEB51B74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038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A76A8-8F94-4EF1-BF89-A504B9DF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531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A8F4E-2110-4D2B-AFD0-080405E4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2674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CD6C2-0E0A-416E-8B6F-494B63CD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B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9B3D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798D5-0E20-4679-9C0A-1E13C3F9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242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2424"/>
                </a:solidFill>
                <a:latin typeface="Aptos Display"/>
                <a:ea typeface="Aptos Display"/>
                <a:cs typeface="Aptos Display"/>
              </a:rPr>
              <a:t>A complete pipeline, then two generation tasks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354416-F7EC-4F48-80B7-5F81FDC5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The talk follows the same path as the code and the final workbook.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0D1F90-F197-4C1D-8FB4-B32599FD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428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BA617-A865-45A3-B9B7-A1487D48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AE2C35-8AF6-4353-8B9C-5E9A2814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99B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C99B3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4B8675-8C73-41CF-B95F-1FFEF7B9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218EF5-2435-425B-BDF4-8D719487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162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music21 Bach chorales -&gt; SATB token grids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9C1563-DF77-4F87-B7C0-0AC08B10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289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AA99"/>
          </a:solidFill>
          <a:ln xmlns:a="http://schemas.openxmlformats.org/drawingml/2006/main" w="0">
            <a:solidFill>
              <a:srgbClr val="B5AA9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9FB06A-20EA-4F69-A979-937C08D4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97180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AA99"/>
          </a:solidFill>
          <a:ln xmlns:a="http://schemas.openxmlformats.org/drawingml/2006/main" w="0">
            <a:solidFill>
              <a:srgbClr val="B5AA9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7EC3C7-3A95-4197-847C-1A05ABC4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57450"/>
            <a:ext cx="1428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25AB54-5EB7-4E3D-A272-A28DA0F4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574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A4C"/>
          </a:solidFill>
          <a:ln xmlns:a="http://schemas.openxmlformats.org/drawingml/2006/main" w="0">
            <a:solidFill>
              <a:srgbClr val="668A4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0EEE23-D14E-4AA8-B22B-73EFE9BA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28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68A4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68A4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7EBD17-5023-49E1-9376-4923749E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8605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EDA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7D7FEB-9652-4618-89C6-C4E38D69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05150"/>
            <a:ext cx="1162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sequence length, voice ranges, pitch classes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93BE29-8290-4D42-B295-A6A5E882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289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AA99"/>
          </a:solidFill>
          <a:ln xmlns:a="http://schemas.openxmlformats.org/drawingml/2006/main" w="0">
            <a:solidFill>
              <a:srgbClr val="B5AA9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64080A-25D8-41CE-B712-894009F9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97180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AA99"/>
          </a:solidFill>
          <a:ln xmlns:a="http://schemas.openxmlformats.org/drawingml/2006/main" w="0">
            <a:solidFill>
              <a:srgbClr val="B5AA9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E1CB86-8869-40DC-B2B5-075DF05E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57450"/>
            <a:ext cx="1428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2C9D7C-A53D-44F7-8F4D-1BAAAF3C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574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C8E"/>
          </a:solidFill>
          <a:ln xmlns:a="http://schemas.openxmlformats.org/drawingml/2006/main" w="0">
            <a:solidFill>
              <a:srgbClr val="3D6C8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FFED2A-7918-4298-BF74-BAB05F55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28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6C8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D6C8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8909BD-1FC1-4282-815B-F8E9EF27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8605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Task 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1B7744-D4C2-4065-988C-C6D71952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1162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unconditioned GRU + reranking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292424-C952-41D3-B9CF-2C82BCD7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289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AA99"/>
          </a:solidFill>
          <a:ln xmlns:a="http://schemas.openxmlformats.org/drawingml/2006/main" w="0">
            <a:solidFill>
              <a:srgbClr val="B5AA9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D3D4E2-75F4-462F-894E-958619B6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97180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AA99"/>
          </a:solidFill>
          <a:ln xmlns:a="http://schemas.openxmlformats.org/drawingml/2006/main" w="0">
            <a:solidFill>
              <a:srgbClr val="B5AA9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7282A0-8D90-473D-8E19-3B725ADF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1428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86403F-0843-4D8C-9824-B58CB34C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74"/>
          </a:solidFill>
          <a:ln xmlns:a="http://schemas.openxmlformats.org/drawingml/2006/main" w="0">
            <a:solidFill>
              <a:srgbClr val="2D7D7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354BAD-A092-411A-9179-D54A0685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28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D7D7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D7D74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F71C19-9A84-4119-B716-02697A9D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8605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Task 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206FF3-A71B-4D6D-BB64-8047B351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05150"/>
            <a:ext cx="1162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soprano-conditioned harmonization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C7CB71-8C32-4A33-92CB-68DAF976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289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AA99"/>
          </a:solidFill>
          <a:ln xmlns:a="http://schemas.openxmlformats.org/drawingml/2006/main" w="0">
            <a:solidFill>
              <a:srgbClr val="B5AA9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0450EC-CD96-451D-8631-06C2F393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97180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AA99"/>
          </a:solidFill>
          <a:ln xmlns:a="http://schemas.openxmlformats.org/drawingml/2006/main" w="0">
            <a:solidFill>
              <a:srgbClr val="B5AA9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A6BCB5-6786-47EF-95CB-0BFCA6C6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1428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C3D9C1-85FA-41B7-B7E2-78C234A8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84B"/>
          </a:solidFill>
          <a:ln xmlns:a="http://schemas.openxmlformats.org/drawingml/2006/main" w="0">
            <a:solidFill>
              <a:srgbClr val="A9584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BB2739-D3CF-46E6-903D-B4F6BBAD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28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9584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A9584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E56A5E-EFD0-4B66-B6A7-0642074E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8605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444002-FFEE-42F0-8715-90603DE0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05150"/>
            <a:ext cx="1162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ML fit + music-theory metrics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135C17-60E9-470E-AEE1-9C9D9A4D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AA99"/>
          </a:solidFill>
          <a:ln xmlns:a="http://schemas.openxmlformats.org/drawingml/2006/main" w="0">
            <a:solidFill>
              <a:srgbClr val="B5AA9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C29E86D-B125-4B53-B808-D379F79B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97180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AA99"/>
          </a:solidFill>
          <a:ln xmlns:a="http://schemas.openxmlformats.org/drawingml/2006/main" w="0">
            <a:solidFill>
              <a:srgbClr val="B5AA9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96F4F6-D96A-489D-A596-0FE501F1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57450"/>
            <a:ext cx="1428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BD68D0-FA9B-4867-996C-89AF25A8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574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24"/>
          </a:solidFill>
          <a:ln xmlns:a="http://schemas.openxmlformats.org/drawingml/2006/main" w="0">
            <a:solidFill>
              <a:srgbClr val="1D242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253DD29-8C36-41A4-BBDC-50069722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28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65CD46-EDB9-4538-984D-CEB421FD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8605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17A7732-EF89-446C-8340-354C93F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05150"/>
            <a:ext cx="1162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final MIDI files and limits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B0E8174-209B-4971-851B-86CBCC98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1038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9"/>
          </a:solidFill>
          <a:ln xmlns:a="http://schemas.openxmlformats.org/drawingml/2006/main" w="9525">
            <a:solidFill>
              <a:srgbClr val="D0C5B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71A20B-8503-40FD-9901-A7A7AD92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9B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99B3D"/>
                </a:solidFill>
                <a:latin typeface="Aptos"/>
                <a:ea typeface="Aptos"/>
                <a:cs typeface="Aptos"/>
              </a:rPr>
              <a:t>Core thesis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9CECA0C-8132-4D71-AD98-464A57FE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86300"/>
            <a:ext cx="771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For small symbolic music models, decoding and musical constraints matter as much as raw neural likelihood.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3470930-FE40-48DA-868D-5F1A3350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1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17C"/>
                </a:solidFill>
                <a:latin typeface="Aptos"/>
                <a:ea typeface="Aptos"/>
                <a:cs typeface="Aptos"/>
              </a:rPr>
              <a:t>BachBot | CSE 253 Assignment 2 | 02</a:t>
            </a:r>
          </a:p>
        </p:txBody>
      </p:sp>
    </p:spTree>
    <p:extLst>
      <p:ext uri="{BB962C8B-B14F-4D97-AF65-F5344CB8AC3E}">
        <p14:creationId xmlns:p14="http://schemas.microsoft.com/office/powerpoint/2010/main" val="19971599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6A7498-EEC3-47CD-9E7D-9E1F6858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E4C6A-25DB-46FD-A3D7-83DDD733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048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A0176-CC77-42AE-9289-0DAC7B6E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191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53A97-65C2-4E18-AC02-E4A4FDFD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33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3DE85-D6FC-4D64-8DD6-4B7BC524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477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C585E-037F-47DD-A84D-70E8BFD0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20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16763-B5CC-4274-9B42-C4012691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8102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AB9FC-7F67-4B39-8C9A-66D781BF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9245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12B66-CC83-419E-88D9-D5F6D3CF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038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5E604-3577-434E-ABAC-B2F32576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531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4596A-6CE1-45EE-A58A-7F1426F4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2674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6CE78-4AEC-4988-BEEE-1A1F32A8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B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9B3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EBC7D-7EB1-4918-A433-D0CA3C71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242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2424"/>
                </a:solidFill>
                <a:latin typeface="Aptos Display"/>
                <a:ea typeface="Aptos Display"/>
                <a:cs typeface="Aptos Display"/>
              </a:rPr>
              <a:t>Real Bach chorales become a shared SATB grid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FC6FE0-3932-4910-AE0C-87707807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Both assignment tasks reuse the same representation and vocabulary.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01B84C-580F-484D-9778-03207608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E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4F7567-A10D-447D-85D3-6345B843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F72853-8687-40C3-B152-1F7D2EFE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Bach corpus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AAEED3-DE47-47E8-B7C4-838DFA64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543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371 usable chorales loaded from music21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CF995E-BC5B-497E-934D-E1A37FF6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9550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E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A8A95F-5EA6-41B9-AABB-6F9B8146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955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A4C"/>
          </a:solidFill>
          <a:ln xmlns:a="http://schemas.openxmlformats.org/drawingml/2006/main" w="0">
            <a:solidFill>
              <a:srgbClr val="668A4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C8D50A-CC78-4F8B-BF6F-2F5E37C9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2885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Quantize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E119FF-9397-4A17-8412-F02CE64F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05075"/>
            <a:ext cx="1543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eighth-note grid: 0.5 quarter length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8D56B2-192E-4E7D-8FA4-1747A333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9550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EB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AFA94B-D45F-4DCA-BAA0-A7954E2F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955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C8E"/>
          </a:solidFill>
          <a:ln xmlns:a="http://schemas.openxmlformats.org/drawingml/2006/main" w="0">
            <a:solidFill>
              <a:srgbClr val="3D6C8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217CA6-A24D-49DF-9A1B-8422EF18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2885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SATB matrix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19E995-2424-4BAB-935A-B8F3258F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05075"/>
            <a:ext cx="1543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T x 4 rows: soprano, alto, tenor, bass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5CD3E4-B225-45C5-B42E-542C1282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9550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E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7946C7-BDDE-407E-9B99-866D24FB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955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74"/>
          </a:solidFill>
          <a:ln xmlns:a="http://schemas.openxmlformats.org/drawingml/2006/main" w="0">
            <a:solidFill>
              <a:srgbClr val="2D7D7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ADBC32-191D-4490-BDBB-2BB4B07E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2885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Tokenize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B60FB2-C9FC-49A2-9496-70F2C4D8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05075"/>
            <a:ext cx="1543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88 MIDI pitch tokens + 5 special symbols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509390-E890-49C1-BD91-AC8A2D41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EB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22C178-4265-4065-B7B6-F34A5A7F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84B"/>
          </a:solidFill>
          <a:ln xmlns:a="http://schemas.openxmlformats.org/drawingml/2006/main" w="0">
            <a:solidFill>
              <a:srgbClr val="A9584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1271A0-585C-472B-BC03-65A63F0E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2885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Split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D74B90-2650-4AB7-B654-FFA45840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05075"/>
            <a:ext cx="1543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train, validation, test; augment train only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E481AB-5001-42FF-8A86-0E2D257D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479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AA99"/>
          </a:solidFill>
          <a:ln xmlns:a="http://schemas.openxmlformats.org/drawingml/2006/main" w="0">
            <a:solidFill>
              <a:srgbClr val="B5AA9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75789E-8E11-48FE-9A72-30789A84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59080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AA99"/>
          </a:solidFill>
          <a:ln xmlns:a="http://schemas.openxmlformats.org/drawingml/2006/main" w="0">
            <a:solidFill>
              <a:srgbClr val="B5AA9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08AE91-D66B-461B-BF4C-67F239FF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AA99"/>
          </a:solidFill>
          <a:ln xmlns:a="http://schemas.openxmlformats.org/drawingml/2006/main" w="0">
            <a:solidFill>
              <a:srgbClr val="B5AA9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9D5BAE-8A0C-4273-AB34-6BBD9CC5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59080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AA99"/>
          </a:solidFill>
          <a:ln xmlns:a="http://schemas.openxmlformats.org/drawingml/2006/main" w="0">
            <a:solidFill>
              <a:srgbClr val="B5AA9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801CE-2D93-4407-A31E-1BBC2872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AA99"/>
          </a:solidFill>
          <a:ln xmlns:a="http://schemas.openxmlformats.org/drawingml/2006/main" w="0">
            <a:solidFill>
              <a:srgbClr val="B5AA9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9D834C-C5E9-4FA9-B48F-78E8C867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59080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AA99"/>
          </a:solidFill>
          <a:ln xmlns:a="http://schemas.openxmlformats.org/drawingml/2006/main" w="0">
            <a:solidFill>
              <a:srgbClr val="B5AA9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E29F44-C791-4581-BD6B-DEE5EA06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AA99"/>
          </a:solidFill>
          <a:ln xmlns:a="http://schemas.openxmlformats.org/drawingml/2006/main" w="0">
            <a:solidFill>
              <a:srgbClr val="B5AA9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1930B9-E391-48DD-B362-1FF9B0E3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9080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AA99"/>
          </a:solidFill>
          <a:ln xmlns:a="http://schemas.openxmlformats.org/drawingml/2006/main" w="0">
            <a:solidFill>
              <a:srgbClr val="B5AA9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48738A-1D26-4D3F-BFB9-03124B8F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2381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087A5C-87C1-461D-9423-0F4DD192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72374A-C22E-4286-B76C-5347323D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862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260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FC44C4-0988-42C9-A864-46C2680B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386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865"/>
                </a:solidFill>
                <a:latin typeface="Aptos"/>
                <a:ea typeface="Aptos"/>
                <a:cs typeface="Aptos"/>
              </a:rPr>
              <a:t>original train chorales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6F6E2DE-C9F5-4550-9C69-A860B2F9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768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36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36A"/>
                </a:solidFill>
                <a:latin typeface="Aptos"/>
                <a:ea typeface="Aptos"/>
                <a:cs typeface="Aptos"/>
              </a:rPr>
              <a:t>before augmentation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B4602F-8CFE-44D0-BC6B-45D56314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91000"/>
            <a:ext cx="2381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681AED-5A5A-4E67-92CD-5D7AFE7D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91000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C8E"/>
          </a:solidFill>
          <a:ln xmlns:a="http://schemas.openxmlformats.org/drawingml/2006/main" w="0">
            <a:solidFill>
              <a:srgbClr val="3D6C8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C19643-BCF6-447C-881A-7113703E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2862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56 / 55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22BAEE2-7AF0-4A5A-B855-9E227D10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386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865"/>
                </a:solidFill>
                <a:latin typeface="Aptos"/>
                <a:ea typeface="Aptos"/>
                <a:cs typeface="Aptos"/>
              </a:rPr>
              <a:t>validation / test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A770DC-F201-48CB-8CDC-D17A1EF1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768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36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36A"/>
                </a:solidFill>
                <a:latin typeface="Aptos"/>
                <a:ea typeface="Aptos"/>
                <a:cs typeface="Aptos"/>
              </a:rPr>
              <a:t>not augmented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AD9863-39F7-4989-BB44-979A5335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91000"/>
            <a:ext cx="2381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72320BB-C9FD-4D1E-B4AD-AB7350D5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91000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74"/>
          </a:solidFill>
          <a:ln xmlns:a="http://schemas.openxmlformats.org/drawingml/2006/main" w="0">
            <a:solidFill>
              <a:srgbClr val="2D7D7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6098400-45CC-47BD-978B-AB756F13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862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93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EDCD94E-42F6-4EA4-BEB8-BBF07464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386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865"/>
                </a:solidFill>
                <a:latin typeface="Aptos"/>
                <a:ea typeface="Aptos"/>
                <a:cs typeface="Aptos"/>
              </a:rPr>
              <a:t>vocabulary size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330F9F0-FBC8-4E02-9A3B-2DAC2A65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768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36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36A"/>
                </a:solidFill>
                <a:latin typeface="Aptos"/>
                <a:ea typeface="Aptos"/>
                <a:cs typeface="Aptos"/>
              </a:rPr>
              <a:t>pitches + special tokens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4DD4577-58FD-4022-A062-00932060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91000"/>
            <a:ext cx="2095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4A5E8A8-DF87-4D51-9704-A4088001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91000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A4C"/>
          </a:solidFill>
          <a:ln xmlns:a="http://schemas.openxmlformats.org/drawingml/2006/main" w="0">
            <a:solidFill>
              <a:srgbClr val="668A4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E86E8AE-A78C-49BD-A44B-55273D61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862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0.5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7E8A510-3B7D-47AA-8226-988C80C4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386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865"/>
                </a:solidFill>
                <a:latin typeface="Aptos"/>
                <a:ea typeface="Aptos"/>
                <a:cs typeface="Aptos"/>
              </a:rPr>
              <a:t>quarter-length grid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5CE2A84-F09B-4459-8BDC-68F0792A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768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36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36A"/>
                </a:solidFill>
                <a:latin typeface="Aptos"/>
                <a:ea typeface="Aptos"/>
                <a:cs typeface="Aptos"/>
              </a:rPr>
              <a:t>eighth-note resolution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FB125E0-F96B-490F-9C4D-6ABB01AC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6800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A"/>
          </a:solidFill>
          <a:ln xmlns:a="http://schemas.openxmlformats.org/drawingml/2006/main" w="9525">
            <a:solidFill>
              <a:srgbClr val="D7CEBC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4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D2424"/>
                </a:solidFill>
                <a:latin typeface="Aptos Mono"/>
                <a:ea typeface="Aptos Mono"/>
                <a:cs typeface="Aptos Mono"/>
              </a:rPr>
              <a:t>shape: time x [soprano, alto, tenor, bass]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1AAA0B1-6C14-4423-9EB8-4CE5E391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1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17C"/>
                </a:solidFill>
                <a:latin typeface="Aptos"/>
                <a:ea typeface="Aptos"/>
                <a:cs typeface="Aptos"/>
              </a:rPr>
              <a:t>BachBot | CSE 253 Assignment 2 | 03</a:t>
            </a:r>
          </a:p>
        </p:txBody>
      </p:sp>
    </p:spTree>
    <p:extLst>
      <p:ext uri="{BB962C8B-B14F-4D97-AF65-F5344CB8AC3E}">
        <p14:creationId xmlns:p14="http://schemas.microsoft.com/office/powerpoint/2010/main" val="4243679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BC5630-3CBA-4F4A-A0C8-BB6306A3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39260-FF29-4F8A-907A-99DEFBF7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048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AC58C-7DD1-4836-9721-DFAFB3CB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191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F0945-CEEF-4D72-B45E-9305DF93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33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BF5FA-2FEF-46C2-9A7F-7D24CD52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477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4B759-20E4-4DBF-8A2F-B412F782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20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18D12-D145-4DB5-BAF3-D9DFAF20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8102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5D7B4-F39F-441A-80D9-DEA87134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9245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70843E-22F6-4E06-A356-E6B6A243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038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AF317-24FD-4035-96DE-163D5512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531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0377C-7571-4AAC-A6AD-5FDC6BAE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2674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587C0-AC86-49BF-B581-AA3D0589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B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9B3D"/>
                </a:solidFill>
                <a:latin typeface="Aptos"/>
                <a:ea typeface="Aptos"/>
                <a:cs typeface="Aptos"/>
              </a:rPr>
              <a:t>EDA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834E0-890E-483C-8F43-32531E60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242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2424"/>
                </a:solidFill>
                <a:latin typeface="Aptos Display"/>
                <a:ea typeface="Aptos Display"/>
                <a:cs typeface="Aptos Display"/>
              </a:rPr>
              <a:t>The plots check that the symbolic representation is usable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11984F-A6CF-465D-AB68-87D75290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They also motivate the music-theory metrics used after generation.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5787D-DA1F-4780-B3BE-36D1EA1A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3448050" cy="275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CBE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380c86e5f4cc1"/>
          <a:stretch xmlns:a="http://schemas.openxmlformats.org/drawingml/2006/main"/>
        </p:blipFill>
        <p:spPr>
          <a:xfrm xmlns:a="http://schemas.openxmlformats.org/drawingml/2006/main">
            <a:off x="552450" y="2281238"/>
            <a:ext cx="3333750" cy="19050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872D42-0A3A-4C32-8078-0AB5C996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3371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5"/>
                </a:solidFill>
                <a:latin typeface="Aptos"/>
                <a:ea typeface="Aptos"/>
                <a:cs typeface="Aptos"/>
              </a:rPr>
              <a:t>Sequence lengths: compact enough for fixed-length batching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34B7BA-22D4-48F5-B180-BEF2711D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962150"/>
            <a:ext cx="3448050" cy="275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CBE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e0385ce174356"/>
          <a:stretch xmlns:a="http://schemas.openxmlformats.org/drawingml/2006/main"/>
        </p:blipFill>
        <p:spPr>
          <a:xfrm xmlns:a="http://schemas.openxmlformats.org/drawingml/2006/main">
            <a:off x="4429125" y="2296120"/>
            <a:ext cx="3333750" cy="1875234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0BF1B7-25BA-4C6B-B69C-A099B33A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495800"/>
            <a:ext cx="3371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5"/>
                </a:solidFill>
                <a:latin typeface="Aptos"/>
                <a:ea typeface="Aptos"/>
                <a:cs typeface="Aptos"/>
              </a:rPr>
              <a:t>Voice ranges: soprano/alto/tenor/bass stay interpretable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9211A-F8E0-48F3-8CB2-62E8FA05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62150"/>
            <a:ext cx="3448050" cy="275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CBE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8155fd5bf4de1"/>
          <a:stretch xmlns:a="http://schemas.openxmlformats.org/drawingml/2006/main"/>
        </p:blipFill>
        <p:spPr>
          <a:xfrm xmlns:a="http://schemas.openxmlformats.org/drawingml/2006/main">
            <a:off x="8305800" y="2281238"/>
            <a:ext cx="3333750" cy="19050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DBBC18-D131-47F2-A67F-4DD215AB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95800"/>
            <a:ext cx="3371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5"/>
                </a:solidFill>
                <a:latin typeface="Aptos"/>
                <a:ea typeface="Aptos"/>
                <a:cs typeface="Aptos"/>
              </a:rPr>
              <a:t>Pitch-class histogram: reference style distribution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7E4769-F2E4-451F-A17A-228C8748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05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970B6F-13CA-4EA2-921D-E0786C3B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19700"/>
            <a:ext cx="916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24"/>
                </a:solidFill>
                <a:latin typeface="Aptos"/>
                <a:ea typeface="Aptos"/>
                <a:cs typeface="Aptos"/>
              </a:rPr>
              <a:t>Fixed eighth-note grid keeps training simple while preserving useful rhythmic detail.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37F9C0-A62C-4371-B4BC-1C047313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29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C8E"/>
          </a:solidFill>
          <a:ln xmlns:a="http://schemas.openxmlformats.org/drawingml/2006/main" w="0">
            <a:solidFill>
              <a:srgbClr val="3D6C8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A50180-BAD0-4E02-B848-12CE2E99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43550"/>
            <a:ext cx="916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24"/>
                </a:solidFill>
                <a:latin typeface="Aptos"/>
                <a:ea typeface="Aptos"/>
                <a:cs typeface="Aptos"/>
              </a:rPr>
              <a:t>SATB range checks become direct generation-quality tests.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64B55D-6BD4-48C6-957B-B41EFE00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53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74"/>
          </a:solidFill>
          <a:ln xmlns:a="http://schemas.openxmlformats.org/drawingml/2006/main" w="0">
            <a:solidFill>
              <a:srgbClr val="2D7D7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B2CF92-4C5D-4EBB-9D7E-FCCB98E4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867400"/>
            <a:ext cx="916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24"/>
                </a:solidFill>
                <a:latin typeface="Aptos"/>
                <a:ea typeface="Aptos"/>
                <a:cs typeface="Aptos"/>
              </a:rPr>
              <a:t>Pitch-class distance flags samples that drift away from the Bach corpus.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5D0E08-12EA-4B52-9385-46B681E0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1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17C"/>
                </a:solidFill>
                <a:latin typeface="Aptos"/>
                <a:ea typeface="Aptos"/>
                <a:cs typeface="Aptos"/>
              </a:rPr>
              <a:t>BachBot | CSE 253 Assignment 2 | 04</a:t>
            </a:r>
          </a:p>
        </p:txBody>
      </p:sp>
    </p:spTree>
    <p:extLst>
      <p:ext uri="{BB962C8B-B14F-4D97-AF65-F5344CB8AC3E}">
        <p14:creationId xmlns:p14="http://schemas.microsoft.com/office/powerpoint/2010/main" val="2771412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7B9B92-9FF2-4E7D-8EEC-20576854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64362-02FA-4BB1-B26A-1791C48C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048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3E3DD-9443-477B-B85A-0D15BF58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191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1CE23-F6CB-4262-8DDC-4A560B6E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33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D3258-A281-41CF-8899-AF0D7E13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477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839CC-D7C8-4C39-8DE6-79648218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20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A5A33-72E6-43F6-BD0E-FF82301A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8102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12BF1-3C7C-4EE1-AD9A-C104F845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9245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724FC-F313-4181-A154-A0D43DBF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038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9C7F6-656B-4255-82C3-26291BAA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531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0BF15-7224-4D65-9DF3-65C595C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2674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4DE82-D695-4207-82ED-7205E4E1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B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9B3D"/>
                </a:solidFill>
                <a:latin typeface="Aptos"/>
                <a:ea typeface="Aptos"/>
                <a:cs typeface="Aptos"/>
              </a:rPr>
              <a:t>TASK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1A1D7-497E-4D10-BAE9-6A9E573F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242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2424"/>
                </a:solidFill>
                <a:latin typeface="Aptos Display"/>
                <a:ea typeface="Aptos Display"/>
                <a:cs typeface="Aptos Display"/>
              </a:rPr>
              <a:t>Generate all four voices from scratch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4FFAA1-BB45-426E-99E4-A9BA1939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The upgraded path uses a neural model to propose candidates and symbolic rules to choose.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B3C7B-00B7-4CB5-B1B3-F126EFA0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44767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48F3FA-DFDA-4E29-AE9E-0E9ABA2C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57400"/>
            <a:ext cx="44767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33567-BEE4-4A4A-B265-A441628A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Baseline: Markov SATB tuples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882423-08F8-4E3D-9657-9E86C735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86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3952BF-2F1A-4AC5-BD01-EEA6F5D4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035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state = full SATB tuple at time 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C2D701-D14F-45BB-ADDD-DFFA9085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E247C8-4A80-4F47-84DD-127FD433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5755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counts transitions from tuple t to tuple t+1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CA0FCD-B750-454B-801F-0C0F20A2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00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EB3848-B238-42E5-A6A3-F516403E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transparent, but only one-step memory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D589ED-AD13-4E93-9463-0E9464BF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Model: four-head GRU LM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A74A82-4119-4DB9-AAE9-690EB27B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86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3DEF76-E4A1-4B81-A428-F10DD9BB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00350"/>
            <a:ext cx="3448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embed four voice tokens separately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BC2BAD-E377-4F4F-B1B5-C7591876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43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C5DB36-76FB-44C5-BC49-C3C5549B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57550"/>
            <a:ext cx="3448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concatenate embeddings into a sequence context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5E6988-D867-4EDD-B466-94C4B573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00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EE6372-8E19-4C19-87F4-DEEAAEBE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14750"/>
            <a:ext cx="3448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four output heads predict next SATB state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B66C70-010C-4BF2-8889-247064D2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162550"/>
            <a:ext cx="5772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EB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CA4B98-298A-43B7-9BF5-85DF970C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162550"/>
            <a:ext cx="5772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74"/>
          </a:solidFill>
          <a:ln xmlns:a="http://schemas.openxmlformats.org/drawingml/2006/main" w="0">
            <a:solidFill>
              <a:srgbClr val="2D7D7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6C446F-2E14-411D-97ED-909BD36B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295900"/>
            <a:ext cx="550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Decode upgrade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C92748-7849-4477-A467-DEAA0DED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572125"/>
            <a:ext cx="550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top-k temperature sampling -&gt; postprocess -&gt; 30 candidates -&gt; badness-score rerank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0C8D2A-0C1C-4AAC-B018-71D8EAA1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29000"/>
            <a:ext cx="1866900" cy="2857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253221-596B-411A-A12F-25F6E310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71850"/>
            <a:ext cx="95250" cy="14287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7503E5-6EB7-4B50-B861-6B4A200E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1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17C"/>
                </a:solidFill>
                <a:latin typeface="Aptos"/>
                <a:ea typeface="Aptos"/>
                <a:cs typeface="Aptos"/>
              </a:rPr>
              <a:t>BachBot | CSE 253 Assignment 2 | 05</a:t>
            </a:r>
          </a:p>
        </p:txBody>
      </p:sp>
    </p:spTree>
    <p:extLst>
      <p:ext uri="{BB962C8B-B14F-4D97-AF65-F5344CB8AC3E}">
        <p14:creationId xmlns:p14="http://schemas.microsoft.com/office/powerpoint/2010/main" val="1022799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C41C8E-6C20-45D7-B98A-CAB87EC5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B1BB9-FA98-49B9-8945-AFA5EB2A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048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A15E9-04C7-4CB9-AF4F-EE71299A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191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A1180-7B94-4C2B-87D6-590BAF84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33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44A76-3985-418C-8A7A-6E5B50F4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477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92B80-284B-471E-A722-0721C6E4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20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64957-FEB8-4436-BE26-1003A5BE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8102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D2DD1-638F-42E3-86C9-515183F6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9245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C384F-AAD6-4895-974B-E7C34DB2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038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50B30-DF2F-4B37-9259-220A62FC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531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E8219-0256-4C0D-8504-EEBF7A47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2674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C4248-A271-4D6C-86EF-9408D10C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B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9B3D"/>
                </a:solidFill>
                <a:latin typeface="Aptos"/>
                <a:ea typeface="Aptos"/>
                <a:cs typeface="Aptos"/>
              </a:rPr>
              <a:t>TASK 1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9A3BC-4930-4731-9582-7C84327F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242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2424"/>
                </a:solidFill>
                <a:latin typeface="Aptos Display"/>
                <a:ea typeface="Aptos Display"/>
                <a:cs typeface="Aptos Display"/>
              </a:rPr>
              <a:t>Reranking turns raw samples into cleaner chorale candidates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1A0A3-5BA0-4D4C-A6C4-6279362C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The GRU learns the objective; the final sample is selected by musical behavior.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7F5037-43FD-4369-9E1C-A3A7DB15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48768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CBE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bfc396ef2c443c"/>
          <a:stretch xmlns:a="http://schemas.openxmlformats.org/drawingml/2006/main"/>
        </p:blipFill>
        <p:spPr>
          <a:xfrm xmlns:a="http://schemas.openxmlformats.org/drawingml/2006/main">
            <a:off x="552450" y="1925411"/>
            <a:ext cx="4762500" cy="2721429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C872D-73E0-473B-8E1C-A8F73370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480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5"/>
                </a:solidFill>
                <a:latin typeface="Aptos"/>
                <a:ea typeface="Aptos"/>
                <a:cs typeface="Aptos"/>
              </a:rPr>
              <a:t>Training curve: validation loss falls over 8 epochs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A422A2-A107-4826-BD13-89DAEDC9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52600"/>
            <a:ext cx="51625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CBE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6020d9f9649e5"/>
          <a:stretch xmlns:a="http://schemas.openxmlformats.org/drawingml/2006/main"/>
        </p:blipFill>
        <p:spPr>
          <a:xfrm xmlns:a="http://schemas.openxmlformats.org/drawingml/2006/main">
            <a:off x="5886450" y="1866305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B48377-5AD6-46A5-B490-EBC0A507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810125"/>
            <a:ext cx="508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5"/>
                </a:solidFill>
                <a:latin typeface="Aptos"/>
                <a:ea typeface="Aptos"/>
                <a:cs typeface="Aptos"/>
              </a:rPr>
              <a:t>Music metrics: compare baseline and reranked GRU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6DF38B-1818-4255-8F07-69149E88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0287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9"/>
          </a:solidFill>
          <a:ln xmlns:a="http://schemas.openxmlformats.org/drawingml/2006/main" w="9525">
            <a:solidFill>
              <a:srgbClr val="D0C5B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56FF17-DAF8-40E3-BAD9-28959F70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48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E6865"/>
                </a:solidFill>
                <a:latin typeface="Aptos"/>
                <a:ea typeface="Aptos"/>
                <a:cs typeface="Aptos"/>
              </a:rPr>
              <a:t>GRU perplexity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EECB37-6E57-489C-A933-0BC5AD19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14975"/>
            <a:ext cx="666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CCB"/>
          </a:solidFill>
          <a:ln xmlns:a="http://schemas.openxmlformats.org/drawingml/2006/main" w="0">
            <a:solidFill>
              <a:srgbClr val="E4DCC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6716CE-D6DE-4C3F-83A4-7EFAD14A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14975"/>
            <a:ext cx="48450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C8E"/>
          </a:solidFill>
          <a:ln xmlns:a="http://schemas.openxmlformats.org/drawingml/2006/main" w="0">
            <a:solidFill>
              <a:srgbClr val="3D6C8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92367A-6D11-4F87-AF79-DB5B4BE9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44830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1.09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D9D71C-49AE-4209-A81F-05DA3A22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448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E6865"/>
                </a:solidFill>
                <a:latin typeface="Aptos"/>
                <a:ea typeface="Aptos"/>
                <a:cs typeface="Aptos"/>
              </a:rPr>
              <a:t>Pitch hist distance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869602-DC65-4A06-938F-3D402F0D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14975"/>
            <a:ext cx="857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CCB"/>
          </a:solidFill>
          <a:ln xmlns:a="http://schemas.openxmlformats.org/drawingml/2006/main" w="0">
            <a:solidFill>
              <a:srgbClr val="E4DCC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4D1E81-679B-4AB8-B17D-3C20DAE5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14975"/>
            <a:ext cx="232682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74"/>
          </a:solidFill>
          <a:ln xmlns:a="http://schemas.openxmlformats.org/drawingml/2006/main" w="0">
            <a:solidFill>
              <a:srgbClr val="2D7D7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4CC100-D328-4B35-BF78-B233993B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44830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0.38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CFD53B-FB25-41FC-9A83-79DD91B4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48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E6865"/>
                </a:solidFill>
                <a:latin typeface="Aptos"/>
                <a:ea typeface="Aptos"/>
                <a:cs typeface="Aptos"/>
              </a:rPr>
              <a:t>Voice crossings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749783-B6DF-4054-957B-5BF678C5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514975"/>
            <a:ext cx="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CCB"/>
          </a:solidFill>
          <a:ln xmlns:a="http://schemas.openxmlformats.org/drawingml/2006/main" w="0">
            <a:solidFill>
              <a:srgbClr val="E4DCC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457AFC-C13C-4BE7-9165-826C7289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51497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A4C"/>
          </a:solidFill>
          <a:ln xmlns:a="http://schemas.openxmlformats.org/drawingml/2006/main" w="0">
            <a:solidFill>
              <a:srgbClr val="668A4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97D07D-4A59-48A0-A936-D3AD6C2C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44830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40AFDC-9594-454C-A14B-61943F7B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48350"/>
            <a:ext cx="828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Best of 30 candidates using top-k sampling, SATB repairs, and a music-quality badness score.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58BE6B-46BE-4796-B4C0-98B58A55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1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17C"/>
                </a:solidFill>
                <a:latin typeface="Aptos"/>
                <a:ea typeface="Aptos"/>
                <a:cs typeface="Aptos"/>
              </a:rPr>
              <a:t>BachBot | CSE 253 Assignment 2 | 06</a:t>
            </a:r>
          </a:p>
        </p:txBody>
      </p:sp>
    </p:spTree>
    <p:extLst>
      <p:ext uri="{BB962C8B-B14F-4D97-AF65-F5344CB8AC3E}">
        <p14:creationId xmlns:p14="http://schemas.microsoft.com/office/powerpoint/2010/main" val="9032781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636D18-A462-4E4C-A6D9-F7B944C8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E98C8-8E35-4037-BF67-53B18560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048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D3DE2-D17B-43FE-A687-3E46156C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191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E9072-A8FC-4383-9011-6FF7351B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33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C77FC-0BE7-4ED1-A5EA-9F63879A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477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DFCF0-982D-4036-9FB4-AFEDED21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20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98C3F-0951-42BF-8AF1-0FCAE5E0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8102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6EF2A-705C-4048-95BB-7B9F6063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9245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ADB21-1952-4517-A479-C0A940C6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038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2FFCD-408F-455C-9D29-F68E33A1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531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E4C0E-334C-4A63-A828-79116367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2674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639C2-4DC9-4579-BE4F-BF99F2EB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B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9B3D"/>
                </a:solidFill>
                <a:latin typeface="Aptos"/>
                <a:ea typeface="Aptos"/>
                <a:cs typeface="Aptos"/>
              </a:rPr>
              <a:t>TASK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DBEEBE-30EC-4DD1-867E-F812612F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242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2424"/>
                </a:solidFill>
                <a:latin typeface="Aptos Display"/>
                <a:ea typeface="Aptos Display"/>
                <a:cs typeface="Aptos Display"/>
              </a:rPr>
              <a:t>Given a soprano melody, generate alto, tenor, and bass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A3CB0-B891-4A8A-9E6D-56CE38A8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The whole soprano line is known, so bidirectional context is useful.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6C77AB-CAF2-4B1A-A6BC-98D3C66E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E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5BE477-5C5B-49AE-B1D2-4B97956C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14A454-1D7C-4C50-8CAD-8D16C34C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Input soprano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19CD3F-69BD-4A83-9878-4A0C61C3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173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custom C-major melody, expanded to eighth-note grid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A93BC-9485-48F0-84E0-E4CF4340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E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7B018B-7EBA-4247-9641-66A4BEFB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A4C"/>
          </a:solidFill>
          <a:ln xmlns:a="http://schemas.openxmlformats.org/drawingml/2006/main" w="0">
            <a:solidFill>
              <a:srgbClr val="668A4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EAFCE6-527F-4FA5-BC0D-D0DDD66F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Lookup 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2CABB1-51E4-4767-BF7A-06335575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173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soprano pitch class + beat position -&gt; common ATB tuple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34BE6B-AE27-46D3-BF19-C2417144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098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EB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59035F-359F-491A-9A8F-F8E0224A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098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C8E"/>
          </a:solidFill>
          <a:ln xmlns:a="http://schemas.openxmlformats.org/drawingml/2006/main" w="0">
            <a:solidFill>
              <a:srgbClr val="3D6C8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F0313D-A73E-47C1-A48C-6BB4B589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43150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BiGRU harmonizer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63C333-1FCC-4A3E-9933-C35341DF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19375"/>
            <a:ext cx="2114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two-layer bidirectional GRU over soprano tokens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90B49A-08E8-408A-8EFB-B2CA9288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098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E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674114-AC4A-4D02-930A-E3A34F01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098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74"/>
          </a:solidFill>
          <a:ln xmlns:a="http://schemas.openxmlformats.org/drawingml/2006/main" w="0">
            <a:solidFill>
              <a:srgbClr val="2D7D7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26F018-FC81-40CD-A49F-826F5027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43150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Beam search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42ACAD-9EA5-430E-949F-C7FDE1DA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19375"/>
            <a:ext cx="2114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model probability + penalties for range, crossing, leaps, dissonance, parallels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D09734-80D1-462F-A0A3-E9D4787F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719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EB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06018D-7DD7-47BF-9CD6-669E46C7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719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84B"/>
          </a:solidFill>
          <a:ln xmlns:a="http://schemas.openxmlformats.org/drawingml/2006/main" w="0">
            <a:solidFill>
              <a:srgbClr val="A9584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9CE0C7-C899-4720-9E18-C2882A57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05300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DeepBach-style Gibbs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7558F4-E8B9-47D0-B244-B61283B9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81525"/>
            <a:ext cx="2114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local conditional sampler trained from the same Bach data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4899B2-FDD5-4E1E-BED8-769C33D6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90875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EB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71D330-489E-4478-BC01-A2E61389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90875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24"/>
          </a:solidFill>
          <a:ln xmlns:a="http://schemas.openxmlformats.org/drawingml/2006/main" w="0">
            <a:solidFill>
              <a:srgbClr val="1D242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82061B-9221-4E36-879F-FB8BDE0D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324225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Final MIDI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6FA1D7-318A-48C9-B8C2-F7E6C19D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0045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symbolic_conditioned.mid uses the Gibbs harmonization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03F7BB-A2FE-4451-95BC-7E2E87B5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81300"/>
            <a:ext cx="971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AA99"/>
          </a:solidFill>
          <a:ln xmlns:a="http://schemas.openxmlformats.org/drawingml/2006/main" w="0">
            <a:solidFill>
              <a:srgbClr val="B5AA9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72253F-8E8F-4766-94E7-2E0E2350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72415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AA99"/>
          </a:solidFill>
          <a:ln xmlns:a="http://schemas.openxmlformats.org/drawingml/2006/main" w="0">
            <a:solidFill>
              <a:srgbClr val="B5AA9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D7DB8B-54FA-43C3-AF41-C7B83717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AA99"/>
          </a:solidFill>
          <a:ln xmlns:a="http://schemas.openxmlformats.org/drawingml/2006/main" w="0">
            <a:solidFill>
              <a:srgbClr val="B5AA9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43D2FE-66A3-40FC-8B79-29D42F42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2415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AA99"/>
          </a:solidFill>
          <a:ln xmlns:a="http://schemas.openxmlformats.org/drawingml/2006/main" w="0">
            <a:solidFill>
              <a:srgbClr val="B5AA9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F1C0A7-B1F4-4DCA-A11E-7C525E64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434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AA99"/>
          </a:solidFill>
          <a:ln xmlns:a="http://schemas.openxmlformats.org/drawingml/2006/main" w="0">
            <a:solidFill>
              <a:srgbClr val="B5AA9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B5F99EE-49EB-4F9E-94ED-8ED2FCE6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68630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AA99"/>
          </a:solidFill>
          <a:ln xmlns:a="http://schemas.openxmlformats.org/drawingml/2006/main" w="0">
            <a:solidFill>
              <a:srgbClr val="B5AA9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113432-2532-4508-A094-917D0DA4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813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AA99"/>
          </a:solidFill>
          <a:ln xmlns:a="http://schemas.openxmlformats.org/drawingml/2006/main" w="0">
            <a:solidFill>
              <a:srgbClr val="B5AA9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81EBE4-CCDA-44A2-84AB-08DC7301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72415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AA99"/>
          </a:solidFill>
          <a:ln xmlns:a="http://schemas.openxmlformats.org/drawingml/2006/main" w="0">
            <a:solidFill>
              <a:srgbClr val="B5AA9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C8E5D36-ED7B-412E-A43A-78F7D0DE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61975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A"/>
          </a:solidFill>
          <a:ln xmlns:a="http://schemas.openxmlformats.org/drawingml/2006/main" w="9525">
            <a:solidFill>
              <a:srgbClr val="D7CEBC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4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D2424"/>
                </a:solidFill>
                <a:latin typeface="Aptos Mono"/>
                <a:ea typeface="Aptos Mono"/>
                <a:cs typeface="Aptos Mono"/>
              </a:rPr>
              <a:t>C4 D4 E4 G4 A4 G4 F4 E4 ...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819CF1-7DFA-4BE2-9F54-8ED0B94C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1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17C"/>
                </a:solidFill>
                <a:latin typeface="Aptos"/>
                <a:ea typeface="Aptos"/>
                <a:cs typeface="Aptos"/>
              </a:rPr>
              <a:t>BachBot | CSE 253 Assignment 2 | 07</a:t>
            </a:r>
          </a:p>
        </p:txBody>
      </p:sp>
    </p:spTree>
    <p:extLst>
      <p:ext uri="{BB962C8B-B14F-4D97-AF65-F5344CB8AC3E}">
        <p14:creationId xmlns:p14="http://schemas.microsoft.com/office/powerpoint/2010/main" val="7067717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B82A0F-837E-4F92-B914-5A75AD4B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2CA05-FEE4-4EFF-BC63-7381ACA6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048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E6B48-40C0-4CAE-86FB-70034193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191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3AFFB-9EB5-4479-B0F9-5092A4AB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33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EDC8C-3D4E-4C04-AB76-E842D843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477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50859-2DE1-4071-90D9-356A6AB9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20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B5CCF1-DE2C-4A73-BA50-94E1386F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8102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427FE-F205-4397-9CEE-9E8CC94A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9245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80A49-22DC-4867-9F5A-5C1E12E4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038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943B5-F075-442D-BBE4-4FA3C658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531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0C66F1-5A83-46F3-87E8-F461DCAE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2674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31BA7-31E1-40C7-B812-66489F94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B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9B3D"/>
                </a:solidFill>
                <a:latin typeface="Aptos"/>
                <a:ea typeface="Aptos"/>
                <a:cs typeface="Aptos"/>
              </a:rPr>
              <a:t>TASK 2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359D6-34C8-46BB-959A-802A6987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242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2424"/>
                </a:solidFill>
                <a:latin typeface="Aptos Display"/>
                <a:ea typeface="Aptos Display"/>
                <a:cs typeface="Aptos Display"/>
              </a:rPr>
              <a:t>Exact-match accuracy is not the same as musical 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F022CF-A40E-4931-9382-0A0BDB68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There are many valid harmonizations for one soprano melody.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D8D7E-F9F8-455B-B0B7-A1B5C24D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45910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CBE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fd3d043534047"/>
          <a:stretch xmlns:a="http://schemas.openxmlformats.org/drawingml/2006/main"/>
        </p:blipFill>
        <p:spPr>
          <a:xfrm xmlns:a="http://schemas.openxmlformats.org/drawingml/2006/main">
            <a:off x="590550" y="1959429"/>
            <a:ext cx="4476750" cy="2558143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DC29F1-68FB-4249-A106-B6B3DC49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14875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5"/>
                </a:solidFill>
                <a:latin typeface="Aptos"/>
                <a:ea typeface="Aptos"/>
                <a:cs typeface="Aptos"/>
              </a:rPr>
              <a:t>BiGRU training curve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8E05F0-0E41-4C79-8057-B6D2BE09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52600"/>
            <a:ext cx="49720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CBE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fd62245444ef3"/>
          <a:stretch xmlns:a="http://schemas.openxmlformats.org/drawingml/2006/main"/>
        </p:blipFill>
        <p:spPr>
          <a:xfrm xmlns:a="http://schemas.openxmlformats.org/drawingml/2006/main">
            <a:off x="5581650" y="1872258"/>
            <a:ext cx="4857750" cy="2732484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8D0C92-0AEF-4F92-BEB4-5608FE4C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14875"/>
            <a:ext cx="4895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5"/>
                </a:solidFill>
                <a:latin typeface="Aptos"/>
                <a:ea typeface="Aptos"/>
                <a:cs typeface="Aptos"/>
              </a:rPr>
              <a:t>Conditioned metrics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C86562-078A-4AE6-ABD2-9526BD7B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9525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BDB9E5-3878-42F6-94D1-ED0AF6EB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84B"/>
          </a:solidFill>
          <a:ln xmlns:a="http://schemas.openxmlformats.org/drawingml/2006/main" w="0">
            <a:solidFill>
              <a:srgbClr val="A95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BAC59E-B3D4-440C-950D-7B4BCD88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584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9584B"/>
                </a:solidFill>
                <a:latin typeface="Aptos"/>
                <a:ea typeface="Aptos"/>
                <a:cs typeface="Aptos"/>
              </a:rPr>
              <a:t>Final conditioned demo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E2E0E5-6EFA-4BEE-80AA-6940E23D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05450"/>
            <a:ext cx="866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DeepBach-inspired Gibbs reaches 100% strong-beat consonance, 0 range violations, and 0 voice crossings on the submitted conditioned MIDI.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32864B-D976-4723-93B9-AD30EE9A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95300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The lookup baseline matches tokens well, but the listening demo benefits from constrained beam/Gibbs decoding.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CE2926-4691-4A0A-B5CD-3DD4B119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1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17C"/>
                </a:solidFill>
                <a:latin typeface="Aptos"/>
                <a:ea typeface="Aptos"/>
                <a:cs typeface="Aptos"/>
              </a:rPr>
              <a:t>BachBot | CSE 253 Assignment 2 | 08</a:t>
            </a:r>
          </a:p>
        </p:txBody>
      </p:sp>
    </p:spTree>
    <p:extLst>
      <p:ext uri="{BB962C8B-B14F-4D97-AF65-F5344CB8AC3E}">
        <p14:creationId xmlns:p14="http://schemas.microsoft.com/office/powerpoint/2010/main" val="125527133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90B652-9CB6-44EA-9F30-09DF8289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B5C1B-CB37-485D-8166-0FFFDE88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048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25371-BC6C-4753-96F3-D65DB2A9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191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35453-71D6-4D81-9739-0C2B4E0D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33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04AF7-3197-429E-BC62-BAFE6AF5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477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96DAB-EDED-4393-B3D3-520F3F60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20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CF9B2-1DF8-4D32-9A8C-D5B26B1F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8102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9DC56-D8E1-4948-99B6-A62B2FD0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9245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5EC3A-56D7-432B-B8D2-0712F67B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038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ED5C6-65C3-4A37-A02D-6BE433A6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531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BB537-660C-4948-B6A0-BB4E210A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2674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10B88-76E9-4AB9-BEC8-AA0ECAD2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B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9B3D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D8996-0C37-4113-BC88-3E70A17E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242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2424"/>
                </a:solidFill>
                <a:latin typeface="Aptos Display"/>
                <a:ea typeface="Aptos Display"/>
                <a:cs typeface="Aptos Display"/>
              </a:rPr>
              <a:t>No single metric can decide whether generated music is 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A14E97-07DC-4918-99FE-DFD169AF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We combine predictive fit, voice-leading checks, harmony checks, and distribution checks.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FD3D12-7BD3-4128-B773-A3CCA554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22669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62F687-1A4B-4970-A392-FD591113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2266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C8E"/>
          </a:solidFill>
          <a:ln xmlns:a="http://schemas.openxmlformats.org/drawingml/2006/main" w="0">
            <a:solidFill>
              <a:srgbClr val="3D6C8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7FC54-50DD-4398-9B5E-9A47A7A2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Predictive fit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DF1B24-8832-49EB-97B1-4FDBA243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loss, perplexity, per-voice accuracy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CA672B-56CC-4459-AD16-D2A6FB25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Does the model learn the token task?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E3A69-4803-4597-8502-A823C5CA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52650"/>
            <a:ext cx="22669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EA5379-3EBD-4945-BD2F-2E58CC49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52650"/>
            <a:ext cx="2266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E0269A-47C8-446B-B3A3-6C305E27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384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Voice leading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63573B-E073-497D-BB5C-16E792DF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527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range violations, crossings, repeats, parallels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C4F7D1-7EA9-4745-A909-E5DF73DA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6715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Are the four lines singable and separated?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E721B4-51BA-4400-8DAF-F34CCC44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22669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69F8D5-8888-489F-BEA4-6EDBDBF6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2266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74"/>
          </a:solidFill>
          <a:ln xmlns:a="http://schemas.openxmlformats.org/drawingml/2006/main" w="0">
            <a:solidFill>
              <a:srgbClr val="2D7D7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DB0856-B150-4F51-B2EC-4AA9C15B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384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Harmony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1A4AA7-064D-4E10-A350-7E9AB2D2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strong-beat consonance, chord diversity, cadence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489D69-A0FB-45A5-9B38-9E21CE07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6715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Is the sample stable without becoming static?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B06712-670F-47E2-8C6D-457CE62D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52650"/>
            <a:ext cx="22669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CEC4E5-EDFB-41BB-BCED-E9E9243D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52650"/>
            <a:ext cx="2266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A4C"/>
          </a:solidFill>
          <a:ln xmlns:a="http://schemas.openxmlformats.org/drawingml/2006/main" w="0">
            <a:solidFill>
              <a:srgbClr val="668A4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58D77A-2692-4E2B-9D50-E314E85E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384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Distribution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0D0511-2266-42C8-B5C1-6457B9D3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527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pitch-class histogram distance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D7C849-FAE7-4F0D-B697-5A55BE01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6715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Does it still resemble the Bach corpus?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23B3E8-963A-4B31-9FD1-D48EC013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48300"/>
            <a:ext cx="962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8"/>
          </a:solidFill>
          <a:ln xmlns:a="http://schemas.openxmlformats.org/drawingml/2006/main" w="9525">
            <a:solidFill>
              <a:srgbClr val="D2C8B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7B44A1-5EE3-4F76-8C09-72A0176B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62600"/>
            <a:ext cx="904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Listening remains part of the evaluation: these metrics catch obvious failure modes, but they do not replace musical judgment.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C661D5-2C53-4AF3-8EF4-48BDD8FA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1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17C"/>
                </a:solidFill>
                <a:latin typeface="Aptos"/>
                <a:ea typeface="Aptos"/>
                <a:cs typeface="Aptos"/>
              </a:rPr>
              <a:t>BachBot | CSE 253 Assignment 2 | 09</a:t>
            </a:r>
          </a:p>
        </p:txBody>
      </p:sp>
    </p:spTree>
    <p:extLst>
      <p:ext uri="{BB962C8B-B14F-4D97-AF65-F5344CB8AC3E}">
        <p14:creationId xmlns:p14="http://schemas.microsoft.com/office/powerpoint/2010/main" val="1722838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348DEC-F9B3-40AB-ADB5-21ADD90B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7A0D2-AFD7-4A45-903B-29556F3B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048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6F6E0-E8E1-47EA-8113-7EFFF431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191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89E99-7C47-4E95-AAF2-25C8D29D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33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77872-5015-4194-9DF4-59CBECA0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477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318B5-7236-423C-8CCB-889F94D7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20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C98DD-599C-4726-9BCA-64312FCE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8102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6EEF3-2A1C-4E68-981C-7DF2EA6C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9245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E4DB7-FF83-4C8F-9135-79FE0372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038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A9612-0D85-4EAA-89CE-5234F612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531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3CF03-5965-48DB-936C-8D42833B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2674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466C8-BFB8-4AAC-869B-2E0685B5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B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9B3D"/>
                </a:solidFill>
                <a:latin typeface="Aptos"/>
                <a:ea typeface="Aptos"/>
                <a:cs typeface="Aptos"/>
              </a:rPr>
              <a:t>LISTENING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D6751-2511-407E-80F2-A2E9BF2C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242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2424"/>
                </a:solidFill>
                <a:latin typeface="Aptos Display"/>
                <a:ea typeface="Aptos Display"/>
                <a:cs typeface="Aptos Display"/>
              </a:rPr>
              <a:t>Play the final submitted MIDI files in a controlled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47D2E-FD9D-450F-8F53-FDA830F2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The instruments are separated so the SATB lines are easier to hear.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0C1C14-35CD-4D31-8018-DABA9FF1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48006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BB3C22-EB52-4E59-B712-1147E799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8006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4EBAE-FD72-4112-953F-03106220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6C8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D6C8E"/>
                </a:solidFill>
                <a:latin typeface="Aptos"/>
                <a:ea typeface="Aptos"/>
                <a:cs typeface="Aptos"/>
              </a:rPr>
              <a:t>1. symbolic_unconditioned.mid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4606E6-B0DA-48F6-A39E-7157F4B4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62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9A9D66-82EC-4704-BFB4-BF736487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76550"/>
            <a:ext cx="382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four-voice chorale generated from scratch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0C0635-47FF-479C-B331-8D0AA675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19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5862C8-502A-4650-B994-FFE1559F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382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listen for variety, voice separation, and cadence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1C8D1D-E0BB-47ED-8559-C6498C2B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76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5D9D37-6514-4B72-A3C0-817161F8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90950"/>
            <a:ext cx="382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selected by candidate reranking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6A36C4-2AFD-43FF-BA4F-DD41A955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669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7D7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D7D74"/>
                </a:solidFill>
                <a:latin typeface="Aptos"/>
                <a:ea typeface="Aptos"/>
                <a:cs typeface="Aptos"/>
              </a:rPr>
              <a:t>2. symbolic_conditioned.mid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B0B75A-C22D-4670-9516-A7C3D0B8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62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308EEF-DA97-4C22-904C-81BE6758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76550"/>
            <a:ext cx="382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custom soprano melody is fixed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E3C2CD-4167-4B40-A69F-594C8DF8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19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925042-863C-4E04-A52B-A482847A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33750"/>
            <a:ext cx="382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lower voices generated by Bach-trained sampler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50A053-4028-49D7-8391-AA791D3C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76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A73FE5-9D7D-4412-9394-28A53B60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90950"/>
            <a:ext cx="382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listen for support under the soprano line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96E11D-5579-4001-B685-5CD1E446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0482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63EFC-0645-44A4-BA7B-607AE6F9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0482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55DC6E-9F90-43E5-9724-31C0AEEA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1244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865"/>
                </a:solidFill>
                <a:latin typeface="Aptos"/>
                <a:ea typeface="Aptos"/>
                <a:cs typeface="Aptos"/>
              </a:rPr>
              <a:t>soprano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DCF4C5-6F88-4FCC-9F16-4C4DF7AB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flute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59558E-BAE4-4F2E-AAAC-4EE5F6DA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0482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3468D-A76C-44C1-BE44-2155859C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0482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A4C"/>
          </a:solidFill>
          <a:ln xmlns:a="http://schemas.openxmlformats.org/drawingml/2006/main" w="0">
            <a:solidFill>
              <a:srgbClr val="668A4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B07676-0CCB-47A3-9A3D-39BCA0B9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1244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865"/>
                </a:solidFill>
                <a:latin typeface="Aptos"/>
                <a:ea typeface="Aptos"/>
                <a:cs typeface="Aptos"/>
              </a:rPr>
              <a:t>alto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DB6E9B-6EF8-494D-8398-1EECAE4E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3340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oboe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7B9B2A-9AB8-43A3-AED7-771019AD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482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0B95F0-D83E-4F8D-AA1C-D20209C2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482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C8E"/>
          </a:solidFill>
          <a:ln xmlns:a="http://schemas.openxmlformats.org/drawingml/2006/main" w="0">
            <a:solidFill>
              <a:srgbClr val="3D6C8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E4CC69-E894-4314-AD5B-228EF6DC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244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865"/>
                </a:solidFill>
                <a:latin typeface="Aptos"/>
                <a:ea typeface="Aptos"/>
                <a:cs typeface="Aptos"/>
              </a:rPr>
              <a:t>tenor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C8F075-0F87-48C9-9662-AC5D4E79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340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cello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6CE73E-4799-4BFD-B077-21AE6052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0482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F82A85-9AAA-4C89-AA77-BDA74787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0482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74"/>
          </a:solidFill>
          <a:ln xmlns:a="http://schemas.openxmlformats.org/drawingml/2006/main" w="0">
            <a:solidFill>
              <a:srgbClr val="2D7D7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F59781-A9B0-4476-92CC-923B3D69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1244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865"/>
                </a:solidFill>
                <a:latin typeface="Aptos"/>
                <a:ea typeface="Aptos"/>
                <a:cs typeface="Aptos"/>
              </a:rPr>
              <a:t>bass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DE2F2B-0177-4D34-B188-00C55936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3340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contrabass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2EBF07-1464-4779-AE95-7C3C2A54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1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17C"/>
                </a:solidFill>
                <a:latin typeface="Aptos"/>
                <a:ea typeface="Aptos"/>
                <a:cs typeface="Aptos"/>
              </a:rPr>
              <a:t>BachBot | CSE 253 Assignment 2 | 10</a:t>
            </a:r>
          </a:p>
        </p:txBody>
      </p:sp>
    </p:spTree>
    <p:extLst>
      <p:ext uri="{BB962C8B-B14F-4D97-AF65-F5344CB8AC3E}">
        <p14:creationId xmlns:p14="http://schemas.microsoft.com/office/powerpoint/2010/main" val="115901569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9066CF-E23C-4ADB-AA85-638E0C32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3BCF1-4AAD-4BFE-ADA7-2F5224FE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048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499FD-64F8-4C43-BF07-8E0ACE05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191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B584D-FE13-4451-8582-985DD2A2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33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4B5B9-4E17-4201-BC7D-554D9978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477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BB3A2-520E-4758-81CE-0220641B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20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A4568-A703-4F50-84A4-DD9669EB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8102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F984F-C2B5-45C7-A6D2-DB33D9D1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9245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0CC01-A616-43DA-9C92-AEECF4B2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038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1BA90-F427-4424-86FA-80DA5A7F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1531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29666-959C-49A8-8B46-A2C2FAD9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2674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126E5B-1764-4DB4-A2DF-6BF46B24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B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9B3D"/>
                </a:solidFill>
                <a:latin typeface="Aptos"/>
                <a:ea typeface="Aptos"/>
                <a:cs typeface="Aptos"/>
              </a:rPr>
              <a:t>RELATED WORK AND LIMITS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7480E-D54B-4C29-9FE8-FF5A29C8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242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2424"/>
                </a:solidFill>
                <a:latin typeface="Aptos Display"/>
                <a:ea typeface="Aptos Display"/>
                <a:cs typeface="Aptos Display"/>
              </a:rPr>
              <a:t>BachBot is a class-scale version of a larger symbolic music problem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C2B76-3616-4BA7-8676-024409DB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The strongest future gains would come from longer-range modeling and stronger harmony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5A64E-AC5B-4EE8-8C10-6D75CF18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F4B8F-D1C6-4F19-B54B-C6170B14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857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BDD564-772E-4BF3-A164-53F52E2F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DeepBach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6CECD5-6BDC-41ED-B688-D050B4AA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Bach chorale generation and harmonization with conditional resampling.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98DE62-46D0-407B-B0BE-600E0C91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95500"/>
            <a:ext cx="352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We implement a lightweight Gibbs-inspired demo trained on our processed corpus.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C3A740-C618-4F82-B2BD-E545657E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3BB6DF-F752-4D43-8A1F-6BBFCE38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857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C8E"/>
          </a:solidFill>
          <a:ln xmlns:a="http://schemas.openxmlformats.org/drawingml/2006/main" w="0">
            <a:solidFill>
              <a:srgbClr val="3D6C8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C55CF5-C37D-4FDC-BFAC-60511740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Music Transformer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A3AF3F-65AC-41EC-8CB9-FC472A31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0040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Self-attention can model longer phrase-level symbolic structure.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6963ED-2A1F-4EAF-970F-C7DE8563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00400"/>
            <a:ext cx="352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Our GRUs are cheaper to train and simpler to explain for the assignment.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68AE7B-5996-429D-91D7-E6EB60DB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4A52C2-BBE7-4943-971B-1C5FF7AC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857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74"/>
          </a:solidFill>
          <a:ln xmlns:a="http://schemas.openxmlformats.org/drawingml/2006/main" w="0">
            <a:solidFill>
              <a:srgbClr val="2D7D7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A3FF2B-B92D-4625-800F-1735CC83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434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Bach chorales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EC0C98-D84C-4FED-A4C4-222BF04A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0530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6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65"/>
                </a:solidFill>
                <a:latin typeface="Aptos"/>
                <a:ea typeface="Aptos"/>
                <a:cs typeface="Aptos"/>
              </a:rPr>
              <a:t>Compact four-voice benchmark with interpretable music-theory checks.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914E17-D595-4E8A-85C8-78AC443C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05300"/>
            <a:ext cx="352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Great for evaluation, but not a complete model of all Western harmony.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56926A-782A-4BB7-AD2B-EB19C953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514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84B"/>
          </a:solidFill>
          <a:ln xmlns:a="http://schemas.openxmlformats.org/drawingml/2006/main" w="0">
            <a:solidFill>
              <a:srgbClr val="A9584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695758-ADAB-48A6-B9D7-898E0127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29250"/>
            <a:ext cx="840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424"/>
                </a:solidFill>
                <a:latin typeface="Aptos"/>
                <a:ea typeface="Aptos"/>
                <a:cs typeface="Aptos"/>
              </a:rPr>
              <a:t>Limit: fixed eighth-note grid simplifies rhythm.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D1BC75-E272-4682-AE2D-97F22D23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800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84B"/>
          </a:solidFill>
          <a:ln xmlns:a="http://schemas.openxmlformats.org/drawingml/2006/main" w="0">
            <a:solidFill>
              <a:srgbClr val="A9584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83E984-1205-4F38-9100-48790015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715000"/>
            <a:ext cx="840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424"/>
                </a:solidFill>
                <a:latin typeface="Aptos"/>
                <a:ea typeface="Aptos"/>
                <a:cs typeface="Aptos"/>
              </a:rPr>
              <a:t>Limit: symbolic rules catch obvious failures, not full Bach harmony.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635E8F-40A7-428D-8C21-A629F876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086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A4C"/>
          </a:solidFill>
          <a:ln xmlns:a="http://schemas.openxmlformats.org/drawingml/2006/main" w="0">
            <a:solidFill>
              <a:srgbClr val="668A4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B56406-617F-4DF5-B5BE-2E4EC2F8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000750"/>
            <a:ext cx="840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424"/>
                </a:solidFill>
                <a:latin typeface="Aptos"/>
                <a:ea typeface="Aptos"/>
                <a:cs typeface="Aptos"/>
              </a:rPr>
              <a:t>Next: train longer, add key-aware constraints, try Transformer-style context.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526D77-880D-4F13-B327-1C95AC26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1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17C"/>
                </a:solidFill>
                <a:latin typeface="Aptos"/>
                <a:ea typeface="Aptos"/>
                <a:cs typeface="Aptos"/>
              </a:rPr>
              <a:t>BachBot | CSE 253 Assignment 2 | 11</a:t>
            </a:r>
          </a:p>
        </p:txBody>
      </p:sp>
    </p:spTree>
    <p:extLst>
      <p:ext uri="{BB962C8B-B14F-4D97-AF65-F5344CB8AC3E}">
        <p14:creationId xmlns:p14="http://schemas.microsoft.com/office/powerpoint/2010/main" val="150132509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4C4AF2-FB84-4223-9990-8BE0D131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7C57B-D5A4-41D0-B769-A29F97FD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657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What BachBot Achieved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6F329-7BEF-4348-B439-8A03AE08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514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2E"/>
          </a:solidFill>
          <a:ln xmlns:a="http://schemas.openxmlformats.org/drawingml/2006/main" w="9525">
            <a:solidFill>
              <a:srgbClr val="4B5B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D184C-3F86-4655-8777-C0472E4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B3D"/>
          </a:solidFill>
          <a:ln xmlns:a="http://schemas.openxmlformats.org/drawingml/2006/main" w="0">
            <a:solidFill>
              <a:srgbClr val="C99B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CF6E4-EA73-4BA7-BBDA-5ACB512A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Shared representation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452BA-90D1-4351-B71C-B7C92FC3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5DE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5DED8"/>
                </a:solidFill>
                <a:latin typeface="Aptos"/>
                <a:ea typeface="Aptos"/>
                <a:cs typeface="Aptos"/>
              </a:rPr>
              <a:t>One SATB grid supports both generation tasks.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BA56B-9AD9-46E6-8CE0-2C77BBA6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514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2E"/>
          </a:solidFill>
          <a:ln xmlns:a="http://schemas.openxmlformats.org/drawingml/2006/main" w="9525">
            <a:solidFill>
              <a:srgbClr val="4B5B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E0BE9-74C2-400F-8671-CE076DD3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74"/>
          </a:solidFill>
          <a:ln xmlns:a="http://schemas.openxmlformats.org/drawingml/2006/main" w="0">
            <a:solidFill>
              <a:srgbClr val="2D7D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BF2B2-2DA6-49AE-81AC-6A455633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Hybrid decoding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35814-C412-44B6-9423-85D90722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5DE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5DED8"/>
                </a:solidFill>
                <a:latin typeface="Aptos"/>
                <a:ea typeface="Aptos"/>
                <a:cs typeface="Aptos"/>
              </a:rPr>
              <a:t>Learned probabilities are filtered by music constraints.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DE6B9E-1E81-43B6-83C7-317D91A9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514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2E"/>
          </a:solidFill>
          <a:ln xmlns:a="http://schemas.openxmlformats.org/drawingml/2006/main" w="9525">
            <a:solidFill>
              <a:srgbClr val="4B5B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E97D83-CE6B-4EB3-A6C7-0BEBECE2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C8E"/>
          </a:solidFill>
          <a:ln xmlns:a="http://schemas.openxmlformats.org/drawingml/2006/main" w="0">
            <a:solidFill>
              <a:srgbClr val="3D6C8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05502-C600-417C-A407-80C79D3D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Final artifacts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F6D12-E7E3-4DF4-9D95-F6B5AB30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5DE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5DED8"/>
                </a:solidFill>
                <a:latin typeface="Aptos"/>
                <a:ea typeface="Aptos"/>
                <a:cs typeface="Aptos"/>
              </a:rPr>
              <a:t>Workbook plus two required MIDI submissions are regenerated.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D30DE-17D7-4823-98D3-17DE40F6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000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9"/>
          </a:solidFill>
          <a:ln xmlns:a="http://schemas.openxmlformats.org/drawingml/2006/main" w="9525">
            <a:solidFill>
              <a:srgbClr val="D0C5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E0DDDC-6C21-43FC-8D43-87AF35B6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383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4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2424"/>
                </a:solidFill>
                <a:latin typeface="Aptos"/>
                <a:ea typeface="Aptos"/>
                <a:cs typeface="Aptos"/>
              </a:rPr>
              <a:t>Submitted files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4D32F7-8ACF-4F7A-87E9-CB9150C2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527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A"/>
          </a:solidFill>
          <a:ln xmlns:a="http://schemas.openxmlformats.org/drawingml/2006/main" w="9525">
            <a:solidFill>
              <a:srgbClr val="D7CEBC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4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D2424"/>
                </a:solidFill>
                <a:latin typeface="Aptos Mono"/>
                <a:ea typeface="Aptos Mono"/>
                <a:cs typeface="Aptos Mono"/>
              </a:rPr>
              <a:t>submission/workbook.html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48286-E09F-4C2B-B3D3-EAB7C1ED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A"/>
          </a:solidFill>
          <a:ln xmlns:a="http://schemas.openxmlformats.org/drawingml/2006/main" w="9525">
            <a:solidFill>
              <a:srgbClr val="D7CEBC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4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D2424"/>
                </a:solidFill>
                <a:latin typeface="Aptos Mono"/>
                <a:ea typeface="Aptos Mono"/>
                <a:cs typeface="Aptos Mono"/>
              </a:rPr>
              <a:t>submission/symbolic_unconditioned.mid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547A51-7FCD-4EAA-A785-94C6D135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052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A"/>
          </a:solidFill>
          <a:ln xmlns:a="http://schemas.openxmlformats.org/drawingml/2006/main" w="9525">
            <a:solidFill>
              <a:srgbClr val="D7CEBC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4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D2424"/>
                </a:solidFill>
                <a:latin typeface="Aptos Mono"/>
                <a:ea typeface="Aptos Mono"/>
                <a:cs typeface="Aptos Mono"/>
              </a:rPr>
              <a:t>submission/symbolic_conditioned.mid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1444D3-F091-42AF-85A1-02B55E32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814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A"/>
          </a:solidFill>
          <a:ln xmlns:a="http://schemas.openxmlformats.org/drawingml/2006/main" w="9525">
            <a:solidFill>
              <a:srgbClr val="D7CEBC"/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24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D2424"/>
                </a:solidFill>
                <a:latin typeface="Aptos Mono"/>
                <a:ea typeface="Aptos Mono"/>
                <a:cs typeface="Aptos Mono"/>
              </a:rPr>
              <a:t>submission/video_url.txt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E4D253-FB1B-4C8C-9831-38DD7E8C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005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584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9584B"/>
                </a:solidFill>
                <a:latin typeface="Aptos"/>
                <a:ea typeface="Aptos"/>
                <a:cs typeface="Aptos"/>
              </a:rPr>
              <a:t>Remaining human step: replace the placeholder video URL before final upload.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1D097A-7939-4BCB-BEEA-37341F24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99B3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C99B3D"/>
                </a:solidFill>
                <a:latin typeface="Aptos Display"/>
                <a:ea typeface="Aptos Display"/>
                <a:cs typeface="Aptos Display"/>
              </a:rPr>
              <a:t>Thanks!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70BF6E-7D89-4596-9B26-404462EB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1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17C"/>
                </a:solidFill>
                <a:latin typeface="Aptos"/>
                <a:ea typeface="Aptos"/>
                <a:cs typeface="Aptos"/>
              </a:rPr>
              <a:t>BachBot | CSE 253 Assignment 2 | 12</a:t>
            </a:r>
          </a:p>
        </p:txBody>
      </p:sp>
    </p:spTree>
    <p:extLst>
      <p:ext uri="{BB962C8B-B14F-4D97-AF65-F5344CB8AC3E}">
        <p14:creationId xmlns:p14="http://schemas.microsoft.com/office/powerpoint/2010/main" val="16682114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2026-05-31T05:15:36.2870000Z</dcterms:created>
  <dcterms:modified xsi:type="dcterms:W3CDTF">2026-05-31T05:15:36.2870000Z</dcterms:modified>
</coreProperties>
</file>