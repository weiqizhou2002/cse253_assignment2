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68"/>
  </p:normalViewPr>
  <p:slideViewPr>
    <p:cSldViewPr snapToGrid="0">
      <p:cViewPr varScale="1">
        <p:scale>
          <a:sx n="104" d="100"/>
          <a:sy n="104" d="100"/>
        </p:scale>
        <p:origin x="23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81">
            <a:extLst>
              <a:ext uri="{FF2B5EF4-FFF2-40B4-BE49-F238E27FC236}">
                <a16:creationId xmlns:a16="http://schemas.microsoft.com/office/drawing/2014/main" id="{446D07E3-7BB8-46E8-91B2-52742C76C5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8222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39E654-5029-4051-B918-6FB68C96EAF5}"/>
              </a:ext>
            </a:extLst>
          </p:cNvPr>
          <p:cNvSpPr>
            <a:spLocks noGrp="1"/>
          </p:cNvSpPr>
          <p:nvPr/>
        </p:nvSpPr>
        <p:spPr>
          <a:xfrm>
            <a:off x="685800" y="723900"/>
            <a:ext cx="533400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BachBot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34D1C5-C828-48B0-ABE2-97A9096D68AB}"/>
              </a:ext>
            </a:extLst>
          </p:cNvPr>
          <p:cNvSpPr>
            <a:spLocks noGrp="1"/>
          </p:cNvSpPr>
          <p:nvPr/>
        </p:nvSpPr>
        <p:spPr>
          <a:xfrm>
            <a:off x="742950" y="1581150"/>
            <a:ext cx="6762750" cy="742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0">
                <a:solidFill>
                  <a:srgbClr val="D9E4DD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D9E4DD"/>
                </a:solidFill>
                <a:latin typeface="Aptos"/>
                <a:ea typeface="Aptos"/>
                <a:cs typeface="Aptos"/>
              </a:rPr>
              <a:t>Symbolic Bach-style chorale generation with neural models plus music-theory decoding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1F62ED-6EA1-4832-9ED3-9EDFCC742EA1}"/>
              </a:ext>
            </a:extLst>
          </p:cNvPr>
          <p:cNvSpPr>
            <a:spLocks noGrp="1"/>
          </p:cNvSpPr>
          <p:nvPr/>
        </p:nvSpPr>
        <p:spPr>
          <a:xfrm>
            <a:off x="742950" y="2952750"/>
            <a:ext cx="2190750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D01803-D131-4F09-A927-AB21BBD3D636}"/>
              </a:ext>
            </a:extLst>
          </p:cNvPr>
          <p:cNvSpPr>
            <a:spLocks noGrp="1"/>
          </p:cNvSpPr>
          <p:nvPr/>
        </p:nvSpPr>
        <p:spPr>
          <a:xfrm>
            <a:off x="742950" y="2952750"/>
            <a:ext cx="76200" cy="10096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062702-A970-4FD6-AC4C-79B08C1BF3A0}"/>
              </a:ext>
            </a:extLst>
          </p:cNvPr>
          <p:cNvSpPr>
            <a:spLocks noGrp="1"/>
          </p:cNvSpPr>
          <p:nvPr/>
        </p:nvSpPr>
        <p:spPr>
          <a:xfrm>
            <a:off x="914400" y="3048000"/>
            <a:ext cx="1905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21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371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64CF7B-E9CC-4169-88E5-468DA2CE0CEA}"/>
              </a:ext>
            </a:extLst>
          </p:cNvPr>
          <p:cNvSpPr>
            <a:spLocks noGrp="1"/>
          </p:cNvSpPr>
          <p:nvPr/>
        </p:nvSpPr>
        <p:spPr>
          <a:xfrm>
            <a:off x="914400" y="3400425"/>
            <a:ext cx="1905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usable Bach chorales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DFFA46-A9C3-4A58-9D63-827EBEF4EBD8}"/>
              </a:ext>
            </a:extLst>
          </p:cNvPr>
          <p:cNvSpPr>
            <a:spLocks noGrp="1"/>
          </p:cNvSpPr>
          <p:nvPr/>
        </p:nvSpPr>
        <p:spPr>
          <a:xfrm>
            <a:off x="914400" y="3638550"/>
            <a:ext cx="1905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825" b="0">
                <a:solidFill>
                  <a:srgbClr val="777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7736A"/>
                </a:solidFill>
                <a:latin typeface="Aptos"/>
                <a:ea typeface="Aptos"/>
                <a:cs typeface="Aptos"/>
              </a:rPr>
              <a:t>from music21 corpus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020ED3-AD22-4E33-AF4C-E31222C32D17}"/>
              </a:ext>
            </a:extLst>
          </p:cNvPr>
          <p:cNvSpPr>
            <a:spLocks noGrp="1"/>
          </p:cNvSpPr>
          <p:nvPr/>
        </p:nvSpPr>
        <p:spPr>
          <a:xfrm>
            <a:off x="5905500" y="3048000"/>
            <a:ext cx="2095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21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6E8CEA-9D4A-416A-873E-B1180F0A5544}"/>
              </a:ext>
            </a:extLst>
          </p:cNvPr>
          <p:cNvSpPr>
            <a:spLocks noGrp="1"/>
          </p:cNvSpPr>
          <p:nvPr/>
        </p:nvSpPr>
        <p:spPr>
          <a:xfrm>
            <a:off x="866775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014CD8D-7808-4256-B721-B84640ACDC33}"/>
              </a:ext>
            </a:extLst>
          </p:cNvPr>
          <p:cNvSpPr>
            <a:spLocks noGrp="1"/>
          </p:cNvSpPr>
          <p:nvPr/>
        </p:nvSpPr>
        <p:spPr>
          <a:xfrm>
            <a:off x="8667750" y="14478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215771F-9C71-4EA8-A917-BC01C8B7FFAF}"/>
              </a:ext>
            </a:extLst>
          </p:cNvPr>
          <p:cNvSpPr>
            <a:spLocks noGrp="1"/>
          </p:cNvSpPr>
          <p:nvPr/>
        </p:nvSpPr>
        <p:spPr>
          <a:xfrm>
            <a:off x="887730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2761741-D9E7-4351-97FC-A2EA4E9D7E7D}"/>
              </a:ext>
            </a:extLst>
          </p:cNvPr>
          <p:cNvSpPr>
            <a:spLocks noGrp="1"/>
          </p:cNvSpPr>
          <p:nvPr/>
        </p:nvSpPr>
        <p:spPr>
          <a:xfrm>
            <a:off x="908685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F990FEB-13A2-4F61-9330-75E23073C727}"/>
              </a:ext>
            </a:extLst>
          </p:cNvPr>
          <p:cNvSpPr>
            <a:spLocks noGrp="1"/>
          </p:cNvSpPr>
          <p:nvPr/>
        </p:nvSpPr>
        <p:spPr>
          <a:xfrm>
            <a:off x="929640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3E91E2A-1D39-474C-BDAB-36014891E0DE}"/>
              </a:ext>
            </a:extLst>
          </p:cNvPr>
          <p:cNvSpPr>
            <a:spLocks noGrp="1"/>
          </p:cNvSpPr>
          <p:nvPr/>
        </p:nvSpPr>
        <p:spPr>
          <a:xfrm>
            <a:off x="950595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094C64-A7E0-405C-9A5D-608A3F8CFDBF}"/>
              </a:ext>
            </a:extLst>
          </p:cNvPr>
          <p:cNvSpPr>
            <a:spLocks noGrp="1"/>
          </p:cNvSpPr>
          <p:nvPr/>
        </p:nvSpPr>
        <p:spPr>
          <a:xfrm>
            <a:off x="9505950" y="14478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20A49B-9853-490A-9559-EF43B96F140C}"/>
              </a:ext>
            </a:extLst>
          </p:cNvPr>
          <p:cNvSpPr>
            <a:spLocks noGrp="1"/>
          </p:cNvSpPr>
          <p:nvPr/>
        </p:nvSpPr>
        <p:spPr>
          <a:xfrm>
            <a:off x="971550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1ADC35-0114-4493-B03E-EE9799EA3703}"/>
              </a:ext>
            </a:extLst>
          </p:cNvPr>
          <p:cNvSpPr>
            <a:spLocks noGrp="1"/>
          </p:cNvSpPr>
          <p:nvPr/>
        </p:nvSpPr>
        <p:spPr>
          <a:xfrm>
            <a:off x="992505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C4C483-1B4B-4C28-9542-9F0EBB7313F2}"/>
              </a:ext>
            </a:extLst>
          </p:cNvPr>
          <p:cNvSpPr>
            <a:spLocks noGrp="1"/>
          </p:cNvSpPr>
          <p:nvPr/>
        </p:nvSpPr>
        <p:spPr>
          <a:xfrm>
            <a:off x="1013460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A4F961-F056-42B9-9633-BA59DE73B7BC}"/>
              </a:ext>
            </a:extLst>
          </p:cNvPr>
          <p:cNvSpPr>
            <a:spLocks noGrp="1"/>
          </p:cNvSpPr>
          <p:nvPr/>
        </p:nvSpPr>
        <p:spPr>
          <a:xfrm>
            <a:off x="1034415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5F1289-B776-4ED1-99D3-A28A12A021AB}"/>
              </a:ext>
            </a:extLst>
          </p:cNvPr>
          <p:cNvSpPr>
            <a:spLocks noGrp="1"/>
          </p:cNvSpPr>
          <p:nvPr/>
        </p:nvSpPr>
        <p:spPr>
          <a:xfrm>
            <a:off x="10344150" y="14478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6873F53-3391-414A-856E-CDB93808F527}"/>
              </a:ext>
            </a:extLst>
          </p:cNvPr>
          <p:cNvSpPr>
            <a:spLocks noGrp="1"/>
          </p:cNvSpPr>
          <p:nvPr/>
        </p:nvSpPr>
        <p:spPr>
          <a:xfrm>
            <a:off x="1055370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BC4C14A-5C1E-41FD-813A-165B183F085E}"/>
              </a:ext>
            </a:extLst>
          </p:cNvPr>
          <p:cNvSpPr>
            <a:spLocks noGrp="1"/>
          </p:cNvSpPr>
          <p:nvPr/>
        </p:nvSpPr>
        <p:spPr>
          <a:xfrm>
            <a:off x="1076325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6E1A29-37BA-4AB4-ACBB-8B7305CDBE36}"/>
              </a:ext>
            </a:extLst>
          </p:cNvPr>
          <p:cNvSpPr>
            <a:spLocks noGrp="1"/>
          </p:cNvSpPr>
          <p:nvPr/>
        </p:nvSpPr>
        <p:spPr>
          <a:xfrm>
            <a:off x="10972800" y="1295400"/>
            <a:ext cx="133350" cy="1333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B2D0EF-A291-4DB1-8064-720C8052A56A}"/>
              </a:ext>
            </a:extLst>
          </p:cNvPr>
          <p:cNvSpPr>
            <a:spLocks noGrp="1"/>
          </p:cNvSpPr>
          <p:nvPr/>
        </p:nvSpPr>
        <p:spPr>
          <a:xfrm>
            <a:off x="866775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2808846-6CAA-4447-A886-A615349F9D7A}"/>
              </a:ext>
            </a:extLst>
          </p:cNvPr>
          <p:cNvSpPr>
            <a:spLocks noGrp="1"/>
          </p:cNvSpPr>
          <p:nvPr/>
        </p:nvSpPr>
        <p:spPr>
          <a:xfrm>
            <a:off x="887730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758CB4E-BAA1-4F52-B117-C326EAD1DDCE}"/>
              </a:ext>
            </a:extLst>
          </p:cNvPr>
          <p:cNvSpPr>
            <a:spLocks noGrp="1"/>
          </p:cNvSpPr>
          <p:nvPr/>
        </p:nvSpPr>
        <p:spPr>
          <a:xfrm>
            <a:off x="908685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F6E30B0-FFA0-4126-9053-91B10678D542}"/>
              </a:ext>
            </a:extLst>
          </p:cNvPr>
          <p:cNvSpPr>
            <a:spLocks noGrp="1"/>
          </p:cNvSpPr>
          <p:nvPr/>
        </p:nvSpPr>
        <p:spPr>
          <a:xfrm>
            <a:off x="929640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7578E0D-322A-4E3E-9E72-0CC1828995B9}"/>
              </a:ext>
            </a:extLst>
          </p:cNvPr>
          <p:cNvSpPr>
            <a:spLocks noGrp="1"/>
          </p:cNvSpPr>
          <p:nvPr/>
        </p:nvSpPr>
        <p:spPr>
          <a:xfrm>
            <a:off x="9296400" y="19050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C8352F1-868D-4C70-B91B-C3232CCD356B}"/>
              </a:ext>
            </a:extLst>
          </p:cNvPr>
          <p:cNvSpPr>
            <a:spLocks noGrp="1"/>
          </p:cNvSpPr>
          <p:nvPr/>
        </p:nvSpPr>
        <p:spPr>
          <a:xfrm>
            <a:off x="950595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B526200-4992-459A-8549-0EE04246A271}"/>
              </a:ext>
            </a:extLst>
          </p:cNvPr>
          <p:cNvSpPr>
            <a:spLocks noGrp="1"/>
          </p:cNvSpPr>
          <p:nvPr/>
        </p:nvSpPr>
        <p:spPr>
          <a:xfrm>
            <a:off x="971550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FD94AF9-0059-4D6C-878C-3EE0850A4E88}"/>
              </a:ext>
            </a:extLst>
          </p:cNvPr>
          <p:cNvSpPr>
            <a:spLocks noGrp="1"/>
          </p:cNvSpPr>
          <p:nvPr/>
        </p:nvSpPr>
        <p:spPr>
          <a:xfrm>
            <a:off x="992505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2A86F53-63B7-4067-999C-F53FD7F972AF}"/>
              </a:ext>
            </a:extLst>
          </p:cNvPr>
          <p:cNvSpPr>
            <a:spLocks noGrp="1"/>
          </p:cNvSpPr>
          <p:nvPr/>
        </p:nvSpPr>
        <p:spPr>
          <a:xfrm>
            <a:off x="1013460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52ED60E-5BE3-4F5E-9EFD-99FBF69666C7}"/>
              </a:ext>
            </a:extLst>
          </p:cNvPr>
          <p:cNvSpPr>
            <a:spLocks noGrp="1"/>
          </p:cNvSpPr>
          <p:nvPr/>
        </p:nvSpPr>
        <p:spPr>
          <a:xfrm>
            <a:off x="10134600" y="19050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A86C3E-982B-44C6-9A25-B15E48A07BE9}"/>
              </a:ext>
            </a:extLst>
          </p:cNvPr>
          <p:cNvSpPr>
            <a:spLocks noGrp="1"/>
          </p:cNvSpPr>
          <p:nvPr/>
        </p:nvSpPr>
        <p:spPr>
          <a:xfrm>
            <a:off x="1034415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350F18C-1702-4152-9CCA-DFF878CF711A}"/>
              </a:ext>
            </a:extLst>
          </p:cNvPr>
          <p:cNvSpPr>
            <a:spLocks noGrp="1"/>
          </p:cNvSpPr>
          <p:nvPr/>
        </p:nvSpPr>
        <p:spPr>
          <a:xfrm>
            <a:off x="1055370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A14F662-CB68-4A01-B09B-2E40B6D75825}"/>
              </a:ext>
            </a:extLst>
          </p:cNvPr>
          <p:cNvSpPr>
            <a:spLocks noGrp="1"/>
          </p:cNvSpPr>
          <p:nvPr/>
        </p:nvSpPr>
        <p:spPr>
          <a:xfrm>
            <a:off x="1076325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CD15C26-F231-465E-82E6-9D9A0CAE9713}"/>
              </a:ext>
            </a:extLst>
          </p:cNvPr>
          <p:cNvSpPr>
            <a:spLocks noGrp="1"/>
          </p:cNvSpPr>
          <p:nvPr/>
        </p:nvSpPr>
        <p:spPr>
          <a:xfrm>
            <a:off x="10972800" y="1752600"/>
            <a:ext cx="133350" cy="1333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6852F41-0A70-40FE-996E-5296594FA7D2}"/>
              </a:ext>
            </a:extLst>
          </p:cNvPr>
          <p:cNvSpPr>
            <a:spLocks noGrp="1"/>
          </p:cNvSpPr>
          <p:nvPr/>
        </p:nvSpPr>
        <p:spPr>
          <a:xfrm>
            <a:off x="10972800" y="19050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9279096-76B0-48D2-BF2C-5963D1B32797}"/>
              </a:ext>
            </a:extLst>
          </p:cNvPr>
          <p:cNvSpPr>
            <a:spLocks noGrp="1"/>
          </p:cNvSpPr>
          <p:nvPr/>
        </p:nvSpPr>
        <p:spPr>
          <a:xfrm>
            <a:off x="866775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56C21A0-68AF-4AFB-9E29-A465B5AD5C97}"/>
              </a:ext>
            </a:extLst>
          </p:cNvPr>
          <p:cNvSpPr>
            <a:spLocks noGrp="1"/>
          </p:cNvSpPr>
          <p:nvPr/>
        </p:nvSpPr>
        <p:spPr>
          <a:xfrm>
            <a:off x="887730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EACBD80-4886-4186-8FDD-74A548F56145}"/>
              </a:ext>
            </a:extLst>
          </p:cNvPr>
          <p:cNvSpPr>
            <a:spLocks noGrp="1"/>
          </p:cNvSpPr>
          <p:nvPr/>
        </p:nvSpPr>
        <p:spPr>
          <a:xfrm>
            <a:off x="908685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3491DEC-81BE-4A43-BE3D-B89DFE8B9CD6}"/>
              </a:ext>
            </a:extLst>
          </p:cNvPr>
          <p:cNvSpPr>
            <a:spLocks noGrp="1"/>
          </p:cNvSpPr>
          <p:nvPr/>
        </p:nvSpPr>
        <p:spPr>
          <a:xfrm>
            <a:off x="9086850" y="23622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C7653F7-6084-47A1-9D78-326931355853}"/>
              </a:ext>
            </a:extLst>
          </p:cNvPr>
          <p:cNvSpPr>
            <a:spLocks noGrp="1"/>
          </p:cNvSpPr>
          <p:nvPr/>
        </p:nvSpPr>
        <p:spPr>
          <a:xfrm>
            <a:off x="929640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421AA9E-2451-4D2F-BAB2-54F2BE7B4B1B}"/>
              </a:ext>
            </a:extLst>
          </p:cNvPr>
          <p:cNvSpPr>
            <a:spLocks noGrp="1"/>
          </p:cNvSpPr>
          <p:nvPr/>
        </p:nvSpPr>
        <p:spPr>
          <a:xfrm>
            <a:off x="950595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E919D8E-C131-4AC6-948E-17EE09A98C06}"/>
              </a:ext>
            </a:extLst>
          </p:cNvPr>
          <p:cNvSpPr>
            <a:spLocks noGrp="1"/>
          </p:cNvSpPr>
          <p:nvPr/>
        </p:nvSpPr>
        <p:spPr>
          <a:xfrm>
            <a:off x="971550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5A576D1-DF56-4DCA-BE85-8EA974F9E1CD}"/>
              </a:ext>
            </a:extLst>
          </p:cNvPr>
          <p:cNvSpPr>
            <a:spLocks noGrp="1"/>
          </p:cNvSpPr>
          <p:nvPr/>
        </p:nvSpPr>
        <p:spPr>
          <a:xfrm>
            <a:off x="992505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DEBDEB2-675D-4D21-A9AE-837325B63AD1}"/>
              </a:ext>
            </a:extLst>
          </p:cNvPr>
          <p:cNvSpPr>
            <a:spLocks noGrp="1"/>
          </p:cNvSpPr>
          <p:nvPr/>
        </p:nvSpPr>
        <p:spPr>
          <a:xfrm>
            <a:off x="9925050" y="23622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3410694-EC6F-420A-8EF4-0D59EAA9806D}"/>
              </a:ext>
            </a:extLst>
          </p:cNvPr>
          <p:cNvSpPr>
            <a:spLocks noGrp="1"/>
          </p:cNvSpPr>
          <p:nvPr/>
        </p:nvSpPr>
        <p:spPr>
          <a:xfrm>
            <a:off x="1013460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5B442C9-34EF-42E6-87E4-685C1F078FF3}"/>
              </a:ext>
            </a:extLst>
          </p:cNvPr>
          <p:cNvSpPr>
            <a:spLocks noGrp="1"/>
          </p:cNvSpPr>
          <p:nvPr/>
        </p:nvSpPr>
        <p:spPr>
          <a:xfrm>
            <a:off x="1034415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1798E8C-C5AE-487A-921A-C6D164A7323F}"/>
              </a:ext>
            </a:extLst>
          </p:cNvPr>
          <p:cNvSpPr>
            <a:spLocks noGrp="1"/>
          </p:cNvSpPr>
          <p:nvPr/>
        </p:nvSpPr>
        <p:spPr>
          <a:xfrm>
            <a:off x="1055370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70C2892-D599-4826-8C2C-D03C62007695}"/>
              </a:ext>
            </a:extLst>
          </p:cNvPr>
          <p:cNvSpPr>
            <a:spLocks noGrp="1"/>
          </p:cNvSpPr>
          <p:nvPr/>
        </p:nvSpPr>
        <p:spPr>
          <a:xfrm>
            <a:off x="1076325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0D99134-BDD1-4A13-A544-018FC1B9C3DB}"/>
              </a:ext>
            </a:extLst>
          </p:cNvPr>
          <p:cNvSpPr>
            <a:spLocks noGrp="1"/>
          </p:cNvSpPr>
          <p:nvPr/>
        </p:nvSpPr>
        <p:spPr>
          <a:xfrm>
            <a:off x="10763250" y="23622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4269153-EF44-4600-AB6B-390797ACA271}"/>
              </a:ext>
            </a:extLst>
          </p:cNvPr>
          <p:cNvSpPr>
            <a:spLocks noGrp="1"/>
          </p:cNvSpPr>
          <p:nvPr/>
        </p:nvSpPr>
        <p:spPr>
          <a:xfrm>
            <a:off x="10972800" y="2209800"/>
            <a:ext cx="133350" cy="1333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7734164-F3F7-499C-89D6-87C3315D3F09}"/>
              </a:ext>
            </a:extLst>
          </p:cNvPr>
          <p:cNvSpPr>
            <a:spLocks noGrp="1"/>
          </p:cNvSpPr>
          <p:nvPr/>
        </p:nvSpPr>
        <p:spPr>
          <a:xfrm>
            <a:off x="866775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3BF711F-40C4-48B1-AF36-59EC8A761628}"/>
              </a:ext>
            </a:extLst>
          </p:cNvPr>
          <p:cNvSpPr>
            <a:spLocks noGrp="1"/>
          </p:cNvSpPr>
          <p:nvPr/>
        </p:nvSpPr>
        <p:spPr>
          <a:xfrm>
            <a:off x="887730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3945D4E8-07E0-4BC2-BA3D-4E9A6EB40770}"/>
              </a:ext>
            </a:extLst>
          </p:cNvPr>
          <p:cNvSpPr>
            <a:spLocks noGrp="1"/>
          </p:cNvSpPr>
          <p:nvPr/>
        </p:nvSpPr>
        <p:spPr>
          <a:xfrm>
            <a:off x="8877300" y="28194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EC1B62BB-B606-4682-839B-16A90E442E1A}"/>
              </a:ext>
            </a:extLst>
          </p:cNvPr>
          <p:cNvSpPr>
            <a:spLocks noGrp="1"/>
          </p:cNvSpPr>
          <p:nvPr/>
        </p:nvSpPr>
        <p:spPr>
          <a:xfrm>
            <a:off x="908685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B12A950-0F12-42E0-8982-3E2914C5F763}"/>
              </a:ext>
            </a:extLst>
          </p:cNvPr>
          <p:cNvSpPr>
            <a:spLocks noGrp="1"/>
          </p:cNvSpPr>
          <p:nvPr/>
        </p:nvSpPr>
        <p:spPr>
          <a:xfrm>
            <a:off x="929640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A190318-55AF-46B9-BA6B-246348D3EE96}"/>
              </a:ext>
            </a:extLst>
          </p:cNvPr>
          <p:cNvSpPr>
            <a:spLocks noGrp="1"/>
          </p:cNvSpPr>
          <p:nvPr/>
        </p:nvSpPr>
        <p:spPr>
          <a:xfrm>
            <a:off x="950595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1585CAE-243F-4012-B9A8-7BDC2CCB75A7}"/>
              </a:ext>
            </a:extLst>
          </p:cNvPr>
          <p:cNvSpPr>
            <a:spLocks noGrp="1"/>
          </p:cNvSpPr>
          <p:nvPr/>
        </p:nvSpPr>
        <p:spPr>
          <a:xfrm>
            <a:off x="971550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F2522881-3DBD-4AFF-A50B-A9D4B625B187}"/>
              </a:ext>
            </a:extLst>
          </p:cNvPr>
          <p:cNvSpPr>
            <a:spLocks noGrp="1"/>
          </p:cNvSpPr>
          <p:nvPr/>
        </p:nvSpPr>
        <p:spPr>
          <a:xfrm>
            <a:off x="9715500" y="28194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741115D-11DA-4D43-8841-6F3CD35D653C}"/>
              </a:ext>
            </a:extLst>
          </p:cNvPr>
          <p:cNvSpPr>
            <a:spLocks noGrp="1"/>
          </p:cNvSpPr>
          <p:nvPr/>
        </p:nvSpPr>
        <p:spPr>
          <a:xfrm>
            <a:off x="992505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039B6403-0DFF-41AD-83D2-F19CEBEAC23C}"/>
              </a:ext>
            </a:extLst>
          </p:cNvPr>
          <p:cNvSpPr>
            <a:spLocks noGrp="1"/>
          </p:cNvSpPr>
          <p:nvPr/>
        </p:nvSpPr>
        <p:spPr>
          <a:xfrm>
            <a:off x="1013460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824EC1-F2DF-487E-B399-683261D91DEC}"/>
              </a:ext>
            </a:extLst>
          </p:cNvPr>
          <p:cNvSpPr>
            <a:spLocks noGrp="1"/>
          </p:cNvSpPr>
          <p:nvPr/>
        </p:nvSpPr>
        <p:spPr>
          <a:xfrm>
            <a:off x="1034415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21FD1E6-4DE2-4A95-9338-5A4538D91969}"/>
              </a:ext>
            </a:extLst>
          </p:cNvPr>
          <p:cNvSpPr>
            <a:spLocks noGrp="1"/>
          </p:cNvSpPr>
          <p:nvPr/>
        </p:nvSpPr>
        <p:spPr>
          <a:xfrm>
            <a:off x="1055370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2B87696-4B0C-4C49-B3DC-AEF6114E4970}"/>
              </a:ext>
            </a:extLst>
          </p:cNvPr>
          <p:cNvSpPr>
            <a:spLocks noGrp="1"/>
          </p:cNvSpPr>
          <p:nvPr/>
        </p:nvSpPr>
        <p:spPr>
          <a:xfrm>
            <a:off x="10553700" y="2819400"/>
            <a:ext cx="133350" cy="19050"/>
          </a:xfrm>
          <a:prstGeom prst="rect">
            <a:avLst/>
          </a:prstGeom>
          <a:solidFill>
            <a:srgbClr val="E8E2D4"/>
          </a:solidFill>
          <a:ln w="0">
            <a:solidFill>
              <a:srgbClr val="E8E2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48E2BF8-431B-4101-9381-82A94996691F}"/>
              </a:ext>
            </a:extLst>
          </p:cNvPr>
          <p:cNvSpPr>
            <a:spLocks noGrp="1"/>
          </p:cNvSpPr>
          <p:nvPr/>
        </p:nvSpPr>
        <p:spPr>
          <a:xfrm>
            <a:off x="1076325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9092EA7-EF1E-48D2-AFFD-6777937550B6}"/>
              </a:ext>
            </a:extLst>
          </p:cNvPr>
          <p:cNvSpPr>
            <a:spLocks noGrp="1"/>
          </p:cNvSpPr>
          <p:nvPr/>
        </p:nvSpPr>
        <p:spPr>
          <a:xfrm>
            <a:off x="10972800" y="2667000"/>
            <a:ext cx="133350" cy="1333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E624124-14D4-4D1D-9391-37144A3203F0}"/>
              </a:ext>
            </a:extLst>
          </p:cNvPr>
          <p:cNvSpPr>
            <a:spLocks noGrp="1"/>
          </p:cNvSpPr>
          <p:nvPr/>
        </p:nvSpPr>
        <p:spPr>
          <a:xfrm>
            <a:off x="8591550" y="3505200"/>
            <a:ext cx="2476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SATB token grid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F7B182D-0088-40AD-AA26-BA1AAA43D157}"/>
              </a:ext>
            </a:extLst>
          </p:cNvPr>
          <p:cNvSpPr>
            <a:spLocks noGrp="1"/>
          </p:cNvSpPr>
          <p:nvPr/>
        </p:nvSpPr>
        <p:spPr>
          <a:xfrm>
            <a:off x="8591550" y="3790950"/>
            <a:ext cx="27622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125" b="0">
                <a:solidFill>
                  <a:srgbClr val="C9D5CF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5CF"/>
                </a:solidFill>
                <a:latin typeface="Aptos"/>
                <a:ea typeface="Aptos"/>
                <a:cs typeface="Aptos"/>
              </a:rPr>
              <a:t>soprano | alto | tenor | bass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40E7881-8E6A-49F1-84C0-8BCCB2832D16}"/>
              </a:ext>
            </a:extLst>
          </p:cNvPr>
          <p:cNvSpPr>
            <a:spLocks noGrp="1"/>
          </p:cNvSpPr>
          <p:nvPr/>
        </p:nvSpPr>
        <p:spPr>
          <a:xfrm>
            <a:off x="419100" y="6496050"/>
            <a:ext cx="609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7B81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17C"/>
                </a:solidFill>
                <a:latin typeface="Aptos"/>
                <a:ea typeface="Aptos"/>
                <a:cs typeface="Aptos"/>
              </a:rPr>
              <a:t>BachBot | CSE 253 Assignment 2 | 01</a:t>
            </a:r>
          </a:p>
        </p:txBody>
      </p:sp>
    </p:spTree>
    <p:extLst>
      <p:ext uri="{BB962C8B-B14F-4D97-AF65-F5344CB8AC3E}">
        <p14:creationId xmlns:p14="http://schemas.microsoft.com/office/powerpoint/2010/main" val="1392664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ectangle 58">
            <a:extLst>
              <a:ext uri="{FF2B5EF4-FFF2-40B4-BE49-F238E27FC236}">
                <a16:creationId xmlns:a16="http://schemas.microsoft.com/office/drawing/2014/main" id="{E8B2B0F0-CC86-477B-A3BD-8824A1E7CB0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38A929B-7D28-45F3-8C44-C691AE4CDFFE}"/>
              </a:ext>
            </a:extLst>
          </p:cNvPr>
          <p:cNvSpPr>
            <a:spLocks noGrp="1"/>
          </p:cNvSpPr>
          <p:nvPr/>
        </p:nvSpPr>
        <p:spPr>
          <a:xfrm>
            <a:off x="419100" y="7048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701DFE-ABBD-460F-A334-413C05D1F3E7}"/>
              </a:ext>
            </a:extLst>
          </p:cNvPr>
          <p:cNvSpPr>
            <a:spLocks noGrp="1"/>
          </p:cNvSpPr>
          <p:nvPr/>
        </p:nvSpPr>
        <p:spPr>
          <a:xfrm>
            <a:off x="419100" y="8191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46664D-5CD9-4F0E-8957-20AD2174C734}"/>
              </a:ext>
            </a:extLst>
          </p:cNvPr>
          <p:cNvSpPr>
            <a:spLocks noGrp="1"/>
          </p:cNvSpPr>
          <p:nvPr/>
        </p:nvSpPr>
        <p:spPr>
          <a:xfrm>
            <a:off x="419100" y="9334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21CFC32-3C48-4FDA-A6E9-50465B0CAE67}"/>
              </a:ext>
            </a:extLst>
          </p:cNvPr>
          <p:cNvSpPr>
            <a:spLocks noGrp="1"/>
          </p:cNvSpPr>
          <p:nvPr/>
        </p:nvSpPr>
        <p:spPr>
          <a:xfrm>
            <a:off x="419100" y="10477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C89624-E5D9-4B7C-9BDB-8A2B433218CA}"/>
              </a:ext>
            </a:extLst>
          </p:cNvPr>
          <p:cNvSpPr>
            <a:spLocks noGrp="1"/>
          </p:cNvSpPr>
          <p:nvPr/>
        </p:nvSpPr>
        <p:spPr>
          <a:xfrm>
            <a:off x="419100" y="11620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D4ED6F-AD05-45B3-8688-F18741D835E8}"/>
              </a:ext>
            </a:extLst>
          </p:cNvPr>
          <p:cNvSpPr>
            <a:spLocks noGrp="1"/>
          </p:cNvSpPr>
          <p:nvPr/>
        </p:nvSpPr>
        <p:spPr>
          <a:xfrm>
            <a:off x="8458200" y="58102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4FEA3E-4B42-47F2-A162-76658643A91B}"/>
              </a:ext>
            </a:extLst>
          </p:cNvPr>
          <p:cNvSpPr>
            <a:spLocks noGrp="1"/>
          </p:cNvSpPr>
          <p:nvPr/>
        </p:nvSpPr>
        <p:spPr>
          <a:xfrm>
            <a:off x="8458200" y="59245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0F2B9B-103F-48A2-A3A8-EEB51B746DAA}"/>
              </a:ext>
            </a:extLst>
          </p:cNvPr>
          <p:cNvSpPr>
            <a:spLocks noGrp="1"/>
          </p:cNvSpPr>
          <p:nvPr/>
        </p:nvSpPr>
        <p:spPr>
          <a:xfrm>
            <a:off x="8458200" y="60388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2A76A8-8F94-4EF1-BF89-A504B9DF9234}"/>
              </a:ext>
            </a:extLst>
          </p:cNvPr>
          <p:cNvSpPr>
            <a:spLocks noGrp="1"/>
          </p:cNvSpPr>
          <p:nvPr/>
        </p:nvSpPr>
        <p:spPr>
          <a:xfrm>
            <a:off x="8458200" y="61531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FA8F4E-2110-4D2B-AFD0-080405E433F4}"/>
              </a:ext>
            </a:extLst>
          </p:cNvPr>
          <p:cNvSpPr>
            <a:spLocks noGrp="1"/>
          </p:cNvSpPr>
          <p:nvPr/>
        </p:nvSpPr>
        <p:spPr>
          <a:xfrm>
            <a:off x="8458200" y="62674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FCD6C2-0E0A-416E-8B6F-494B63CD98CF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F798D5-0E20-4679-9C0A-1E13C3F9B2B2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rPr>
              <a:t>A complete pipeline, then two generation tasks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354416-F7EC-4F48-80B7-5F81FDC5661D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The talk follows the same path as the code and the final workbook.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0D1F90-F197-4C1D-8FB4-B32599FD4E76}"/>
              </a:ext>
            </a:extLst>
          </p:cNvPr>
          <p:cNvSpPr>
            <a:spLocks noGrp="1"/>
          </p:cNvSpPr>
          <p:nvPr/>
        </p:nvSpPr>
        <p:spPr>
          <a:xfrm>
            <a:off x="666750" y="2457450"/>
            <a:ext cx="142875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F0BA617-A865-45A3-B9B7-A1487D48E3DD}"/>
              </a:ext>
            </a:extLst>
          </p:cNvPr>
          <p:cNvSpPr>
            <a:spLocks noGrp="1"/>
          </p:cNvSpPr>
          <p:nvPr/>
        </p:nvSpPr>
        <p:spPr>
          <a:xfrm>
            <a:off x="666750" y="2457450"/>
            <a:ext cx="1428750" cy="7620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9AE2C35-8AF6-4353-8B9C-5E9A28140CC1}"/>
              </a:ext>
            </a:extLst>
          </p:cNvPr>
          <p:cNvSpPr>
            <a:spLocks noGrp="1"/>
          </p:cNvSpPr>
          <p:nvPr/>
        </p:nvSpPr>
        <p:spPr>
          <a:xfrm>
            <a:off x="781050" y="262890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950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4B8675-8C73-41CF-B95F-1FFEF7B96798}"/>
              </a:ext>
            </a:extLst>
          </p:cNvPr>
          <p:cNvSpPr>
            <a:spLocks noGrp="1"/>
          </p:cNvSpPr>
          <p:nvPr/>
        </p:nvSpPr>
        <p:spPr>
          <a:xfrm>
            <a:off x="1219200" y="2686050"/>
            <a:ext cx="8001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218EF5-2435-425B-BDF4-8D719487D235}"/>
              </a:ext>
            </a:extLst>
          </p:cNvPr>
          <p:cNvSpPr>
            <a:spLocks noGrp="1"/>
          </p:cNvSpPr>
          <p:nvPr/>
        </p:nvSpPr>
        <p:spPr>
          <a:xfrm>
            <a:off x="800100" y="3105150"/>
            <a:ext cx="1162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music21 Bach chorales -&gt; SATB token grids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C1563-DF77-4F87-B7C0-0AC08B10CAFC}"/>
              </a:ext>
            </a:extLst>
          </p:cNvPr>
          <p:cNvSpPr>
            <a:spLocks noGrp="1"/>
          </p:cNvSpPr>
          <p:nvPr/>
        </p:nvSpPr>
        <p:spPr>
          <a:xfrm>
            <a:off x="2095500" y="3028950"/>
            <a:ext cx="38100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D9FB06A-20EA-4F69-A979-937C08D423D9}"/>
              </a:ext>
            </a:extLst>
          </p:cNvPr>
          <p:cNvSpPr>
            <a:spLocks noGrp="1"/>
          </p:cNvSpPr>
          <p:nvPr/>
        </p:nvSpPr>
        <p:spPr>
          <a:xfrm>
            <a:off x="2447925" y="297180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7EC3C7-3A95-4197-847C-1A05ABC4894D}"/>
              </a:ext>
            </a:extLst>
          </p:cNvPr>
          <p:cNvSpPr>
            <a:spLocks noGrp="1"/>
          </p:cNvSpPr>
          <p:nvPr/>
        </p:nvSpPr>
        <p:spPr>
          <a:xfrm>
            <a:off x="2476500" y="2457450"/>
            <a:ext cx="142875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225AB54-5EB7-4E3D-A272-A28DA0F42E86}"/>
              </a:ext>
            </a:extLst>
          </p:cNvPr>
          <p:cNvSpPr>
            <a:spLocks noGrp="1"/>
          </p:cNvSpPr>
          <p:nvPr/>
        </p:nvSpPr>
        <p:spPr>
          <a:xfrm>
            <a:off x="2476500" y="2457450"/>
            <a:ext cx="1428750" cy="7620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70EEE23-D14E-4AA8-B22B-73EFE9BA2791}"/>
              </a:ext>
            </a:extLst>
          </p:cNvPr>
          <p:cNvSpPr>
            <a:spLocks noGrp="1"/>
          </p:cNvSpPr>
          <p:nvPr/>
        </p:nvSpPr>
        <p:spPr>
          <a:xfrm>
            <a:off x="2590800" y="262890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950" b="1">
                <a:solidFill>
                  <a:srgbClr val="668A4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68A4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7EBD17-5023-49E1-9376-4923749E2D68}"/>
              </a:ext>
            </a:extLst>
          </p:cNvPr>
          <p:cNvSpPr>
            <a:spLocks noGrp="1"/>
          </p:cNvSpPr>
          <p:nvPr/>
        </p:nvSpPr>
        <p:spPr>
          <a:xfrm>
            <a:off x="3028950" y="2686050"/>
            <a:ext cx="8001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7D7FEB-9652-4618-89C6-C4E38D6972AB}"/>
              </a:ext>
            </a:extLst>
          </p:cNvPr>
          <p:cNvSpPr>
            <a:spLocks noGrp="1"/>
          </p:cNvSpPr>
          <p:nvPr/>
        </p:nvSpPr>
        <p:spPr>
          <a:xfrm>
            <a:off x="2609850" y="3105150"/>
            <a:ext cx="1162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sequence length, voice ranges, pitch classes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893BE29-8290-4D42-B295-A6A5E8828D65}"/>
              </a:ext>
            </a:extLst>
          </p:cNvPr>
          <p:cNvSpPr>
            <a:spLocks noGrp="1"/>
          </p:cNvSpPr>
          <p:nvPr/>
        </p:nvSpPr>
        <p:spPr>
          <a:xfrm>
            <a:off x="3905250" y="3028950"/>
            <a:ext cx="38100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D64080A-25D8-41CE-B712-894009F98EE9}"/>
              </a:ext>
            </a:extLst>
          </p:cNvPr>
          <p:cNvSpPr>
            <a:spLocks noGrp="1"/>
          </p:cNvSpPr>
          <p:nvPr/>
        </p:nvSpPr>
        <p:spPr>
          <a:xfrm>
            <a:off x="4257675" y="297180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0E1CB86-8869-40DC-B2B5-075DF05E99F1}"/>
              </a:ext>
            </a:extLst>
          </p:cNvPr>
          <p:cNvSpPr>
            <a:spLocks noGrp="1"/>
          </p:cNvSpPr>
          <p:nvPr/>
        </p:nvSpPr>
        <p:spPr>
          <a:xfrm>
            <a:off x="4286250" y="2457450"/>
            <a:ext cx="142875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2C9D7C-A53D-44F7-8F4D-1BAAAF3CEC6E}"/>
              </a:ext>
            </a:extLst>
          </p:cNvPr>
          <p:cNvSpPr>
            <a:spLocks noGrp="1"/>
          </p:cNvSpPr>
          <p:nvPr/>
        </p:nvSpPr>
        <p:spPr>
          <a:xfrm>
            <a:off x="4286250" y="2457450"/>
            <a:ext cx="1428750" cy="7620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4FFED2A-7918-4298-BF74-BAB05F556C3B}"/>
              </a:ext>
            </a:extLst>
          </p:cNvPr>
          <p:cNvSpPr>
            <a:spLocks noGrp="1"/>
          </p:cNvSpPr>
          <p:nvPr/>
        </p:nvSpPr>
        <p:spPr>
          <a:xfrm>
            <a:off x="4400550" y="262890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950" b="1">
                <a:solidFill>
                  <a:srgbClr val="3D6C8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3D6C8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98909BD-1FC1-4282-815B-F8E9EF271A73}"/>
              </a:ext>
            </a:extLst>
          </p:cNvPr>
          <p:cNvSpPr>
            <a:spLocks noGrp="1"/>
          </p:cNvSpPr>
          <p:nvPr/>
        </p:nvSpPr>
        <p:spPr>
          <a:xfrm>
            <a:off x="4838700" y="2686050"/>
            <a:ext cx="8001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51B7744-D4C2-4065-988C-C6D719527C7D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1162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unconditioned GRU + reranking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1292424-C952-41D3-B9CF-2C82BCD76E2B}"/>
              </a:ext>
            </a:extLst>
          </p:cNvPr>
          <p:cNvSpPr>
            <a:spLocks noGrp="1"/>
          </p:cNvSpPr>
          <p:nvPr/>
        </p:nvSpPr>
        <p:spPr>
          <a:xfrm>
            <a:off x="5715000" y="3028950"/>
            <a:ext cx="38100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6D3D4E2-75F4-462F-894E-958619B6791A}"/>
              </a:ext>
            </a:extLst>
          </p:cNvPr>
          <p:cNvSpPr>
            <a:spLocks noGrp="1"/>
          </p:cNvSpPr>
          <p:nvPr/>
        </p:nvSpPr>
        <p:spPr>
          <a:xfrm>
            <a:off x="6067425" y="297180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7282A0-8D90-473D-8E19-3B725ADF1CB6}"/>
              </a:ext>
            </a:extLst>
          </p:cNvPr>
          <p:cNvSpPr>
            <a:spLocks noGrp="1"/>
          </p:cNvSpPr>
          <p:nvPr/>
        </p:nvSpPr>
        <p:spPr>
          <a:xfrm>
            <a:off x="6096000" y="2457450"/>
            <a:ext cx="142875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86403F-0843-4D8C-9824-B58CB34C6367}"/>
              </a:ext>
            </a:extLst>
          </p:cNvPr>
          <p:cNvSpPr>
            <a:spLocks noGrp="1"/>
          </p:cNvSpPr>
          <p:nvPr/>
        </p:nvSpPr>
        <p:spPr>
          <a:xfrm>
            <a:off x="6096000" y="2457450"/>
            <a:ext cx="1428750" cy="7620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E354BAD-A092-411A-9179-D54A068564AC}"/>
              </a:ext>
            </a:extLst>
          </p:cNvPr>
          <p:cNvSpPr>
            <a:spLocks noGrp="1"/>
          </p:cNvSpPr>
          <p:nvPr/>
        </p:nvSpPr>
        <p:spPr>
          <a:xfrm>
            <a:off x="6210300" y="262890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950" b="1">
                <a:solidFill>
                  <a:srgbClr val="2D7D7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D7D74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F71C19-9A84-4119-B716-02697A9DB72B}"/>
              </a:ext>
            </a:extLst>
          </p:cNvPr>
          <p:cNvSpPr>
            <a:spLocks noGrp="1"/>
          </p:cNvSpPr>
          <p:nvPr/>
        </p:nvSpPr>
        <p:spPr>
          <a:xfrm>
            <a:off x="6648450" y="2686050"/>
            <a:ext cx="8001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Task 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206FF3-A71B-4D6D-BB64-8047B35171C7}"/>
              </a:ext>
            </a:extLst>
          </p:cNvPr>
          <p:cNvSpPr>
            <a:spLocks noGrp="1"/>
          </p:cNvSpPr>
          <p:nvPr/>
        </p:nvSpPr>
        <p:spPr>
          <a:xfrm>
            <a:off x="6229350" y="3105150"/>
            <a:ext cx="1162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soprano-conditioned harmonization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0C7CB71-8C32-4A33-92CB-68DAF976997C}"/>
              </a:ext>
            </a:extLst>
          </p:cNvPr>
          <p:cNvSpPr>
            <a:spLocks noGrp="1"/>
          </p:cNvSpPr>
          <p:nvPr/>
        </p:nvSpPr>
        <p:spPr>
          <a:xfrm>
            <a:off x="7524750" y="3028950"/>
            <a:ext cx="38100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60450EC-CD96-451D-8631-06C2F393A1E3}"/>
              </a:ext>
            </a:extLst>
          </p:cNvPr>
          <p:cNvSpPr>
            <a:spLocks noGrp="1"/>
          </p:cNvSpPr>
          <p:nvPr/>
        </p:nvSpPr>
        <p:spPr>
          <a:xfrm>
            <a:off x="7877175" y="297180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8A6BCB5-6786-47EF-95CB-0BFCA6C64810}"/>
              </a:ext>
            </a:extLst>
          </p:cNvPr>
          <p:cNvSpPr>
            <a:spLocks noGrp="1"/>
          </p:cNvSpPr>
          <p:nvPr/>
        </p:nvSpPr>
        <p:spPr>
          <a:xfrm>
            <a:off x="7905750" y="2457450"/>
            <a:ext cx="142875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BC3D9C1-85FA-41B7-B7E2-78C234A89332}"/>
              </a:ext>
            </a:extLst>
          </p:cNvPr>
          <p:cNvSpPr>
            <a:spLocks noGrp="1"/>
          </p:cNvSpPr>
          <p:nvPr/>
        </p:nvSpPr>
        <p:spPr>
          <a:xfrm>
            <a:off x="7905750" y="2457450"/>
            <a:ext cx="1428750" cy="76200"/>
          </a:xfrm>
          <a:prstGeom prst="rect">
            <a:avLst/>
          </a:prstGeom>
          <a:solidFill>
            <a:srgbClr val="A9584B"/>
          </a:solidFill>
          <a:ln w="0">
            <a:solidFill>
              <a:srgbClr val="A95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5BB2739-D3CF-46E6-903D-B4F6BBADA8A8}"/>
              </a:ext>
            </a:extLst>
          </p:cNvPr>
          <p:cNvSpPr>
            <a:spLocks noGrp="1"/>
          </p:cNvSpPr>
          <p:nvPr/>
        </p:nvSpPr>
        <p:spPr>
          <a:xfrm>
            <a:off x="8020050" y="262890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950" b="1">
                <a:solidFill>
                  <a:srgbClr val="A9584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A9584B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AE56A5E-EFD0-4B66-B6A7-0642074E1703}"/>
              </a:ext>
            </a:extLst>
          </p:cNvPr>
          <p:cNvSpPr>
            <a:spLocks noGrp="1"/>
          </p:cNvSpPr>
          <p:nvPr/>
        </p:nvSpPr>
        <p:spPr>
          <a:xfrm>
            <a:off x="8458200" y="2686050"/>
            <a:ext cx="8001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A444002-FFEE-42F0-8715-90603DE08555}"/>
              </a:ext>
            </a:extLst>
          </p:cNvPr>
          <p:cNvSpPr>
            <a:spLocks noGrp="1"/>
          </p:cNvSpPr>
          <p:nvPr/>
        </p:nvSpPr>
        <p:spPr>
          <a:xfrm>
            <a:off x="8039100" y="3105150"/>
            <a:ext cx="1162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ML fit + music-theory metrics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0135C17-60E9-470E-AEE1-9C9D9A4D5C33}"/>
              </a:ext>
            </a:extLst>
          </p:cNvPr>
          <p:cNvSpPr>
            <a:spLocks noGrp="1"/>
          </p:cNvSpPr>
          <p:nvPr/>
        </p:nvSpPr>
        <p:spPr>
          <a:xfrm>
            <a:off x="9334500" y="3028950"/>
            <a:ext cx="38100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C29E86D-B125-4B53-B808-D379F79BA02E}"/>
              </a:ext>
            </a:extLst>
          </p:cNvPr>
          <p:cNvSpPr>
            <a:spLocks noGrp="1"/>
          </p:cNvSpPr>
          <p:nvPr/>
        </p:nvSpPr>
        <p:spPr>
          <a:xfrm>
            <a:off x="9686925" y="297180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996F4F6-D96A-489D-A596-0FE501F17888}"/>
              </a:ext>
            </a:extLst>
          </p:cNvPr>
          <p:cNvSpPr>
            <a:spLocks noGrp="1"/>
          </p:cNvSpPr>
          <p:nvPr/>
        </p:nvSpPr>
        <p:spPr>
          <a:xfrm>
            <a:off x="9715500" y="2457450"/>
            <a:ext cx="142875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6BD68D0-FA9B-4867-996C-89AF25A862DF}"/>
              </a:ext>
            </a:extLst>
          </p:cNvPr>
          <p:cNvSpPr>
            <a:spLocks noGrp="1"/>
          </p:cNvSpPr>
          <p:nvPr/>
        </p:nvSpPr>
        <p:spPr>
          <a:xfrm>
            <a:off x="9715500" y="2457450"/>
            <a:ext cx="1428750" cy="76200"/>
          </a:xfrm>
          <a:prstGeom prst="rect">
            <a:avLst/>
          </a:prstGeom>
          <a:solidFill>
            <a:srgbClr val="1D2424"/>
          </a:solidFill>
          <a:ln w="0">
            <a:solidFill>
              <a:srgbClr val="1D24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253DD29-8C36-41A4-BBDC-50069722B5EE}"/>
              </a:ext>
            </a:extLst>
          </p:cNvPr>
          <p:cNvSpPr>
            <a:spLocks noGrp="1"/>
          </p:cNvSpPr>
          <p:nvPr/>
        </p:nvSpPr>
        <p:spPr>
          <a:xfrm>
            <a:off x="9829800" y="2628900"/>
            <a:ext cx="3238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95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565CD46-EDB9-4538-984D-CEB421FD5070}"/>
              </a:ext>
            </a:extLst>
          </p:cNvPr>
          <p:cNvSpPr>
            <a:spLocks noGrp="1"/>
          </p:cNvSpPr>
          <p:nvPr/>
        </p:nvSpPr>
        <p:spPr>
          <a:xfrm>
            <a:off x="10267950" y="2686050"/>
            <a:ext cx="8001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17A7732-EF89-446C-8340-354C93FE33B3}"/>
              </a:ext>
            </a:extLst>
          </p:cNvPr>
          <p:cNvSpPr>
            <a:spLocks noGrp="1"/>
          </p:cNvSpPr>
          <p:nvPr/>
        </p:nvSpPr>
        <p:spPr>
          <a:xfrm>
            <a:off x="9848850" y="3105150"/>
            <a:ext cx="1162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final MIDI files and limits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B0E8174-209B-4971-851B-86CBCC982286}"/>
              </a:ext>
            </a:extLst>
          </p:cNvPr>
          <p:cNvSpPr>
            <a:spLocks noGrp="1"/>
          </p:cNvSpPr>
          <p:nvPr/>
        </p:nvSpPr>
        <p:spPr>
          <a:xfrm>
            <a:off x="819150" y="4629150"/>
            <a:ext cx="10382250" cy="666750"/>
          </a:xfrm>
          <a:prstGeom prst="rect">
            <a:avLst/>
          </a:prstGeom>
          <a:solidFill>
            <a:srgbClr val="F0E8D9"/>
          </a:solidFill>
          <a:ln w="9525">
            <a:solidFill>
              <a:srgbClr val="D0C5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1671A20B-8503-40FD-9901-A7A7AD92C29D}"/>
              </a:ext>
            </a:extLst>
          </p:cNvPr>
          <p:cNvSpPr>
            <a:spLocks noGrp="1"/>
          </p:cNvSpPr>
          <p:nvPr/>
        </p:nvSpPr>
        <p:spPr>
          <a:xfrm>
            <a:off x="1047750" y="4762500"/>
            <a:ext cx="1238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00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Core thesis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9CECA0C-8132-4D71-AD98-464A57FE2F36}"/>
              </a:ext>
            </a:extLst>
          </p:cNvPr>
          <p:cNvSpPr>
            <a:spLocks noGrp="1"/>
          </p:cNvSpPr>
          <p:nvPr/>
        </p:nvSpPr>
        <p:spPr>
          <a:xfrm>
            <a:off x="2647950" y="4686300"/>
            <a:ext cx="77152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5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For small symbolic music models, decoding and musical constraints matter as much as raw neural likelihood.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3470930-FE40-48DA-868D-5F1A33506597}"/>
              </a:ext>
            </a:extLst>
          </p:cNvPr>
          <p:cNvSpPr>
            <a:spLocks noGrp="1"/>
          </p:cNvSpPr>
          <p:nvPr/>
        </p:nvSpPr>
        <p:spPr>
          <a:xfrm>
            <a:off x="419100" y="6496050"/>
            <a:ext cx="609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7B81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17C"/>
                </a:solidFill>
                <a:latin typeface="Aptos"/>
                <a:ea typeface="Aptos"/>
                <a:cs typeface="Aptos"/>
              </a:rPr>
              <a:t>BachBot | CSE 253 Assignment 2 | 02</a:t>
            </a:r>
          </a:p>
        </p:txBody>
      </p:sp>
    </p:spTree>
    <p:extLst>
      <p:ext uri="{BB962C8B-B14F-4D97-AF65-F5344CB8AC3E}">
        <p14:creationId xmlns:p14="http://schemas.microsoft.com/office/powerpoint/2010/main" val="1997159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64">
            <a:extLst>
              <a:ext uri="{FF2B5EF4-FFF2-40B4-BE49-F238E27FC236}">
                <a16:creationId xmlns:a16="http://schemas.microsoft.com/office/drawing/2014/main" id="{726A7498-EEC3-47CD-9E7D-9E1F685851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0AE4C6A-25DB-46FD-A3D7-83DDD7330CA3}"/>
              </a:ext>
            </a:extLst>
          </p:cNvPr>
          <p:cNvSpPr>
            <a:spLocks noGrp="1"/>
          </p:cNvSpPr>
          <p:nvPr/>
        </p:nvSpPr>
        <p:spPr>
          <a:xfrm>
            <a:off x="419100" y="7048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F5A0176-CC77-42AE-9289-0DAC7B6EA8F9}"/>
              </a:ext>
            </a:extLst>
          </p:cNvPr>
          <p:cNvSpPr>
            <a:spLocks noGrp="1"/>
          </p:cNvSpPr>
          <p:nvPr/>
        </p:nvSpPr>
        <p:spPr>
          <a:xfrm>
            <a:off x="419100" y="8191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F53A97-65C2-4E18-AC02-E4A4FDFD75A0}"/>
              </a:ext>
            </a:extLst>
          </p:cNvPr>
          <p:cNvSpPr>
            <a:spLocks noGrp="1"/>
          </p:cNvSpPr>
          <p:nvPr/>
        </p:nvSpPr>
        <p:spPr>
          <a:xfrm>
            <a:off x="419100" y="9334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C3DE85-D6FC-4D64-8DD6-4B7BC524C964}"/>
              </a:ext>
            </a:extLst>
          </p:cNvPr>
          <p:cNvSpPr>
            <a:spLocks noGrp="1"/>
          </p:cNvSpPr>
          <p:nvPr/>
        </p:nvSpPr>
        <p:spPr>
          <a:xfrm>
            <a:off x="419100" y="10477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DC585E-037F-47DD-A84D-70E8BFD04764}"/>
              </a:ext>
            </a:extLst>
          </p:cNvPr>
          <p:cNvSpPr>
            <a:spLocks noGrp="1"/>
          </p:cNvSpPr>
          <p:nvPr/>
        </p:nvSpPr>
        <p:spPr>
          <a:xfrm>
            <a:off x="419100" y="11620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216763-B5CC-4274-9B42-C4012691836D}"/>
              </a:ext>
            </a:extLst>
          </p:cNvPr>
          <p:cNvSpPr>
            <a:spLocks noGrp="1"/>
          </p:cNvSpPr>
          <p:nvPr/>
        </p:nvSpPr>
        <p:spPr>
          <a:xfrm>
            <a:off x="8458200" y="58102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7AB9FC-7F67-4B39-8C9A-66D781BFCEEC}"/>
              </a:ext>
            </a:extLst>
          </p:cNvPr>
          <p:cNvSpPr>
            <a:spLocks noGrp="1"/>
          </p:cNvSpPr>
          <p:nvPr/>
        </p:nvSpPr>
        <p:spPr>
          <a:xfrm>
            <a:off x="8458200" y="59245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E12B66-CC83-419E-88D9-D5F6D3CFAC49}"/>
              </a:ext>
            </a:extLst>
          </p:cNvPr>
          <p:cNvSpPr>
            <a:spLocks noGrp="1"/>
          </p:cNvSpPr>
          <p:nvPr/>
        </p:nvSpPr>
        <p:spPr>
          <a:xfrm>
            <a:off x="8458200" y="60388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A5E604-3577-434E-ABAC-B2F325763DF7}"/>
              </a:ext>
            </a:extLst>
          </p:cNvPr>
          <p:cNvSpPr>
            <a:spLocks noGrp="1"/>
          </p:cNvSpPr>
          <p:nvPr/>
        </p:nvSpPr>
        <p:spPr>
          <a:xfrm>
            <a:off x="8458200" y="61531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E44596A-6CE1-45EE-A58A-7F1426F49293}"/>
              </a:ext>
            </a:extLst>
          </p:cNvPr>
          <p:cNvSpPr>
            <a:spLocks noGrp="1"/>
          </p:cNvSpPr>
          <p:nvPr/>
        </p:nvSpPr>
        <p:spPr>
          <a:xfrm>
            <a:off x="8458200" y="62674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26CE78-4AEC-4988-BEEE-1A1F32A8FD2B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5EBC7D-7EB1-4918-A433-D0CA3C71F8D9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rPr>
              <a:t>Real Bach chorales become a shared SATB grid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FC6FE0-3932-4910-AE0C-877078070731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Both assignment tasks reuse the same representation and vocabulary.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701B84C-580F-484D-9778-032076084720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180975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4F7567-A10D-447D-85D3-6345B8431ADB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1809750" cy="571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6F72853-8687-40C3-B152-1F7D2EFE41CF}"/>
              </a:ext>
            </a:extLst>
          </p:cNvPr>
          <p:cNvSpPr>
            <a:spLocks noGrp="1"/>
          </p:cNvSpPr>
          <p:nvPr/>
        </p:nvSpPr>
        <p:spPr>
          <a:xfrm>
            <a:off x="685800" y="2228850"/>
            <a:ext cx="15430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Bach corpus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AAEED3-DE47-47E8-B7C4-838DFA64083B}"/>
              </a:ext>
            </a:extLst>
          </p:cNvPr>
          <p:cNvSpPr>
            <a:spLocks noGrp="1"/>
          </p:cNvSpPr>
          <p:nvPr/>
        </p:nvSpPr>
        <p:spPr>
          <a:xfrm>
            <a:off x="685800" y="2505075"/>
            <a:ext cx="15430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371 usable chorales loaded from music21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CF995E-BC5B-497E-934D-E1A37FF644A7}"/>
              </a:ext>
            </a:extLst>
          </p:cNvPr>
          <p:cNvSpPr>
            <a:spLocks noGrp="1"/>
          </p:cNvSpPr>
          <p:nvPr/>
        </p:nvSpPr>
        <p:spPr>
          <a:xfrm>
            <a:off x="2724150" y="2095500"/>
            <a:ext cx="180975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1A8A95F-5EA6-41B9-AABB-6F9B81461A50}"/>
              </a:ext>
            </a:extLst>
          </p:cNvPr>
          <p:cNvSpPr>
            <a:spLocks noGrp="1"/>
          </p:cNvSpPr>
          <p:nvPr/>
        </p:nvSpPr>
        <p:spPr>
          <a:xfrm>
            <a:off x="2724150" y="2095500"/>
            <a:ext cx="1809750" cy="571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6C8D50A-CC78-4F8B-BF6F-2F5E37C90E24}"/>
              </a:ext>
            </a:extLst>
          </p:cNvPr>
          <p:cNvSpPr>
            <a:spLocks noGrp="1"/>
          </p:cNvSpPr>
          <p:nvPr/>
        </p:nvSpPr>
        <p:spPr>
          <a:xfrm>
            <a:off x="2857500" y="2228850"/>
            <a:ext cx="15430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Quantize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E119FF-9397-4A17-8412-F02CE64F26CA}"/>
              </a:ext>
            </a:extLst>
          </p:cNvPr>
          <p:cNvSpPr>
            <a:spLocks noGrp="1"/>
          </p:cNvSpPr>
          <p:nvPr/>
        </p:nvSpPr>
        <p:spPr>
          <a:xfrm>
            <a:off x="2857500" y="2505075"/>
            <a:ext cx="15430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eighth-note grid: 0.5 quarter length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18D56B2-192E-4E7D-8FA4-1747A333868E}"/>
              </a:ext>
            </a:extLst>
          </p:cNvPr>
          <p:cNvSpPr>
            <a:spLocks noGrp="1"/>
          </p:cNvSpPr>
          <p:nvPr/>
        </p:nvSpPr>
        <p:spPr>
          <a:xfrm>
            <a:off x="4895850" y="2095500"/>
            <a:ext cx="180975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AFA94B-D45F-4DCA-BAA0-A7954E2F7737}"/>
              </a:ext>
            </a:extLst>
          </p:cNvPr>
          <p:cNvSpPr>
            <a:spLocks noGrp="1"/>
          </p:cNvSpPr>
          <p:nvPr/>
        </p:nvSpPr>
        <p:spPr>
          <a:xfrm>
            <a:off x="4895850" y="2095500"/>
            <a:ext cx="1809750" cy="571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217CA6-A24D-49DF-9A1B-8422EF18FC32}"/>
              </a:ext>
            </a:extLst>
          </p:cNvPr>
          <p:cNvSpPr>
            <a:spLocks noGrp="1"/>
          </p:cNvSpPr>
          <p:nvPr/>
        </p:nvSpPr>
        <p:spPr>
          <a:xfrm>
            <a:off x="5029200" y="2228850"/>
            <a:ext cx="15430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SATB matrix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B19E995-2424-4BAB-935A-B8F3258F41E9}"/>
              </a:ext>
            </a:extLst>
          </p:cNvPr>
          <p:cNvSpPr>
            <a:spLocks noGrp="1"/>
          </p:cNvSpPr>
          <p:nvPr/>
        </p:nvSpPr>
        <p:spPr>
          <a:xfrm>
            <a:off x="5029200" y="2505075"/>
            <a:ext cx="15430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 x 4 rows: soprano, alto, tenor, bass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95CD3E4-B225-45C5-B42E-542C128290C5}"/>
              </a:ext>
            </a:extLst>
          </p:cNvPr>
          <p:cNvSpPr>
            <a:spLocks noGrp="1"/>
          </p:cNvSpPr>
          <p:nvPr/>
        </p:nvSpPr>
        <p:spPr>
          <a:xfrm>
            <a:off x="7067550" y="2095500"/>
            <a:ext cx="180975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7946C7-BDDE-407E-9B99-866D24FBC50C}"/>
              </a:ext>
            </a:extLst>
          </p:cNvPr>
          <p:cNvSpPr>
            <a:spLocks noGrp="1"/>
          </p:cNvSpPr>
          <p:nvPr/>
        </p:nvSpPr>
        <p:spPr>
          <a:xfrm>
            <a:off x="7067550" y="2095500"/>
            <a:ext cx="1809750" cy="571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CADBC32-191D-4490-BDBB-2BB4B07EE53C}"/>
              </a:ext>
            </a:extLst>
          </p:cNvPr>
          <p:cNvSpPr>
            <a:spLocks noGrp="1"/>
          </p:cNvSpPr>
          <p:nvPr/>
        </p:nvSpPr>
        <p:spPr>
          <a:xfrm>
            <a:off x="7200900" y="2228850"/>
            <a:ext cx="15430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Tokenize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AB60FB2-C9FC-49A2-9496-70F2C4D89E0B}"/>
              </a:ext>
            </a:extLst>
          </p:cNvPr>
          <p:cNvSpPr>
            <a:spLocks noGrp="1"/>
          </p:cNvSpPr>
          <p:nvPr/>
        </p:nvSpPr>
        <p:spPr>
          <a:xfrm>
            <a:off x="7200900" y="2505075"/>
            <a:ext cx="15430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88 MIDI pitch tokens + 5 special symbols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6509390-E890-49C1-BD91-AC8A2D415824}"/>
              </a:ext>
            </a:extLst>
          </p:cNvPr>
          <p:cNvSpPr>
            <a:spLocks noGrp="1"/>
          </p:cNvSpPr>
          <p:nvPr/>
        </p:nvSpPr>
        <p:spPr>
          <a:xfrm>
            <a:off x="9239250" y="2095500"/>
            <a:ext cx="180975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922C178-4265-4065-B7B6-F34A5A7FB2A8}"/>
              </a:ext>
            </a:extLst>
          </p:cNvPr>
          <p:cNvSpPr>
            <a:spLocks noGrp="1"/>
          </p:cNvSpPr>
          <p:nvPr/>
        </p:nvSpPr>
        <p:spPr>
          <a:xfrm>
            <a:off x="9239250" y="2095500"/>
            <a:ext cx="1809750" cy="57150"/>
          </a:xfrm>
          <a:prstGeom prst="rect">
            <a:avLst/>
          </a:prstGeom>
          <a:solidFill>
            <a:srgbClr val="A9584B"/>
          </a:solidFill>
          <a:ln w="0">
            <a:solidFill>
              <a:srgbClr val="A95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1271A0-585C-472B-BC03-65A63F0E71F4}"/>
              </a:ext>
            </a:extLst>
          </p:cNvPr>
          <p:cNvSpPr>
            <a:spLocks noGrp="1"/>
          </p:cNvSpPr>
          <p:nvPr/>
        </p:nvSpPr>
        <p:spPr>
          <a:xfrm>
            <a:off x="9372600" y="2228850"/>
            <a:ext cx="15430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Split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DD74B90-2650-4AB7-B654-FFA4584094CE}"/>
              </a:ext>
            </a:extLst>
          </p:cNvPr>
          <p:cNvSpPr>
            <a:spLocks noGrp="1"/>
          </p:cNvSpPr>
          <p:nvPr/>
        </p:nvSpPr>
        <p:spPr>
          <a:xfrm>
            <a:off x="9372600" y="2505075"/>
            <a:ext cx="154305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train, validation, test; augment train only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3E481AB-5001-42FF-8A86-0E2D257D2A08}"/>
              </a:ext>
            </a:extLst>
          </p:cNvPr>
          <p:cNvSpPr>
            <a:spLocks noGrp="1"/>
          </p:cNvSpPr>
          <p:nvPr/>
        </p:nvSpPr>
        <p:spPr>
          <a:xfrm>
            <a:off x="2362200" y="2647950"/>
            <a:ext cx="36195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075789E-8E11-48FE-9A72-30789A84FA43}"/>
              </a:ext>
            </a:extLst>
          </p:cNvPr>
          <p:cNvSpPr>
            <a:spLocks noGrp="1"/>
          </p:cNvSpPr>
          <p:nvPr/>
        </p:nvSpPr>
        <p:spPr>
          <a:xfrm>
            <a:off x="2695575" y="259080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08AE91-D66B-461B-BF4C-67F239FF6E1F}"/>
              </a:ext>
            </a:extLst>
          </p:cNvPr>
          <p:cNvSpPr>
            <a:spLocks noGrp="1"/>
          </p:cNvSpPr>
          <p:nvPr/>
        </p:nvSpPr>
        <p:spPr>
          <a:xfrm>
            <a:off x="4533900" y="2647950"/>
            <a:ext cx="36195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99D5BAE-8A0C-4273-AB34-6BBD9CC5C867}"/>
              </a:ext>
            </a:extLst>
          </p:cNvPr>
          <p:cNvSpPr>
            <a:spLocks noGrp="1"/>
          </p:cNvSpPr>
          <p:nvPr/>
        </p:nvSpPr>
        <p:spPr>
          <a:xfrm>
            <a:off x="4867275" y="259080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12801CE-2D93-4407-A31E-1BBC28721278}"/>
              </a:ext>
            </a:extLst>
          </p:cNvPr>
          <p:cNvSpPr>
            <a:spLocks noGrp="1"/>
          </p:cNvSpPr>
          <p:nvPr/>
        </p:nvSpPr>
        <p:spPr>
          <a:xfrm>
            <a:off x="6705600" y="2647950"/>
            <a:ext cx="36195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69D834C-C5E9-4FA9-B48F-78E8C8678498}"/>
              </a:ext>
            </a:extLst>
          </p:cNvPr>
          <p:cNvSpPr>
            <a:spLocks noGrp="1"/>
          </p:cNvSpPr>
          <p:nvPr/>
        </p:nvSpPr>
        <p:spPr>
          <a:xfrm>
            <a:off x="7038975" y="259080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E29F44-C791-4581-BD6B-DEE5EA06C16A}"/>
              </a:ext>
            </a:extLst>
          </p:cNvPr>
          <p:cNvSpPr>
            <a:spLocks noGrp="1"/>
          </p:cNvSpPr>
          <p:nvPr/>
        </p:nvSpPr>
        <p:spPr>
          <a:xfrm>
            <a:off x="8877300" y="2647950"/>
            <a:ext cx="36195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71930B9-E391-48DD-B362-1FF9B0E3EE4C}"/>
              </a:ext>
            </a:extLst>
          </p:cNvPr>
          <p:cNvSpPr>
            <a:spLocks noGrp="1"/>
          </p:cNvSpPr>
          <p:nvPr/>
        </p:nvSpPr>
        <p:spPr>
          <a:xfrm>
            <a:off x="9210675" y="259080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48738A-1D26-4D3F-BFB9-03124B8F5ED4}"/>
              </a:ext>
            </a:extLst>
          </p:cNvPr>
          <p:cNvSpPr>
            <a:spLocks noGrp="1"/>
          </p:cNvSpPr>
          <p:nvPr/>
        </p:nvSpPr>
        <p:spPr>
          <a:xfrm>
            <a:off x="914400" y="4191000"/>
            <a:ext cx="2381250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087A5C-87C1-461D-9423-0F4DD192F294}"/>
              </a:ext>
            </a:extLst>
          </p:cNvPr>
          <p:cNvSpPr>
            <a:spLocks noGrp="1"/>
          </p:cNvSpPr>
          <p:nvPr/>
        </p:nvSpPr>
        <p:spPr>
          <a:xfrm>
            <a:off x="914400" y="4191000"/>
            <a:ext cx="76200" cy="10096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F72374A-C22E-4286-B76C-5347323D0068}"/>
              </a:ext>
            </a:extLst>
          </p:cNvPr>
          <p:cNvSpPr>
            <a:spLocks noGrp="1"/>
          </p:cNvSpPr>
          <p:nvPr/>
        </p:nvSpPr>
        <p:spPr>
          <a:xfrm>
            <a:off x="1085850" y="4286250"/>
            <a:ext cx="2095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21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260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AFC44C4-0988-42C9-A864-46C2680BB730}"/>
              </a:ext>
            </a:extLst>
          </p:cNvPr>
          <p:cNvSpPr>
            <a:spLocks noGrp="1"/>
          </p:cNvSpPr>
          <p:nvPr/>
        </p:nvSpPr>
        <p:spPr>
          <a:xfrm>
            <a:off x="1085850" y="463867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original train chorales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F6E2DE-C9F5-4550-9C69-A860B2F90DF6}"/>
              </a:ext>
            </a:extLst>
          </p:cNvPr>
          <p:cNvSpPr>
            <a:spLocks noGrp="1"/>
          </p:cNvSpPr>
          <p:nvPr/>
        </p:nvSpPr>
        <p:spPr>
          <a:xfrm>
            <a:off x="1085850" y="4876800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825" b="0">
                <a:solidFill>
                  <a:srgbClr val="777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7736A"/>
                </a:solidFill>
                <a:latin typeface="Aptos"/>
                <a:ea typeface="Aptos"/>
                <a:cs typeface="Aptos"/>
              </a:rPr>
              <a:t>before augmentation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2B4602F-8CFE-44D0-BC6B-45D56314E383}"/>
              </a:ext>
            </a:extLst>
          </p:cNvPr>
          <p:cNvSpPr>
            <a:spLocks noGrp="1"/>
          </p:cNvSpPr>
          <p:nvPr/>
        </p:nvSpPr>
        <p:spPr>
          <a:xfrm>
            <a:off x="3676650" y="4191000"/>
            <a:ext cx="2381250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0681AED-5A5A-4E67-92CD-5D7AFE7D2645}"/>
              </a:ext>
            </a:extLst>
          </p:cNvPr>
          <p:cNvSpPr>
            <a:spLocks noGrp="1"/>
          </p:cNvSpPr>
          <p:nvPr/>
        </p:nvSpPr>
        <p:spPr>
          <a:xfrm>
            <a:off x="3676650" y="4191000"/>
            <a:ext cx="76200" cy="10096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1C19643-BCF6-447C-881A-7113703E13A5}"/>
              </a:ext>
            </a:extLst>
          </p:cNvPr>
          <p:cNvSpPr>
            <a:spLocks noGrp="1"/>
          </p:cNvSpPr>
          <p:nvPr/>
        </p:nvSpPr>
        <p:spPr>
          <a:xfrm>
            <a:off x="3848100" y="4286250"/>
            <a:ext cx="2095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21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56 / 55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D22BAEE2-7AF0-4A5A-B855-9E227D100BA8}"/>
              </a:ext>
            </a:extLst>
          </p:cNvPr>
          <p:cNvSpPr>
            <a:spLocks noGrp="1"/>
          </p:cNvSpPr>
          <p:nvPr/>
        </p:nvSpPr>
        <p:spPr>
          <a:xfrm>
            <a:off x="3848100" y="463867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validation / test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0A770DC-F201-48CB-8CDC-D17A1EF16142}"/>
              </a:ext>
            </a:extLst>
          </p:cNvPr>
          <p:cNvSpPr>
            <a:spLocks noGrp="1"/>
          </p:cNvSpPr>
          <p:nvPr/>
        </p:nvSpPr>
        <p:spPr>
          <a:xfrm>
            <a:off x="3848100" y="4876800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825" b="0">
                <a:solidFill>
                  <a:srgbClr val="777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7736A"/>
                </a:solidFill>
                <a:latin typeface="Aptos"/>
                <a:ea typeface="Aptos"/>
                <a:cs typeface="Aptos"/>
              </a:rPr>
              <a:t>not augmented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7AD9863-39F7-4989-BB44-979A53350F41}"/>
              </a:ext>
            </a:extLst>
          </p:cNvPr>
          <p:cNvSpPr>
            <a:spLocks noGrp="1"/>
          </p:cNvSpPr>
          <p:nvPr/>
        </p:nvSpPr>
        <p:spPr>
          <a:xfrm>
            <a:off x="6438900" y="4191000"/>
            <a:ext cx="2381250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72320BB-C9FD-4D1E-B4AD-AB7350D50758}"/>
              </a:ext>
            </a:extLst>
          </p:cNvPr>
          <p:cNvSpPr>
            <a:spLocks noGrp="1"/>
          </p:cNvSpPr>
          <p:nvPr/>
        </p:nvSpPr>
        <p:spPr>
          <a:xfrm>
            <a:off x="6438900" y="4191000"/>
            <a:ext cx="76200" cy="10096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6098400-45CC-47BD-978B-AB756F13B3AE}"/>
              </a:ext>
            </a:extLst>
          </p:cNvPr>
          <p:cNvSpPr>
            <a:spLocks noGrp="1"/>
          </p:cNvSpPr>
          <p:nvPr/>
        </p:nvSpPr>
        <p:spPr>
          <a:xfrm>
            <a:off x="6610350" y="4286250"/>
            <a:ext cx="2095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21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93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EDCD94E-42F6-4EA4-BEB8-BBF07464E1E1}"/>
              </a:ext>
            </a:extLst>
          </p:cNvPr>
          <p:cNvSpPr>
            <a:spLocks noGrp="1"/>
          </p:cNvSpPr>
          <p:nvPr/>
        </p:nvSpPr>
        <p:spPr>
          <a:xfrm>
            <a:off x="6610350" y="4638675"/>
            <a:ext cx="2095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vocabulary size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330F9F0-FBC8-4E02-9A3B-2DAC2A654E7B}"/>
              </a:ext>
            </a:extLst>
          </p:cNvPr>
          <p:cNvSpPr>
            <a:spLocks noGrp="1"/>
          </p:cNvSpPr>
          <p:nvPr/>
        </p:nvSpPr>
        <p:spPr>
          <a:xfrm>
            <a:off x="6610350" y="4876800"/>
            <a:ext cx="20955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825" b="0">
                <a:solidFill>
                  <a:srgbClr val="777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7736A"/>
                </a:solidFill>
                <a:latin typeface="Aptos"/>
                <a:ea typeface="Aptos"/>
                <a:cs typeface="Aptos"/>
              </a:rPr>
              <a:t>pitches + special tokens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4DD4577-58FD-4022-A062-00932060742C}"/>
              </a:ext>
            </a:extLst>
          </p:cNvPr>
          <p:cNvSpPr>
            <a:spLocks noGrp="1"/>
          </p:cNvSpPr>
          <p:nvPr/>
        </p:nvSpPr>
        <p:spPr>
          <a:xfrm>
            <a:off x="9201150" y="4191000"/>
            <a:ext cx="2095500" cy="10096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0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4A5E8A8-DF87-4D51-9704-A40880014241}"/>
              </a:ext>
            </a:extLst>
          </p:cNvPr>
          <p:cNvSpPr>
            <a:spLocks noGrp="1"/>
          </p:cNvSpPr>
          <p:nvPr/>
        </p:nvSpPr>
        <p:spPr>
          <a:xfrm>
            <a:off x="9201150" y="4191000"/>
            <a:ext cx="76200" cy="10096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E86E8AE-A78C-49BD-A44B-55273D610533}"/>
              </a:ext>
            </a:extLst>
          </p:cNvPr>
          <p:cNvSpPr>
            <a:spLocks noGrp="1"/>
          </p:cNvSpPr>
          <p:nvPr/>
        </p:nvSpPr>
        <p:spPr>
          <a:xfrm>
            <a:off x="9372600" y="4286250"/>
            <a:ext cx="1809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21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0.5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7E8A510-3B7D-47AA-8226-988C80C4ED13}"/>
              </a:ext>
            </a:extLst>
          </p:cNvPr>
          <p:cNvSpPr>
            <a:spLocks noGrp="1"/>
          </p:cNvSpPr>
          <p:nvPr/>
        </p:nvSpPr>
        <p:spPr>
          <a:xfrm>
            <a:off x="9372600" y="4638675"/>
            <a:ext cx="1809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quarter-length grid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5CE2A84-F09B-4459-8BDC-68F0792A0CB6}"/>
              </a:ext>
            </a:extLst>
          </p:cNvPr>
          <p:cNvSpPr>
            <a:spLocks noGrp="1"/>
          </p:cNvSpPr>
          <p:nvPr/>
        </p:nvSpPr>
        <p:spPr>
          <a:xfrm>
            <a:off x="9372600" y="4876800"/>
            <a:ext cx="1809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825" b="0">
                <a:solidFill>
                  <a:srgbClr val="77736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77736A"/>
                </a:solidFill>
                <a:latin typeface="Aptos"/>
                <a:ea typeface="Aptos"/>
                <a:cs typeface="Aptos"/>
              </a:rPr>
              <a:t>eighth-note resolution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7FB125E0-F96B-490F-9C4D-6ABB01AC4A5F}"/>
              </a:ext>
            </a:extLst>
          </p:cNvPr>
          <p:cNvSpPr>
            <a:spLocks noGrp="1"/>
          </p:cNvSpPr>
          <p:nvPr/>
        </p:nvSpPr>
        <p:spPr>
          <a:xfrm>
            <a:off x="2686050" y="5619750"/>
            <a:ext cx="6800850" cy="381000"/>
          </a:xfrm>
          <a:prstGeom prst="rect">
            <a:avLst/>
          </a:prstGeom>
          <a:solidFill>
            <a:srgbClr val="EEE8DA"/>
          </a:solidFill>
          <a:ln w="9525">
            <a:solidFill>
              <a:srgbClr val="D7CEBC"/>
            </a:solidFill>
            <a:prstDash val="solid"/>
          </a:ln>
        </p:spPr>
        <p:txBody>
          <a:bodyPr lIns="95250" tIns="57150" rIns="95250" bIns="57150" anchor="t"/>
          <a:lstStyle/>
          <a:p>
            <a:pPr algn="l">
              <a:defRPr sz="1125" b="0">
                <a:solidFill>
                  <a:srgbClr val="1D2424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D2424"/>
                </a:solidFill>
                <a:latin typeface="Aptos Mono"/>
                <a:ea typeface="Aptos Mono"/>
                <a:cs typeface="Aptos Mono"/>
              </a:rPr>
              <a:t>shape: time x [soprano, alto, tenor, bass]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1AAA0B1-6C14-4423-9EB8-4CE5E391710D}"/>
              </a:ext>
            </a:extLst>
          </p:cNvPr>
          <p:cNvSpPr>
            <a:spLocks noGrp="1"/>
          </p:cNvSpPr>
          <p:nvPr/>
        </p:nvSpPr>
        <p:spPr>
          <a:xfrm>
            <a:off x="419100" y="6496050"/>
            <a:ext cx="609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7B81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17C"/>
                </a:solidFill>
                <a:latin typeface="Aptos"/>
                <a:ea typeface="Aptos"/>
                <a:cs typeface="Aptos"/>
              </a:rPr>
              <a:t>BachBot | CSE 253 Assignment 2 | 03</a:t>
            </a:r>
          </a:p>
        </p:txBody>
      </p:sp>
    </p:spTree>
    <p:extLst>
      <p:ext uri="{BB962C8B-B14F-4D97-AF65-F5344CB8AC3E}">
        <p14:creationId xmlns:p14="http://schemas.microsoft.com/office/powerpoint/2010/main" val="4243679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FBC5630-3CBA-4F4A-A0C8-BB6306A338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D39260-FF29-4F8A-907A-99DEFBF7C885}"/>
              </a:ext>
            </a:extLst>
          </p:cNvPr>
          <p:cNvSpPr>
            <a:spLocks noGrp="1"/>
          </p:cNvSpPr>
          <p:nvPr/>
        </p:nvSpPr>
        <p:spPr>
          <a:xfrm>
            <a:off x="419100" y="7048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FAC58C-7DD1-4836-9721-DFAFB3CBC4A9}"/>
              </a:ext>
            </a:extLst>
          </p:cNvPr>
          <p:cNvSpPr>
            <a:spLocks noGrp="1"/>
          </p:cNvSpPr>
          <p:nvPr/>
        </p:nvSpPr>
        <p:spPr>
          <a:xfrm>
            <a:off x="419100" y="8191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1F0945-CEEF-4D72-B45E-9305DF93A15C}"/>
              </a:ext>
            </a:extLst>
          </p:cNvPr>
          <p:cNvSpPr>
            <a:spLocks noGrp="1"/>
          </p:cNvSpPr>
          <p:nvPr/>
        </p:nvSpPr>
        <p:spPr>
          <a:xfrm>
            <a:off x="419100" y="9334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BF5FA-2FEF-46C2-9A7F-7D24CD5280E7}"/>
              </a:ext>
            </a:extLst>
          </p:cNvPr>
          <p:cNvSpPr>
            <a:spLocks noGrp="1"/>
          </p:cNvSpPr>
          <p:nvPr/>
        </p:nvSpPr>
        <p:spPr>
          <a:xfrm>
            <a:off x="419100" y="10477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D4B759-20E4-4DBF-8A2F-B412F7827FAC}"/>
              </a:ext>
            </a:extLst>
          </p:cNvPr>
          <p:cNvSpPr>
            <a:spLocks noGrp="1"/>
          </p:cNvSpPr>
          <p:nvPr/>
        </p:nvSpPr>
        <p:spPr>
          <a:xfrm>
            <a:off x="419100" y="11620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818D12-D145-4DB5-BAF3-D9DFAF20A921}"/>
              </a:ext>
            </a:extLst>
          </p:cNvPr>
          <p:cNvSpPr>
            <a:spLocks noGrp="1"/>
          </p:cNvSpPr>
          <p:nvPr/>
        </p:nvSpPr>
        <p:spPr>
          <a:xfrm>
            <a:off x="8458200" y="58102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05D7B4-F39F-441A-80D9-DEA87134DECB}"/>
              </a:ext>
            </a:extLst>
          </p:cNvPr>
          <p:cNvSpPr>
            <a:spLocks noGrp="1"/>
          </p:cNvSpPr>
          <p:nvPr/>
        </p:nvSpPr>
        <p:spPr>
          <a:xfrm>
            <a:off x="8458200" y="59245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70843E-22F6-4E06-A356-E6B6A243E731}"/>
              </a:ext>
            </a:extLst>
          </p:cNvPr>
          <p:cNvSpPr>
            <a:spLocks noGrp="1"/>
          </p:cNvSpPr>
          <p:nvPr/>
        </p:nvSpPr>
        <p:spPr>
          <a:xfrm>
            <a:off x="8458200" y="60388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BAF317-24FD-4035-96DE-163D5512DE01}"/>
              </a:ext>
            </a:extLst>
          </p:cNvPr>
          <p:cNvSpPr>
            <a:spLocks noGrp="1"/>
          </p:cNvSpPr>
          <p:nvPr/>
        </p:nvSpPr>
        <p:spPr>
          <a:xfrm>
            <a:off x="8458200" y="61531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0377C-7571-4AAC-A6AD-5FDC6BAEBF14}"/>
              </a:ext>
            </a:extLst>
          </p:cNvPr>
          <p:cNvSpPr>
            <a:spLocks noGrp="1"/>
          </p:cNvSpPr>
          <p:nvPr/>
        </p:nvSpPr>
        <p:spPr>
          <a:xfrm>
            <a:off x="8458200" y="62674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0587C0-AC86-49BF-B581-AA3D05890D1F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EDA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8834E0-890E-483C-8F43-32531E602C6C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rPr>
              <a:t>The plots check that the symbolic representation is usable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B11984F-A6CF-465D-AB68-87D75290292C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They also motivate the music-theory metrics used after generation.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C5787D-DA1F-4780-B3BE-36D1EA1A3EA6}"/>
              </a:ext>
            </a:extLst>
          </p:cNvPr>
          <p:cNvSpPr>
            <a:spLocks noGrp="1"/>
          </p:cNvSpPr>
          <p:nvPr/>
        </p:nvSpPr>
        <p:spPr>
          <a:xfrm>
            <a:off x="495300" y="1962150"/>
            <a:ext cx="3448050" cy="2752725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2450" y="2281238"/>
            <a:ext cx="3333750" cy="1905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F872D42-0A3A-4C32-8078-0AB5C996EE47}"/>
              </a:ext>
            </a:extLst>
          </p:cNvPr>
          <p:cNvSpPr>
            <a:spLocks noGrp="1"/>
          </p:cNvSpPr>
          <p:nvPr/>
        </p:nvSpPr>
        <p:spPr>
          <a:xfrm>
            <a:off x="533400" y="4495800"/>
            <a:ext cx="3371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00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Sequence lengths: compact enough for fixed-length batching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834B7BA-22D4-48F5-B180-BEF2711DEB8A}"/>
              </a:ext>
            </a:extLst>
          </p:cNvPr>
          <p:cNvSpPr>
            <a:spLocks noGrp="1"/>
          </p:cNvSpPr>
          <p:nvPr/>
        </p:nvSpPr>
        <p:spPr>
          <a:xfrm>
            <a:off x="4371975" y="1962150"/>
            <a:ext cx="3448050" cy="2752725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429125" y="2296120"/>
            <a:ext cx="3333750" cy="1875234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9B0BF1B7-25BA-4C6B-B69C-A099B33AD2A5}"/>
              </a:ext>
            </a:extLst>
          </p:cNvPr>
          <p:cNvSpPr>
            <a:spLocks noGrp="1"/>
          </p:cNvSpPr>
          <p:nvPr/>
        </p:nvSpPr>
        <p:spPr>
          <a:xfrm>
            <a:off x="4410075" y="4495800"/>
            <a:ext cx="3371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00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Voice ranges: soprano/alto/tenor/bass stay interpretable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6E9211A-F8E0-48F3-8CB2-62E8FA050F02}"/>
              </a:ext>
            </a:extLst>
          </p:cNvPr>
          <p:cNvSpPr>
            <a:spLocks noGrp="1"/>
          </p:cNvSpPr>
          <p:nvPr/>
        </p:nvSpPr>
        <p:spPr>
          <a:xfrm>
            <a:off x="8248650" y="1962150"/>
            <a:ext cx="3448050" cy="2752725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305800" y="2281238"/>
            <a:ext cx="3333750" cy="19050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96DBBC18-D131-47F2-A67F-4DD215AB71F8}"/>
              </a:ext>
            </a:extLst>
          </p:cNvPr>
          <p:cNvSpPr>
            <a:spLocks noGrp="1"/>
          </p:cNvSpPr>
          <p:nvPr/>
        </p:nvSpPr>
        <p:spPr>
          <a:xfrm>
            <a:off x="8286750" y="4495800"/>
            <a:ext cx="3371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00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Pitch-class histogram: reference style distribution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7E4769-F2E4-451F-A17A-228C8748664B}"/>
              </a:ext>
            </a:extLst>
          </p:cNvPr>
          <p:cNvSpPr>
            <a:spLocks noGrp="1"/>
          </p:cNvSpPr>
          <p:nvPr/>
        </p:nvSpPr>
        <p:spPr>
          <a:xfrm>
            <a:off x="1428750" y="530542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B970B6F-13CA-4EA2-921D-E0786C3B50A9}"/>
              </a:ext>
            </a:extLst>
          </p:cNvPr>
          <p:cNvSpPr>
            <a:spLocks noGrp="1"/>
          </p:cNvSpPr>
          <p:nvPr/>
        </p:nvSpPr>
        <p:spPr>
          <a:xfrm>
            <a:off x="1600200" y="5219700"/>
            <a:ext cx="91630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0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D2424"/>
                </a:solidFill>
                <a:latin typeface="Aptos"/>
                <a:ea typeface="Aptos"/>
                <a:cs typeface="Aptos"/>
              </a:rPr>
              <a:t>Fixed eighth-note grid keeps training simple while preserving useful rhythmic detail.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37F9C0-A62C-4371-B4BC-1C0473134DCF}"/>
              </a:ext>
            </a:extLst>
          </p:cNvPr>
          <p:cNvSpPr>
            <a:spLocks noGrp="1"/>
          </p:cNvSpPr>
          <p:nvPr/>
        </p:nvSpPr>
        <p:spPr>
          <a:xfrm>
            <a:off x="1428750" y="5629275"/>
            <a:ext cx="66675" cy="66675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9A50180-BAD0-4E02-B848-12CE2E99CD65}"/>
              </a:ext>
            </a:extLst>
          </p:cNvPr>
          <p:cNvSpPr>
            <a:spLocks noGrp="1"/>
          </p:cNvSpPr>
          <p:nvPr/>
        </p:nvSpPr>
        <p:spPr>
          <a:xfrm>
            <a:off x="1600200" y="5543550"/>
            <a:ext cx="91630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0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D2424"/>
                </a:solidFill>
                <a:latin typeface="Aptos"/>
                <a:ea typeface="Aptos"/>
                <a:cs typeface="Aptos"/>
              </a:rPr>
              <a:t>SATB range checks become direct generation-quality tests.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164B55D-6BD4-48C6-957B-B41EFE00781A}"/>
              </a:ext>
            </a:extLst>
          </p:cNvPr>
          <p:cNvSpPr>
            <a:spLocks noGrp="1"/>
          </p:cNvSpPr>
          <p:nvPr/>
        </p:nvSpPr>
        <p:spPr>
          <a:xfrm>
            <a:off x="1428750" y="5953125"/>
            <a:ext cx="66675" cy="66675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8B2CF92-4C5D-4EBB-9D7E-FCCB98E40A14}"/>
              </a:ext>
            </a:extLst>
          </p:cNvPr>
          <p:cNvSpPr>
            <a:spLocks noGrp="1"/>
          </p:cNvSpPr>
          <p:nvPr/>
        </p:nvSpPr>
        <p:spPr>
          <a:xfrm>
            <a:off x="1600200" y="5867400"/>
            <a:ext cx="91630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0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D2424"/>
                </a:solidFill>
                <a:latin typeface="Aptos"/>
                <a:ea typeface="Aptos"/>
                <a:cs typeface="Aptos"/>
              </a:rPr>
              <a:t>Pitch-class distance flags samples that drift away from the Bach corpus.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25D0E08-12EA-4B52-9385-46B681E08838}"/>
              </a:ext>
            </a:extLst>
          </p:cNvPr>
          <p:cNvSpPr>
            <a:spLocks noGrp="1"/>
          </p:cNvSpPr>
          <p:nvPr/>
        </p:nvSpPr>
        <p:spPr>
          <a:xfrm>
            <a:off x="419100" y="6496050"/>
            <a:ext cx="609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7B81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17C"/>
                </a:solidFill>
                <a:latin typeface="Aptos"/>
                <a:ea typeface="Aptos"/>
                <a:cs typeface="Aptos"/>
              </a:rPr>
              <a:t>BachBot | CSE 253 Assignment 2 | 04</a:t>
            </a:r>
          </a:p>
        </p:txBody>
      </p:sp>
    </p:spTree>
    <p:extLst>
      <p:ext uri="{BB962C8B-B14F-4D97-AF65-F5344CB8AC3E}">
        <p14:creationId xmlns:p14="http://schemas.microsoft.com/office/powerpoint/2010/main" val="277141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787B9B92-9FF2-4E7D-8EEC-20576854EE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464362-02FA-4BB1-B26A-1791C48C2250}"/>
              </a:ext>
            </a:extLst>
          </p:cNvPr>
          <p:cNvSpPr>
            <a:spLocks noGrp="1"/>
          </p:cNvSpPr>
          <p:nvPr/>
        </p:nvSpPr>
        <p:spPr>
          <a:xfrm>
            <a:off x="419100" y="7048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93E3DD-9443-477B-B85A-0D15BF5853C0}"/>
              </a:ext>
            </a:extLst>
          </p:cNvPr>
          <p:cNvSpPr>
            <a:spLocks noGrp="1"/>
          </p:cNvSpPr>
          <p:nvPr/>
        </p:nvSpPr>
        <p:spPr>
          <a:xfrm>
            <a:off x="419100" y="8191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F1CE23-F6CB-4262-8DDC-4A560B6E6780}"/>
              </a:ext>
            </a:extLst>
          </p:cNvPr>
          <p:cNvSpPr>
            <a:spLocks noGrp="1"/>
          </p:cNvSpPr>
          <p:nvPr/>
        </p:nvSpPr>
        <p:spPr>
          <a:xfrm>
            <a:off x="419100" y="9334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1D3258-A281-41CF-8899-AF0D7E13A324}"/>
              </a:ext>
            </a:extLst>
          </p:cNvPr>
          <p:cNvSpPr>
            <a:spLocks noGrp="1"/>
          </p:cNvSpPr>
          <p:nvPr/>
        </p:nvSpPr>
        <p:spPr>
          <a:xfrm>
            <a:off x="419100" y="10477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1839CC-D7C8-4C39-8DE6-79648218C4B6}"/>
              </a:ext>
            </a:extLst>
          </p:cNvPr>
          <p:cNvSpPr>
            <a:spLocks noGrp="1"/>
          </p:cNvSpPr>
          <p:nvPr/>
        </p:nvSpPr>
        <p:spPr>
          <a:xfrm>
            <a:off x="419100" y="11620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6AA5A33-72E6-43F6-BD0E-FF82301A14AC}"/>
              </a:ext>
            </a:extLst>
          </p:cNvPr>
          <p:cNvSpPr>
            <a:spLocks noGrp="1"/>
          </p:cNvSpPr>
          <p:nvPr/>
        </p:nvSpPr>
        <p:spPr>
          <a:xfrm>
            <a:off x="8458200" y="58102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D12BF1-3C7C-4EE1-AD9A-C104F845CD08}"/>
              </a:ext>
            </a:extLst>
          </p:cNvPr>
          <p:cNvSpPr>
            <a:spLocks noGrp="1"/>
          </p:cNvSpPr>
          <p:nvPr/>
        </p:nvSpPr>
        <p:spPr>
          <a:xfrm>
            <a:off x="8458200" y="59245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E724FC-F313-4181-A154-A0D43DBFB82A}"/>
              </a:ext>
            </a:extLst>
          </p:cNvPr>
          <p:cNvSpPr>
            <a:spLocks noGrp="1"/>
          </p:cNvSpPr>
          <p:nvPr/>
        </p:nvSpPr>
        <p:spPr>
          <a:xfrm>
            <a:off x="8458200" y="60388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59C7F6-656B-4255-82C3-26291BAA4691}"/>
              </a:ext>
            </a:extLst>
          </p:cNvPr>
          <p:cNvSpPr>
            <a:spLocks noGrp="1"/>
          </p:cNvSpPr>
          <p:nvPr/>
        </p:nvSpPr>
        <p:spPr>
          <a:xfrm>
            <a:off x="8458200" y="61531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70BF15-7224-4D65-9DF3-65C595C6A037}"/>
              </a:ext>
            </a:extLst>
          </p:cNvPr>
          <p:cNvSpPr>
            <a:spLocks noGrp="1"/>
          </p:cNvSpPr>
          <p:nvPr/>
        </p:nvSpPr>
        <p:spPr>
          <a:xfrm>
            <a:off x="8458200" y="62674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4DE82-D695-4207-82ED-7205E4E16988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81A1D7-497E-4D10-BAE9-6A9E573F2B56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rPr>
              <a:t>Generate all four voices from scratch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4FFAA1-BB45-426E-99E4-A9BA1939D0ED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The upgraded path uses a neural model to propose candidates and symbolic rules to choose.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9B3C7B-00B7-4CB5-B1B3-F126EFA0AE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447675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48F3FA-DFDA-4E29-AE9E-0E9ABA2CC8F0}"/>
              </a:ext>
            </a:extLst>
          </p:cNvPr>
          <p:cNvSpPr>
            <a:spLocks noGrp="1"/>
          </p:cNvSpPr>
          <p:nvPr/>
        </p:nvSpPr>
        <p:spPr>
          <a:xfrm>
            <a:off x="7029450" y="2057400"/>
            <a:ext cx="447675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0833567-BEE4-4A4A-B265-A441628AF75B}"/>
              </a:ext>
            </a:extLst>
          </p:cNvPr>
          <p:cNvSpPr>
            <a:spLocks noGrp="1"/>
          </p:cNvSpPr>
          <p:nvPr/>
        </p:nvSpPr>
        <p:spPr>
          <a:xfrm>
            <a:off x="914400" y="2266950"/>
            <a:ext cx="3714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8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800" b="1" dirty="0">
                <a:solidFill>
                  <a:srgbClr val="1D2424"/>
                </a:solidFill>
                <a:latin typeface="Aptos"/>
                <a:ea typeface="Aptos"/>
                <a:cs typeface="Aptos"/>
              </a:rPr>
              <a:t>Baseline: Markov SATB tuples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882423-08F8-4E3D-9657-9E86C735BA04}"/>
              </a:ext>
            </a:extLst>
          </p:cNvPr>
          <p:cNvSpPr>
            <a:spLocks noGrp="1"/>
          </p:cNvSpPr>
          <p:nvPr/>
        </p:nvSpPr>
        <p:spPr>
          <a:xfrm>
            <a:off x="990600" y="28860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3952BF-2F1A-4AC5-BD01-EEA6F5D45BA9}"/>
              </a:ext>
            </a:extLst>
          </p:cNvPr>
          <p:cNvSpPr>
            <a:spLocks noGrp="1"/>
          </p:cNvSpPr>
          <p:nvPr/>
        </p:nvSpPr>
        <p:spPr>
          <a:xfrm>
            <a:off x="1162050" y="2800350"/>
            <a:ext cx="3429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state = full SATB tuple at time 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C2D701-D14F-45BB-ADDD-DFFA90859D46}"/>
              </a:ext>
            </a:extLst>
          </p:cNvPr>
          <p:cNvSpPr>
            <a:spLocks noGrp="1"/>
          </p:cNvSpPr>
          <p:nvPr/>
        </p:nvSpPr>
        <p:spPr>
          <a:xfrm>
            <a:off x="990600" y="33432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5E247C8-4A80-4F47-84DD-127FD433AED5}"/>
              </a:ext>
            </a:extLst>
          </p:cNvPr>
          <p:cNvSpPr>
            <a:spLocks noGrp="1"/>
          </p:cNvSpPr>
          <p:nvPr/>
        </p:nvSpPr>
        <p:spPr>
          <a:xfrm>
            <a:off x="1162050" y="3257550"/>
            <a:ext cx="3429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counts transitions from tuple t to tuple t+1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CA0FCD-B750-454B-801F-0C0F20A28762}"/>
              </a:ext>
            </a:extLst>
          </p:cNvPr>
          <p:cNvSpPr>
            <a:spLocks noGrp="1"/>
          </p:cNvSpPr>
          <p:nvPr/>
        </p:nvSpPr>
        <p:spPr>
          <a:xfrm>
            <a:off x="990600" y="38004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EEB3848-B238-42E5-A6A3-F516403E8EB3}"/>
              </a:ext>
            </a:extLst>
          </p:cNvPr>
          <p:cNvSpPr>
            <a:spLocks noGrp="1"/>
          </p:cNvSpPr>
          <p:nvPr/>
        </p:nvSpPr>
        <p:spPr>
          <a:xfrm>
            <a:off x="1162050" y="3714750"/>
            <a:ext cx="3429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transparent, but only one-step memory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AD589ED-AD13-4E93-9463-0E9464BFCCF9}"/>
              </a:ext>
            </a:extLst>
          </p:cNvPr>
          <p:cNvSpPr>
            <a:spLocks noGrp="1"/>
          </p:cNvSpPr>
          <p:nvPr/>
        </p:nvSpPr>
        <p:spPr>
          <a:xfrm>
            <a:off x="7258050" y="2266950"/>
            <a:ext cx="37147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8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Model: four-head GRU LM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6A74A82-4119-4DB9-AAE9-690EB27B3B39}"/>
              </a:ext>
            </a:extLst>
          </p:cNvPr>
          <p:cNvSpPr>
            <a:spLocks noGrp="1"/>
          </p:cNvSpPr>
          <p:nvPr/>
        </p:nvSpPr>
        <p:spPr>
          <a:xfrm>
            <a:off x="7334250" y="28860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53DEF76-E4A1-4B81-A428-F10DD9BB2D81}"/>
              </a:ext>
            </a:extLst>
          </p:cNvPr>
          <p:cNvSpPr>
            <a:spLocks noGrp="1"/>
          </p:cNvSpPr>
          <p:nvPr/>
        </p:nvSpPr>
        <p:spPr>
          <a:xfrm>
            <a:off x="7505700" y="2800350"/>
            <a:ext cx="3448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embed four voice tokens separately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BC2BAD-E377-4F4F-B1B5-C7591876B39B}"/>
              </a:ext>
            </a:extLst>
          </p:cNvPr>
          <p:cNvSpPr>
            <a:spLocks noGrp="1"/>
          </p:cNvSpPr>
          <p:nvPr/>
        </p:nvSpPr>
        <p:spPr>
          <a:xfrm>
            <a:off x="7334250" y="33432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BC5DB36-76FB-44C5-BC49-C3C5549B5BE6}"/>
              </a:ext>
            </a:extLst>
          </p:cNvPr>
          <p:cNvSpPr>
            <a:spLocks noGrp="1"/>
          </p:cNvSpPr>
          <p:nvPr/>
        </p:nvSpPr>
        <p:spPr>
          <a:xfrm>
            <a:off x="7505700" y="3257550"/>
            <a:ext cx="3448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concatenate embeddings into a sequence context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A5E6988-D867-4EDD-B466-94C4B573C3D1}"/>
              </a:ext>
            </a:extLst>
          </p:cNvPr>
          <p:cNvSpPr>
            <a:spLocks noGrp="1"/>
          </p:cNvSpPr>
          <p:nvPr/>
        </p:nvSpPr>
        <p:spPr>
          <a:xfrm>
            <a:off x="7334250" y="38004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4EE6372-8E19-4C19-87F4-DEEAAEBE7AA7}"/>
              </a:ext>
            </a:extLst>
          </p:cNvPr>
          <p:cNvSpPr>
            <a:spLocks noGrp="1"/>
          </p:cNvSpPr>
          <p:nvPr/>
        </p:nvSpPr>
        <p:spPr>
          <a:xfrm>
            <a:off x="7505700" y="3714750"/>
            <a:ext cx="3448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four output heads predict next SATB state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4B66C70-010C-4BF2-8889-247064D2C200}"/>
              </a:ext>
            </a:extLst>
          </p:cNvPr>
          <p:cNvSpPr>
            <a:spLocks noGrp="1"/>
          </p:cNvSpPr>
          <p:nvPr/>
        </p:nvSpPr>
        <p:spPr>
          <a:xfrm>
            <a:off x="3209925" y="5162550"/>
            <a:ext cx="5772150" cy="78105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3CA4B98-298A-43B7-9BF5-85DF970CC2DC}"/>
              </a:ext>
            </a:extLst>
          </p:cNvPr>
          <p:cNvSpPr>
            <a:spLocks noGrp="1"/>
          </p:cNvSpPr>
          <p:nvPr/>
        </p:nvSpPr>
        <p:spPr>
          <a:xfrm>
            <a:off x="3209925" y="5162550"/>
            <a:ext cx="5772150" cy="571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D6C446F-2E14-411D-97ED-909BD36BF15A}"/>
              </a:ext>
            </a:extLst>
          </p:cNvPr>
          <p:cNvSpPr>
            <a:spLocks noGrp="1"/>
          </p:cNvSpPr>
          <p:nvPr/>
        </p:nvSpPr>
        <p:spPr>
          <a:xfrm>
            <a:off x="3343275" y="5295900"/>
            <a:ext cx="55054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Decode upgrade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C92748-7849-4477-A467-DEAA0DED03FB}"/>
              </a:ext>
            </a:extLst>
          </p:cNvPr>
          <p:cNvSpPr>
            <a:spLocks noGrp="1"/>
          </p:cNvSpPr>
          <p:nvPr/>
        </p:nvSpPr>
        <p:spPr>
          <a:xfrm>
            <a:off x="3343275" y="5572125"/>
            <a:ext cx="5505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top-k temperature sampling -&gt; postprocess -&gt; 30 candidates -&gt; badness-score rerank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90C8D2A-0C1C-4AAC-B018-71D8EAA1692B}"/>
              </a:ext>
            </a:extLst>
          </p:cNvPr>
          <p:cNvSpPr>
            <a:spLocks noGrp="1"/>
          </p:cNvSpPr>
          <p:nvPr/>
        </p:nvSpPr>
        <p:spPr>
          <a:xfrm>
            <a:off x="5162550" y="3429000"/>
            <a:ext cx="1866900" cy="28575"/>
          </a:xfrm>
          <a:prstGeom prst="rect">
            <a:avLst/>
          </a:prstGeom>
          <a:ln w="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1253221-596B-411A-A12F-25F6E3108B74}"/>
              </a:ext>
            </a:extLst>
          </p:cNvPr>
          <p:cNvSpPr>
            <a:spLocks noGrp="1"/>
          </p:cNvSpPr>
          <p:nvPr/>
        </p:nvSpPr>
        <p:spPr>
          <a:xfrm>
            <a:off x="7000875" y="3371850"/>
            <a:ext cx="95250" cy="142875"/>
          </a:xfrm>
          <a:prstGeom prst="rect">
            <a:avLst/>
          </a:prstGeom>
          <a:ln w="0"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27503E5-6EB7-4B50-B861-6B4A200EC01F}"/>
              </a:ext>
            </a:extLst>
          </p:cNvPr>
          <p:cNvSpPr>
            <a:spLocks noGrp="1"/>
          </p:cNvSpPr>
          <p:nvPr/>
        </p:nvSpPr>
        <p:spPr>
          <a:xfrm>
            <a:off x="419100" y="6496050"/>
            <a:ext cx="609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7B81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17C"/>
                </a:solidFill>
                <a:latin typeface="Aptos"/>
                <a:ea typeface="Aptos"/>
                <a:cs typeface="Aptos"/>
              </a:rPr>
              <a:t>BachBot | CSE 253 Assignment 2 | 05</a:t>
            </a:r>
          </a:p>
        </p:txBody>
      </p:sp>
    </p:spTree>
    <p:extLst>
      <p:ext uri="{BB962C8B-B14F-4D97-AF65-F5344CB8AC3E}">
        <p14:creationId xmlns:p14="http://schemas.microsoft.com/office/powerpoint/2010/main" val="1022799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CC41C8E-6C20-45D7-B98A-CAB87EC520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FB1BB9-FA98-49B9-8945-AFA5EB2A8E7F}"/>
              </a:ext>
            </a:extLst>
          </p:cNvPr>
          <p:cNvSpPr>
            <a:spLocks noGrp="1"/>
          </p:cNvSpPr>
          <p:nvPr/>
        </p:nvSpPr>
        <p:spPr>
          <a:xfrm>
            <a:off x="419100" y="7048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DA15E9-04C7-4CB9-AF4F-EE71299A23AA}"/>
              </a:ext>
            </a:extLst>
          </p:cNvPr>
          <p:cNvSpPr>
            <a:spLocks noGrp="1"/>
          </p:cNvSpPr>
          <p:nvPr/>
        </p:nvSpPr>
        <p:spPr>
          <a:xfrm>
            <a:off x="419100" y="8191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DA1180-7B94-4C2B-87D6-590BAF84262D}"/>
              </a:ext>
            </a:extLst>
          </p:cNvPr>
          <p:cNvSpPr>
            <a:spLocks noGrp="1"/>
          </p:cNvSpPr>
          <p:nvPr/>
        </p:nvSpPr>
        <p:spPr>
          <a:xfrm>
            <a:off x="419100" y="9334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844A76-3985-418C-8A7A-6E5B50F4573E}"/>
              </a:ext>
            </a:extLst>
          </p:cNvPr>
          <p:cNvSpPr>
            <a:spLocks noGrp="1"/>
          </p:cNvSpPr>
          <p:nvPr/>
        </p:nvSpPr>
        <p:spPr>
          <a:xfrm>
            <a:off x="419100" y="10477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E92B80-284B-471E-A722-0721C6E4F6D8}"/>
              </a:ext>
            </a:extLst>
          </p:cNvPr>
          <p:cNvSpPr>
            <a:spLocks noGrp="1"/>
          </p:cNvSpPr>
          <p:nvPr/>
        </p:nvSpPr>
        <p:spPr>
          <a:xfrm>
            <a:off x="419100" y="11620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064957-FEB8-4436-BE26-1003A5BED958}"/>
              </a:ext>
            </a:extLst>
          </p:cNvPr>
          <p:cNvSpPr>
            <a:spLocks noGrp="1"/>
          </p:cNvSpPr>
          <p:nvPr/>
        </p:nvSpPr>
        <p:spPr>
          <a:xfrm>
            <a:off x="8458200" y="58102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7CD2DD1-638F-42E3-86C9-515183F60B7E}"/>
              </a:ext>
            </a:extLst>
          </p:cNvPr>
          <p:cNvSpPr>
            <a:spLocks noGrp="1"/>
          </p:cNvSpPr>
          <p:nvPr/>
        </p:nvSpPr>
        <p:spPr>
          <a:xfrm>
            <a:off x="8458200" y="59245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5C384F-AAD6-4895-974B-E7C34DB279FE}"/>
              </a:ext>
            </a:extLst>
          </p:cNvPr>
          <p:cNvSpPr>
            <a:spLocks noGrp="1"/>
          </p:cNvSpPr>
          <p:nvPr/>
        </p:nvSpPr>
        <p:spPr>
          <a:xfrm>
            <a:off x="8458200" y="60388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450B30-DF2F-4B37-9259-220A62FC1280}"/>
              </a:ext>
            </a:extLst>
          </p:cNvPr>
          <p:cNvSpPr>
            <a:spLocks noGrp="1"/>
          </p:cNvSpPr>
          <p:nvPr/>
        </p:nvSpPr>
        <p:spPr>
          <a:xfrm>
            <a:off x="8458200" y="61531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0E8219-0256-4C0D-8504-EEBF7A472376}"/>
              </a:ext>
            </a:extLst>
          </p:cNvPr>
          <p:cNvSpPr>
            <a:spLocks noGrp="1"/>
          </p:cNvSpPr>
          <p:nvPr/>
        </p:nvSpPr>
        <p:spPr>
          <a:xfrm>
            <a:off x="8458200" y="62674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8C4248-A271-4D6C-86EF-9408D10C064D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TASK 1 RESULTS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29A3BC-4930-4731-9582-7C84327F5151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rPr>
              <a:t>Reranking turns raw samples into cleaner chorale candidates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151A0A3-5BA0-4D4C-A6C4-6279362C6ED7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The GRU learns the objective; the final sample is selected by musical behavior.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27F5037-43FD-4369-9E1C-A3A7DB15DCD1}"/>
              </a:ext>
            </a:extLst>
          </p:cNvPr>
          <p:cNvSpPr>
            <a:spLocks noGrp="1"/>
          </p:cNvSpPr>
          <p:nvPr/>
        </p:nvSpPr>
        <p:spPr>
          <a:xfrm>
            <a:off x="495300" y="1752600"/>
            <a:ext cx="4876800" cy="327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52450" y="1925411"/>
            <a:ext cx="4762500" cy="2721429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8DC872D-73E0-473B-8E1C-A8F733702054}"/>
              </a:ext>
            </a:extLst>
          </p:cNvPr>
          <p:cNvSpPr>
            <a:spLocks noGrp="1"/>
          </p:cNvSpPr>
          <p:nvPr/>
        </p:nvSpPr>
        <p:spPr>
          <a:xfrm>
            <a:off x="533400" y="4810125"/>
            <a:ext cx="48006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00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Training curve: validation loss falls over 8 epochs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A422A2-A107-4826-BD13-89DAEDC917E5}"/>
              </a:ext>
            </a:extLst>
          </p:cNvPr>
          <p:cNvSpPr>
            <a:spLocks noGrp="1"/>
          </p:cNvSpPr>
          <p:nvPr/>
        </p:nvSpPr>
        <p:spPr>
          <a:xfrm>
            <a:off x="5829300" y="1752600"/>
            <a:ext cx="5162550" cy="327660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886450" y="1866305"/>
            <a:ext cx="5048250" cy="2839641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EDB48377-5AD6-46A5-B490-EBC0A5077C6D}"/>
              </a:ext>
            </a:extLst>
          </p:cNvPr>
          <p:cNvSpPr>
            <a:spLocks noGrp="1"/>
          </p:cNvSpPr>
          <p:nvPr/>
        </p:nvSpPr>
        <p:spPr>
          <a:xfrm>
            <a:off x="5867400" y="4810125"/>
            <a:ext cx="50863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00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Music metrics: compare baseline and reranked GRU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6DF38B-1818-4255-8F07-69149E880C58}"/>
              </a:ext>
            </a:extLst>
          </p:cNvPr>
          <p:cNvSpPr>
            <a:spLocks noGrp="1"/>
          </p:cNvSpPr>
          <p:nvPr/>
        </p:nvSpPr>
        <p:spPr>
          <a:xfrm>
            <a:off x="742950" y="5257800"/>
            <a:ext cx="10287000" cy="1009650"/>
          </a:xfrm>
          <a:prstGeom prst="rect">
            <a:avLst/>
          </a:prstGeom>
          <a:solidFill>
            <a:srgbClr val="F0E8D9"/>
          </a:solidFill>
          <a:ln w="9525">
            <a:solidFill>
              <a:srgbClr val="D0C5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556FF17-DAF8-40E3-BAD9-28959F707FEF}"/>
              </a:ext>
            </a:extLst>
          </p:cNvPr>
          <p:cNvSpPr>
            <a:spLocks noGrp="1"/>
          </p:cNvSpPr>
          <p:nvPr/>
        </p:nvSpPr>
        <p:spPr>
          <a:xfrm>
            <a:off x="971550" y="5448300"/>
            <a:ext cx="1809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050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GRU perplexity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CB37-6E57-489C-A933-0BC5AD194CEB}"/>
              </a:ext>
            </a:extLst>
          </p:cNvPr>
          <p:cNvSpPr>
            <a:spLocks noGrp="1"/>
          </p:cNvSpPr>
          <p:nvPr/>
        </p:nvSpPr>
        <p:spPr>
          <a:xfrm>
            <a:off x="2781300" y="5514975"/>
            <a:ext cx="666750" cy="95250"/>
          </a:xfrm>
          <a:prstGeom prst="rect">
            <a:avLst/>
          </a:prstGeom>
          <a:solidFill>
            <a:srgbClr val="E4DCCB"/>
          </a:solidFill>
          <a:ln w="0">
            <a:solidFill>
              <a:srgbClr val="E4DC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6716CE-D6DE-4C3F-83A4-7EFAD14A0923}"/>
              </a:ext>
            </a:extLst>
          </p:cNvPr>
          <p:cNvSpPr>
            <a:spLocks noGrp="1"/>
          </p:cNvSpPr>
          <p:nvPr/>
        </p:nvSpPr>
        <p:spPr>
          <a:xfrm>
            <a:off x="2781300" y="5514975"/>
            <a:ext cx="484505" cy="952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292367A-6D11-4F87-AF79-DB5B4BE97FBD}"/>
              </a:ext>
            </a:extLst>
          </p:cNvPr>
          <p:cNvSpPr>
            <a:spLocks noGrp="1"/>
          </p:cNvSpPr>
          <p:nvPr/>
        </p:nvSpPr>
        <p:spPr>
          <a:xfrm>
            <a:off x="3495675" y="5448300"/>
            <a:ext cx="52387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05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1.09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2D9D71C-49AE-4209-A81F-05DA3A229921}"/>
              </a:ext>
            </a:extLst>
          </p:cNvPr>
          <p:cNvSpPr>
            <a:spLocks noGrp="1"/>
          </p:cNvSpPr>
          <p:nvPr/>
        </p:nvSpPr>
        <p:spPr>
          <a:xfrm>
            <a:off x="4495800" y="5448300"/>
            <a:ext cx="1809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050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Pitch hist distance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869602-DC65-4A06-938F-3D402F0D3FF1}"/>
              </a:ext>
            </a:extLst>
          </p:cNvPr>
          <p:cNvSpPr>
            <a:spLocks noGrp="1"/>
          </p:cNvSpPr>
          <p:nvPr/>
        </p:nvSpPr>
        <p:spPr>
          <a:xfrm>
            <a:off x="6305550" y="5514975"/>
            <a:ext cx="857250" cy="95250"/>
          </a:xfrm>
          <a:prstGeom prst="rect">
            <a:avLst/>
          </a:prstGeom>
          <a:solidFill>
            <a:srgbClr val="E4DCCB"/>
          </a:solidFill>
          <a:ln w="0">
            <a:solidFill>
              <a:srgbClr val="E4DC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04D1E81-679B-4AB8-B17D-3C20DAE5BBDB}"/>
              </a:ext>
            </a:extLst>
          </p:cNvPr>
          <p:cNvSpPr>
            <a:spLocks noGrp="1"/>
          </p:cNvSpPr>
          <p:nvPr/>
        </p:nvSpPr>
        <p:spPr>
          <a:xfrm>
            <a:off x="6305550" y="5514975"/>
            <a:ext cx="232682" cy="952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F4CC100-D328-4B35-BF78-B233993B6CE1}"/>
              </a:ext>
            </a:extLst>
          </p:cNvPr>
          <p:cNvSpPr>
            <a:spLocks noGrp="1"/>
          </p:cNvSpPr>
          <p:nvPr/>
        </p:nvSpPr>
        <p:spPr>
          <a:xfrm>
            <a:off x="7210425" y="5448300"/>
            <a:ext cx="52387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05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0.38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4CFD53B-FB25-41FC-9A83-79DD91B4E48E}"/>
              </a:ext>
            </a:extLst>
          </p:cNvPr>
          <p:cNvSpPr>
            <a:spLocks noGrp="1"/>
          </p:cNvSpPr>
          <p:nvPr/>
        </p:nvSpPr>
        <p:spPr>
          <a:xfrm>
            <a:off x="8210550" y="5448300"/>
            <a:ext cx="18097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050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Voice crossings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749783-B6DF-4054-957B-5BF678C505B4}"/>
              </a:ext>
            </a:extLst>
          </p:cNvPr>
          <p:cNvSpPr>
            <a:spLocks noGrp="1"/>
          </p:cNvSpPr>
          <p:nvPr/>
        </p:nvSpPr>
        <p:spPr>
          <a:xfrm>
            <a:off x="10020300" y="5514975"/>
            <a:ext cx="0" cy="95250"/>
          </a:xfrm>
          <a:prstGeom prst="rect">
            <a:avLst/>
          </a:prstGeom>
          <a:solidFill>
            <a:srgbClr val="E4DCCB"/>
          </a:solidFill>
          <a:ln w="0">
            <a:solidFill>
              <a:srgbClr val="E4DC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E457AFC-C13C-4BE7-9165-826C728977F7}"/>
              </a:ext>
            </a:extLst>
          </p:cNvPr>
          <p:cNvSpPr>
            <a:spLocks noGrp="1"/>
          </p:cNvSpPr>
          <p:nvPr/>
        </p:nvSpPr>
        <p:spPr>
          <a:xfrm>
            <a:off x="10020300" y="5514975"/>
            <a:ext cx="19050" cy="952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E97D07D-4A59-48A0-A936-D3AD6C2CDE4D}"/>
              </a:ext>
            </a:extLst>
          </p:cNvPr>
          <p:cNvSpPr>
            <a:spLocks noGrp="1"/>
          </p:cNvSpPr>
          <p:nvPr/>
        </p:nvSpPr>
        <p:spPr>
          <a:xfrm>
            <a:off x="10067925" y="5448300"/>
            <a:ext cx="523875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05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40AFDC-9594-454C-A14B-61943F7B33AD}"/>
              </a:ext>
            </a:extLst>
          </p:cNvPr>
          <p:cNvSpPr>
            <a:spLocks noGrp="1"/>
          </p:cNvSpPr>
          <p:nvPr/>
        </p:nvSpPr>
        <p:spPr>
          <a:xfrm>
            <a:off x="1714500" y="5848350"/>
            <a:ext cx="8286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Best of 30 candidates using top-k sampling, SATB repairs, and a music-quality badness score.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058BE6B-46BE-4796-B4C0-98B58A552F9D}"/>
              </a:ext>
            </a:extLst>
          </p:cNvPr>
          <p:cNvSpPr>
            <a:spLocks noGrp="1"/>
          </p:cNvSpPr>
          <p:nvPr/>
        </p:nvSpPr>
        <p:spPr>
          <a:xfrm>
            <a:off x="419100" y="6496050"/>
            <a:ext cx="609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7B81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17C"/>
                </a:solidFill>
                <a:latin typeface="Aptos"/>
                <a:ea typeface="Aptos"/>
                <a:cs typeface="Aptos"/>
              </a:rPr>
              <a:t>BachBot | CSE 253 Assignment 2 | 06</a:t>
            </a:r>
          </a:p>
        </p:txBody>
      </p:sp>
    </p:spTree>
    <p:extLst>
      <p:ext uri="{BB962C8B-B14F-4D97-AF65-F5344CB8AC3E}">
        <p14:creationId xmlns:p14="http://schemas.microsoft.com/office/powerpoint/2010/main" val="903278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2E636D18-A462-4E4C-A6D9-F7B944C80D5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BFE98C8-8E35-4037-BF67-53B18560D7AA}"/>
              </a:ext>
            </a:extLst>
          </p:cNvPr>
          <p:cNvSpPr>
            <a:spLocks noGrp="1"/>
          </p:cNvSpPr>
          <p:nvPr/>
        </p:nvSpPr>
        <p:spPr>
          <a:xfrm>
            <a:off x="419100" y="7048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DD3DE2-D17B-43FE-A687-3E46156C27FB}"/>
              </a:ext>
            </a:extLst>
          </p:cNvPr>
          <p:cNvSpPr>
            <a:spLocks noGrp="1"/>
          </p:cNvSpPr>
          <p:nvPr/>
        </p:nvSpPr>
        <p:spPr>
          <a:xfrm>
            <a:off x="419100" y="8191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4E9072-A8FC-4383-9011-6FF7351BD37B}"/>
              </a:ext>
            </a:extLst>
          </p:cNvPr>
          <p:cNvSpPr>
            <a:spLocks noGrp="1"/>
          </p:cNvSpPr>
          <p:nvPr/>
        </p:nvSpPr>
        <p:spPr>
          <a:xfrm>
            <a:off x="419100" y="9334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DC77FC-0BE7-4ED1-A5EA-9F63879AC99D}"/>
              </a:ext>
            </a:extLst>
          </p:cNvPr>
          <p:cNvSpPr>
            <a:spLocks noGrp="1"/>
          </p:cNvSpPr>
          <p:nvPr/>
        </p:nvSpPr>
        <p:spPr>
          <a:xfrm>
            <a:off x="419100" y="10477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6DFCF0-982D-4036-9FB4-AFEDED21E280}"/>
              </a:ext>
            </a:extLst>
          </p:cNvPr>
          <p:cNvSpPr>
            <a:spLocks noGrp="1"/>
          </p:cNvSpPr>
          <p:nvPr/>
        </p:nvSpPr>
        <p:spPr>
          <a:xfrm>
            <a:off x="419100" y="11620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C598C3F-0951-42BF-8AF1-0FCAE5E0A71F}"/>
              </a:ext>
            </a:extLst>
          </p:cNvPr>
          <p:cNvSpPr>
            <a:spLocks noGrp="1"/>
          </p:cNvSpPr>
          <p:nvPr/>
        </p:nvSpPr>
        <p:spPr>
          <a:xfrm>
            <a:off x="8458200" y="58102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36EF2A-705C-4048-95BB-7B9F60637E8B}"/>
              </a:ext>
            </a:extLst>
          </p:cNvPr>
          <p:cNvSpPr>
            <a:spLocks noGrp="1"/>
          </p:cNvSpPr>
          <p:nvPr/>
        </p:nvSpPr>
        <p:spPr>
          <a:xfrm>
            <a:off x="8458200" y="59245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2ADB21-1952-4517-A479-C0A940C61FCF}"/>
              </a:ext>
            </a:extLst>
          </p:cNvPr>
          <p:cNvSpPr>
            <a:spLocks noGrp="1"/>
          </p:cNvSpPr>
          <p:nvPr/>
        </p:nvSpPr>
        <p:spPr>
          <a:xfrm>
            <a:off x="8458200" y="60388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42FFCD-408F-455C-9D29-F68E33A18439}"/>
              </a:ext>
            </a:extLst>
          </p:cNvPr>
          <p:cNvSpPr>
            <a:spLocks noGrp="1"/>
          </p:cNvSpPr>
          <p:nvPr/>
        </p:nvSpPr>
        <p:spPr>
          <a:xfrm>
            <a:off x="8458200" y="61531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06E4C0E-334C-4A63-A828-791163675E80}"/>
              </a:ext>
            </a:extLst>
          </p:cNvPr>
          <p:cNvSpPr>
            <a:spLocks noGrp="1"/>
          </p:cNvSpPr>
          <p:nvPr/>
        </p:nvSpPr>
        <p:spPr>
          <a:xfrm>
            <a:off x="8458200" y="62674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93639C2-4DC9-4579-BE4F-BF99F2EBE37D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DBEEBE-30EC-4DD1-867E-F812612F0A48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rPr>
              <a:t>Given a soprano melody, generate alto, tenor, and bass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6A3CB0-B891-4A8A-9E6D-56CE38A8CB5F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The whole soprano line is known, so bidirectional context is useful.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6C77AB-CAF2-4B1A-A6BC-98D3C66E5D87}"/>
              </a:ext>
            </a:extLst>
          </p:cNvPr>
          <p:cNvSpPr>
            <a:spLocks noGrp="1"/>
          </p:cNvSpPr>
          <p:nvPr/>
        </p:nvSpPr>
        <p:spPr>
          <a:xfrm>
            <a:off x="742950" y="2209800"/>
            <a:ext cx="200025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5BE477-5C5B-49AE-B1D2-4B97956CC867}"/>
              </a:ext>
            </a:extLst>
          </p:cNvPr>
          <p:cNvSpPr>
            <a:spLocks noGrp="1"/>
          </p:cNvSpPr>
          <p:nvPr/>
        </p:nvSpPr>
        <p:spPr>
          <a:xfrm>
            <a:off x="742950" y="2209800"/>
            <a:ext cx="2000250" cy="571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C14A454-1D7C-4C50-8CAD-8D16C34C277C}"/>
              </a:ext>
            </a:extLst>
          </p:cNvPr>
          <p:cNvSpPr>
            <a:spLocks noGrp="1"/>
          </p:cNvSpPr>
          <p:nvPr/>
        </p:nvSpPr>
        <p:spPr>
          <a:xfrm>
            <a:off x="876300" y="2343150"/>
            <a:ext cx="17335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Input soprano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119CD3F-69BD-4A83-9878-4A0C61C33C1F}"/>
              </a:ext>
            </a:extLst>
          </p:cNvPr>
          <p:cNvSpPr>
            <a:spLocks noGrp="1"/>
          </p:cNvSpPr>
          <p:nvPr/>
        </p:nvSpPr>
        <p:spPr>
          <a:xfrm>
            <a:off x="876300" y="2619375"/>
            <a:ext cx="17335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custom C-major melody, expanded to eighth-note grid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0A93BC-9485-48F0-84E0-E4CF434091F6}"/>
              </a:ext>
            </a:extLst>
          </p:cNvPr>
          <p:cNvSpPr>
            <a:spLocks noGrp="1"/>
          </p:cNvSpPr>
          <p:nvPr/>
        </p:nvSpPr>
        <p:spPr>
          <a:xfrm>
            <a:off x="742950" y="4171950"/>
            <a:ext cx="200025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B7B018B-7EBA-4247-9641-66A4BEFBC931}"/>
              </a:ext>
            </a:extLst>
          </p:cNvPr>
          <p:cNvSpPr>
            <a:spLocks noGrp="1"/>
          </p:cNvSpPr>
          <p:nvPr/>
        </p:nvSpPr>
        <p:spPr>
          <a:xfrm>
            <a:off x="742950" y="4171950"/>
            <a:ext cx="2000250" cy="571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5EAFCE6-527F-4FA5-BC0D-D0DDD66F7B73}"/>
              </a:ext>
            </a:extLst>
          </p:cNvPr>
          <p:cNvSpPr>
            <a:spLocks noGrp="1"/>
          </p:cNvSpPr>
          <p:nvPr/>
        </p:nvSpPr>
        <p:spPr>
          <a:xfrm>
            <a:off x="876300" y="4305300"/>
            <a:ext cx="17335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Lookup baseline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2CABB1-51E4-4767-BF7A-0633557518A0}"/>
              </a:ext>
            </a:extLst>
          </p:cNvPr>
          <p:cNvSpPr>
            <a:spLocks noGrp="1"/>
          </p:cNvSpPr>
          <p:nvPr/>
        </p:nvSpPr>
        <p:spPr>
          <a:xfrm>
            <a:off x="876300" y="4581525"/>
            <a:ext cx="17335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soprano pitch class + beat position -&gt; common ATB tuple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B34BE6B-AE27-46D3-BF19-C24171444E87}"/>
              </a:ext>
            </a:extLst>
          </p:cNvPr>
          <p:cNvSpPr>
            <a:spLocks noGrp="1"/>
          </p:cNvSpPr>
          <p:nvPr/>
        </p:nvSpPr>
        <p:spPr>
          <a:xfrm>
            <a:off x="3714750" y="2209800"/>
            <a:ext cx="238125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159035F-359F-491A-9A8F-F8E0224ABA4F}"/>
              </a:ext>
            </a:extLst>
          </p:cNvPr>
          <p:cNvSpPr>
            <a:spLocks noGrp="1"/>
          </p:cNvSpPr>
          <p:nvPr/>
        </p:nvSpPr>
        <p:spPr>
          <a:xfrm>
            <a:off x="3714750" y="2209800"/>
            <a:ext cx="2381250" cy="571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0F0313D-A73E-47C1-A48C-6BB4B589D54A}"/>
              </a:ext>
            </a:extLst>
          </p:cNvPr>
          <p:cNvSpPr>
            <a:spLocks noGrp="1"/>
          </p:cNvSpPr>
          <p:nvPr/>
        </p:nvSpPr>
        <p:spPr>
          <a:xfrm>
            <a:off x="3848100" y="2343150"/>
            <a:ext cx="21145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BiGRU harmonizer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A63C333-1FCC-4A3E-9933-C35341DF8BCA}"/>
              </a:ext>
            </a:extLst>
          </p:cNvPr>
          <p:cNvSpPr>
            <a:spLocks noGrp="1"/>
          </p:cNvSpPr>
          <p:nvPr/>
        </p:nvSpPr>
        <p:spPr>
          <a:xfrm>
            <a:off x="3848100" y="2619375"/>
            <a:ext cx="21145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two-layer bidirectional GRU over soprano tokens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F90B49A-08E8-408A-8EFB-B2CA9288F66A}"/>
              </a:ext>
            </a:extLst>
          </p:cNvPr>
          <p:cNvSpPr>
            <a:spLocks noGrp="1"/>
          </p:cNvSpPr>
          <p:nvPr/>
        </p:nvSpPr>
        <p:spPr>
          <a:xfrm>
            <a:off x="6934200" y="2209800"/>
            <a:ext cx="238125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4674114-AC4A-4D02-930A-E3A34F0141A2}"/>
              </a:ext>
            </a:extLst>
          </p:cNvPr>
          <p:cNvSpPr>
            <a:spLocks noGrp="1"/>
          </p:cNvSpPr>
          <p:nvPr/>
        </p:nvSpPr>
        <p:spPr>
          <a:xfrm>
            <a:off x="6934200" y="2209800"/>
            <a:ext cx="2381250" cy="571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126F018-FC81-40CD-A49F-826F5027124E}"/>
              </a:ext>
            </a:extLst>
          </p:cNvPr>
          <p:cNvSpPr>
            <a:spLocks noGrp="1"/>
          </p:cNvSpPr>
          <p:nvPr/>
        </p:nvSpPr>
        <p:spPr>
          <a:xfrm>
            <a:off x="7067550" y="2343150"/>
            <a:ext cx="21145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Beam search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342ACAD-9EA5-430E-949F-C7FDE1DAF786}"/>
              </a:ext>
            </a:extLst>
          </p:cNvPr>
          <p:cNvSpPr>
            <a:spLocks noGrp="1"/>
          </p:cNvSpPr>
          <p:nvPr/>
        </p:nvSpPr>
        <p:spPr>
          <a:xfrm>
            <a:off x="7067550" y="2619375"/>
            <a:ext cx="21145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model probability + penalties for range, crossing, leaps, dissonance, parallels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1D09734-80D1-462F-A0A3-E9D4787F55AC}"/>
              </a:ext>
            </a:extLst>
          </p:cNvPr>
          <p:cNvSpPr>
            <a:spLocks noGrp="1"/>
          </p:cNvSpPr>
          <p:nvPr/>
        </p:nvSpPr>
        <p:spPr>
          <a:xfrm>
            <a:off x="6934200" y="4171950"/>
            <a:ext cx="238125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106018D-7DD7-47BF-9CD6-669E46C71FFF}"/>
              </a:ext>
            </a:extLst>
          </p:cNvPr>
          <p:cNvSpPr>
            <a:spLocks noGrp="1"/>
          </p:cNvSpPr>
          <p:nvPr/>
        </p:nvSpPr>
        <p:spPr>
          <a:xfrm>
            <a:off x="6934200" y="4171950"/>
            <a:ext cx="2381250" cy="57150"/>
          </a:xfrm>
          <a:prstGeom prst="rect">
            <a:avLst/>
          </a:prstGeom>
          <a:solidFill>
            <a:srgbClr val="A9584B"/>
          </a:solidFill>
          <a:ln w="0">
            <a:solidFill>
              <a:srgbClr val="A95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49CE0C7-C899-4720-9E18-C2882A57482F}"/>
              </a:ext>
            </a:extLst>
          </p:cNvPr>
          <p:cNvSpPr>
            <a:spLocks noGrp="1"/>
          </p:cNvSpPr>
          <p:nvPr/>
        </p:nvSpPr>
        <p:spPr>
          <a:xfrm>
            <a:off x="7067550" y="4305300"/>
            <a:ext cx="21145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DeepBach-style Gibbs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87558F4-E8B9-47D0-B244-B61283B9FD29}"/>
              </a:ext>
            </a:extLst>
          </p:cNvPr>
          <p:cNvSpPr>
            <a:spLocks noGrp="1"/>
          </p:cNvSpPr>
          <p:nvPr/>
        </p:nvSpPr>
        <p:spPr>
          <a:xfrm>
            <a:off x="7067550" y="4581525"/>
            <a:ext cx="21145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local conditional sampler trained from the same Bach data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4899B2-FDD5-4E1E-BED8-769C33D6613D}"/>
              </a:ext>
            </a:extLst>
          </p:cNvPr>
          <p:cNvSpPr>
            <a:spLocks noGrp="1"/>
          </p:cNvSpPr>
          <p:nvPr/>
        </p:nvSpPr>
        <p:spPr>
          <a:xfrm>
            <a:off x="10001250" y="3190875"/>
            <a:ext cx="152400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6CE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771D330-489E-4478-BC01-A2E613894A67}"/>
              </a:ext>
            </a:extLst>
          </p:cNvPr>
          <p:cNvSpPr>
            <a:spLocks noGrp="1"/>
          </p:cNvSpPr>
          <p:nvPr/>
        </p:nvSpPr>
        <p:spPr>
          <a:xfrm>
            <a:off x="10001250" y="3190875"/>
            <a:ext cx="1524000" cy="57150"/>
          </a:xfrm>
          <a:prstGeom prst="rect">
            <a:avLst/>
          </a:prstGeom>
          <a:solidFill>
            <a:srgbClr val="1D2424"/>
          </a:solidFill>
          <a:ln w="0">
            <a:solidFill>
              <a:srgbClr val="1D242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C82061B-9221-4E36-879F-FB8BDE0D9BDD}"/>
              </a:ext>
            </a:extLst>
          </p:cNvPr>
          <p:cNvSpPr>
            <a:spLocks noGrp="1"/>
          </p:cNvSpPr>
          <p:nvPr/>
        </p:nvSpPr>
        <p:spPr>
          <a:xfrm>
            <a:off x="10134600" y="3324225"/>
            <a:ext cx="12573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Final MIDI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96FA1D7-318A-48C9-B8C2-F7E6C19D3CC2}"/>
              </a:ext>
            </a:extLst>
          </p:cNvPr>
          <p:cNvSpPr>
            <a:spLocks noGrp="1"/>
          </p:cNvSpPr>
          <p:nvPr/>
        </p:nvSpPr>
        <p:spPr>
          <a:xfrm>
            <a:off x="10134600" y="3600450"/>
            <a:ext cx="12573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symbolic_conditioned.mid uses the Gibbs harmonization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A03F7BB-A2FE-4451-95BC-7E2E87B5CE1B}"/>
              </a:ext>
            </a:extLst>
          </p:cNvPr>
          <p:cNvSpPr>
            <a:spLocks noGrp="1"/>
          </p:cNvSpPr>
          <p:nvPr/>
        </p:nvSpPr>
        <p:spPr>
          <a:xfrm>
            <a:off x="2743200" y="2781300"/>
            <a:ext cx="97155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E72253F-8E8F-4766-94E7-2E0E2350C1E0}"/>
              </a:ext>
            </a:extLst>
          </p:cNvPr>
          <p:cNvSpPr>
            <a:spLocks noGrp="1"/>
          </p:cNvSpPr>
          <p:nvPr/>
        </p:nvSpPr>
        <p:spPr>
          <a:xfrm>
            <a:off x="3686175" y="272415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D7DB8B-54FA-43C3-AF41-C7B83717A495}"/>
              </a:ext>
            </a:extLst>
          </p:cNvPr>
          <p:cNvSpPr>
            <a:spLocks noGrp="1"/>
          </p:cNvSpPr>
          <p:nvPr/>
        </p:nvSpPr>
        <p:spPr>
          <a:xfrm>
            <a:off x="6096000" y="2781300"/>
            <a:ext cx="83820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E43D2FE-66A3-40FC-8B79-29D42F4230B1}"/>
              </a:ext>
            </a:extLst>
          </p:cNvPr>
          <p:cNvSpPr>
            <a:spLocks noGrp="1"/>
          </p:cNvSpPr>
          <p:nvPr/>
        </p:nvSpPr>
        <p:spPr>
          <a:xfrm>
            <a:off x="6905625" y="272415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5F1C0A7-B1F4-4DCA-A11E-7C525E645868}"/>
              </a:ext>
            </a:extLst>
          </p:cNvPr>
          <p:cNvSpPr>
            <a:spLocks noGrp="1"/>
          </p:cNvSpPr>
          <p:nvPr/>
        </p:nvSpPr>
        <p:spPr>
          <a:xfrm>
            <a:off x="9315450" y="4743450"/>
            <a:ext cx="68580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B5F99EE-49EB-4F9E-94ED-8ED2FCE69C11}"/>
              </a:ext>
            </a:extLst>
          </p:cNvPr>
          <p:cNvSpPr>
            <a:spLocks noGrp="1"/>
          </p:cNvSpPr>
          <p:nvPr/>
        </p:nvSpPr>
        <p:spPr>
          <a:xfrm>
            <a:off x="9972675" y="468630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7113432-2532-4508-A094-917D0DA49273}"/>
              </a:ext>
            </a:extLst>
          </p:cNvPr>
          <p:cNvSpPr>
            <a:spLocks noGrp="1"/>
          </p:cNvSpPr>
          <p:nvPr/>
        </p:nvSpPr>
        <p:spPr>
          <a:xfrm>
            <a:off x="9315450" y="2781300"/>
            <a:ext cx="685800" cy="285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081EBE4-CCDA-44A2-84AB-08DC7301B98B}"/>
              </a:ext>
            </a:extLst>
          </p:cNvPr>
          <p:cNvSpPr>
            <a:spLocks noGrp="1"/>
          </p:cNvSpPr>
          <p:nvPr/>
        </p:nvSpPr>
        <p:spPr>
          <a:xfrm>
            <a:off x="9972675" y="2724150"/>
            <a:ext cx="95250" cy="142875"/>
          </a:xfrm>
          <a:prstGeom prst="rect">
            <a:avLst/>
          </a:prstGeom>
          <a:solidFill>
            <a:srgbClr val="B5AA99"/>
          </a:solidFill>
          <a:ln w="0">
            <a:solidFill>
              <a:srgbClr val="B5AA9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C8E5D36-ED7B-412E-A43A-78F7D0DE9840}"/>
              </a:ext>
            </a:extLst>
          </p:cNvPr>
          <p:cNvSpPr>
            <a:spLocks noGrp="1"/>
          </p:cNvSpPr>
          <p:nvPr/>
        </p:nvSpPr>
        <p:spPr>
          <a:xfrm>
            <a:off x="3409950" y="5619750"/>
            <a:ext cx="5334000" cy="400050"/>
          </a:xfrm>
          <a:prstGeom prst="rect">
            <a:avLst/>
          </a:prstGeom>
          <a:solidFill>
            <a:srgbClr val="EEE8DA"/>
          </a:solidFill>
          <a:ln w="9525">
            <a:solidFill>
              <a:srgbClr val="D7CEBC"/>
            </a:solidFill>
            <a:prstDash val="solid"/>
          </a:ln>
        </p:spPr>
        <p:txBody>
          <a:bodyPr lIns="95250" tIns="57150" rIns="95250" bIns="57150" anchor="t"/>
          <a:lstStyle/>
          <a:p>
            <a:pPr algn="l">
              <a:defRPr sz="1125" b="0">
                <a:solidFill>
                  <a:srgbClr val="1D2424"/>
                </a:solidFill>
                <a:latin typeface="Aptos Mono"/>
                <a:ea typeface="Aptos Mono"/>
                <a:cs typeface="Aptos Mono"/>
              </a:defRPr>
            </a:pPr>
            <a:r>
              <a:rPr sz="1125" b="0">
                <a:solidFill>
                  <a:srgbClr val="1D2424"/>
                </a:solidFill>
                <a:latin typeface="Aptos Mono"/>
                <a:ea typeface="Aptos Mono"/>
                <a:cs typeface="Aptos Mono"/>
              </a:rPr>
              <a:t>C4 D4 E4 G4 A4 G4 F4 E4 ...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5819CF1-7DFA-4BE2-9F54-8ED0B94C6744}"/>
              </a:ext>
            </a:extLst>
          </p:cNvPr>
          <p:cNvSpPr>
            <a:spLocks noGrp="1"/>
          </p:cNvSpPr>
          <p:nvPr/>
        </p:nvSpPr>
        <p:spPr>
          <a:xfrm>
            <a:off x="419100" y="6496050"/>
            <a:ext cx="609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7B81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17C"/>
                </a:solidFill>
                <a:latin typeface="Aptos"/>
                <a:ea typeface="Aptos"/>
                <a:cs typeface="Aptos"/>
              </a:rPr>
              <a:t>BachBot | CSE 253 Assignment 2 | 07</a:t>
            </a:r>
          </a:p>
        </p:txBody>
      </p:sp>
    </p:spTree>
    <p:extLst>
      <p:ext uri="{BB962C8B-B14F-4D97-AF65-F5344CB8AC3E}">
        <p14:creationId xmlns:p14="http://schemas.microsoft.com/office/powerpoint/2010/main" val="7067717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01B82A0F-837E-4F92-B914-5A75AD4BFC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22CA05-FEE4-4EFF-BC63-7381ACA65843}"/>
              </a:ext>
            </a:extLst>
          </p:cNvPr>
          <p:cNvSpPr>
            <a:spLocks noGrp="1"/>
          </p:cNvSpPr>
          <p:nvPr/>
        </p:nvSpPr>
        <p:spPr>
          <a:xfrm>
            <a:off x="419100" y="7048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9E6B48-40C0-4CAE-86FB-70034193D146}"/>
              </a:ext>
            </a:extLst>
          </p:cNvPr>
          <p:cNvSpPr>
            <a:spLocks noGrp="1"/>
          </p:cNvSpPr>
          <p:nvPr/>
        </p:nvSpPr>
        <p:spPr>
          <a:xfrm>
            <a:off x="419100" y="8191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13AFFB-9EB5-4479-B0F9-5092A4ABAA94}"/>
              </a:ext>
            </a:extLst>
          </p:cNvPr>
          <p:cNvSpPr>
            <a:spLocks noGrp="1"/>
          </p:cNvSpPr>
          <p:nvPr/>
        </p:nvSpPr>
        <p:spPr>
          <a:xfrm>
            <a:off x="419100" y="9334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EEDC8C-3D4E-4C04-AB76-E842D8435582}"/>
              </a:ext>
            </a:extLst>
          </p:cNvPr>
          <p:cNvSpPr>
            <a:spLocks noGrp="1"/>
          </p:cNvSpPr>
          <p:nvPr/>
        </p:nvSpPr>
        <p:spPr>
          <a:xfrm>
            <a:off x="419100" y="10477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050859-2DE1-4071-90D9-356A6AB90BA0}"/>
              </a:ext>
            </a:extLst>
          </p:cNvPr>
          <p:cNvSpPr>
            <a:spLocks noGrp="1"/>
          </p:cNvSpPr>
          <p:nvPr/>
        </p:nvSpPr>
        <p:spPr>
          <a:xfrm>
            <a:off x="419100" y="11620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B5CCF1-DE2C-4A73-BA50-94E1386F36D8}"/>
              </a:ext>
            </a:extLst>
          </p:cNvPr>
          <p:cNvSpPr>
            <a:spLocks noGrp="1"/>
          </p:cNvSpPr>
          <p:nvPr/>
        </p:nvSpPr>
        <p:spPr>
          <a:xfrm>
            <a:off x="8458200" y="58102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0427FE-F205-4397-9CEE-9E8CC94AA15C}"/>
              </a:ext>
            </a:extLst>
          </p:cNvPr>
          <p:cNvSpPr>
            <a:spLocks noGrp="1"/>
          </p:cNvSpPr>
          <p:nvPr/>
        </p:nvSpPr>
        <p:spPr>
          <a:xfrm>
            <a:off x="8458200" y="59245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E80A49-22DC-4867-9F5A-5C1E12E4FB04}"/>
              </a:ext>
            </a:extLst>
          </p:cNvPr>
          <p:cNvSpPr>
            <a:spLocks noGrp="1"/>
          </p:cNvSpPr>
          <p:nvPr/>
        </p:nvSpPr>
        <p:spPr>
          <a:xfrm>
            <a:off x="8458200" y="60388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B943B5-F075-442D-BBE4-4FA3C658DAA2}"/>
              </a:ext>
            </a:extLst>
          </p:cNvPr>
          <p:cNvSpPr>
            <a:spLocks noGrp="1"/>
          </p:cNvSpPr>
          <p:nvPr/>
        </p:nvSpPr>
        <p:spPr>
          <a:xfrm>
            <a:off x="8458200" y="61531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0C66F1-5A83-46F3-87E8-F461DCAEE6E1}"/>
              </a:ext>
            </a:extLst>
          </p:cNvPr>
          <p:cNvSpPr>
            <a:spLocks noGrp="1"/>
          </p:cNvSpPr>
          <p:nvPr/>
        </p:nvSpPr>
        <p:spPr>
          <a:xfrm>
            <a:off x="8458200" y="62674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C31BA7-31E1-40C7-B812-66489F94F9EE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TASK 2 RESULTS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7359D6-34C8-46BB-959A-802A6987D52E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rPr>
              <a:t>Exact-match accuracy is not the same as musical quality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4F022CF-A40E-4931-9382-0A0BDB684E7A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There are many valid harmonizations for one soprano melody.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2D8D7E-F9F8-455B-B0B7-A1B5C24D5478}"/>
              </a:ext>
            </a:extLst>
          </p:cNvPr>
          <p:cNvSpPr>
            <a:spLocks noGrp="1"/>
          </p:cNvSpPr>
          <p:nvPr/>
        </p:nvSpPr>
        <p:spPr>
          <a:xfrm>
            <a:off x="533400" y="1752600"/>
            <a:ext cx="4591050" cy="3181350"/>
          </a:xfrm>
          <a:prstGeom prst="rect">
            <a:avLst/>
          </a:prstGeom>
          <a:solidFill>
            <a:srgbClr val="FFFFFF"/>
          </a:solidFill>
          <a:ln w="9525">
            <a:solidFill>
              <a:srgbClr val="D4CC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0550" y="1959429"/>
            <a:ext cx="4476750" cy="255814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3BDC29F1-68FB-4249-A106-B6B3DC4947F6}"/>
              </a:ext>
            </a:extLst>
          </p:cNvPr>
          <p:cNvSpPr>
            <a:spLocks noGrp="1"/>
          </p:cNvSpPr>
          <p:nvPr/>
        </p:nvSpPr>
        <p:spPr>
          <a:xfrm>
            <a:off x="571500" y="4714875"/>
            <a:ext cx="4514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00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BiGRU training curve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98D0C92-0AEF-4F92-BEB4-5608FE4CAC79}"/>
              </a:ext>
            </a:extLst>
          </p:cNvPr>
          <p:cNvSpPr>
            <a:spLocks noGrp="1"/>
          </p:cNvSpPr>
          <p:nvPr/>
        </p:nvSpPr>
        <p:spPr>
          <a:xfrm>
            <a:off x="5562600" y="4714875"/>
            <a:ext cx="48958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00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Conditioned metrics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EC86562-078A-4AE6-ABD2-9526BD7BEE82}"/>
              </a:ext>
            </a:extLst>
          </p:cNvPr>
          <p:cNvSpPr>
            <a:spLocks noGrp="1"/>
          </p:cNvSpPr>
          <p:nvPr/>
        </p:nvSpPr>
        <p:spPr>
          <a:xfrm>
            <a:off x="800100" y="5232923"/>
            <a:ext cx="9525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BDB9E5-3878-42F6-94D1-ED0AF6EBE3E9}"/>
              </a:ext>
            </a:extLst>
          </p:cNvPr>
          <p:cNvSpPr>
            <a:spLocks noGrp="1"/>
          </p:cNvSpPr>
          <p:nvPr/>
        </p:nvSpPr>
        <p:spPr>
          <a:xfrm>
            <a:off x="790575" y="5232666"/>
            <a:ext cx="95250" cy="800100"/>
          </a:xfrm>
          <a:prstGeom prst="rect">
            <a:avLst/>
          </a:prstGeom>
          <a:solidFill>
            <a:srgbClr val="A9584B"/>
          </a:solidFill>
          <a:ln w="0">
            <a:solidFill>
              <a:srgbClr val="A95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1BAC59E-B3D4-440C-950D-7B4BCD886EA7}"/>
              </a:ext>
            </a:extLst>
          </p:cNvPr>
          <p:cNvSpPr>
            <a:spLocks noGrp="1"/>
          </p:cNvSpPr>
          <p:nvPr/>
        </p:nvSpPr>
        <p:spPr>
          <a:xfrm>
            <a:off x="1066800" y="5257800"/>
            <a:ext cx="2381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1">
                <a:solidFill>
                  <a:srgbClr val="A9584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A9584B"/>
                </a:solidFill>
                <a:latin typeface="Aptos"/>
                <a:ea typeface="Aptos"/>
                <a:cs typeface="Aptos"/>
              </a:rPr>
              <a:t>Final conditioned demo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E2E0E5-6EFA-4BEE-80AA-6940E23D1FB3}"/>
              </a:ext>
            </a:extLst>
          </p:cNvPr>
          <p:cNvSpPr>
            <a:spLocks noGrp="1"/>
          </p:cNvSpPr>
          <p:nvPr/>
        </p:nvSpPr>
        <p:spPr>
          <a:xfrm>
            <a:off x="1066800" y="5505450"/>
            <a:ext cx="8667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350" b="1" dirty="0" err="1">
                <a:solidFill>
                  <a:srgbClr val="1D2424"/>
                </a:solidFill>
                <a:latin typeface="Aptos"/>
                <a:ea typeface="Aptos"/>
                <a:cs typeface="Aptos"/>
              </a:rPr>
              <a:t>DeepBach</a:t>
            </a:r>
            <a:r>
              <a:rPr sz="1350" b="1" dirty="0">
                <a:solidFill>
                  <a:srgbClr val="1D2424"/>
                </a:solidFill>
                <a:latin typeface="Aptos"/>
                <a:ea typeface="Aptos"/>
                <a:cs typeface="Aptos"/>
              </a:rPr>
              <a:t>-inspired Gibbs reaches 100% strong-beat consonance, 0 range violations, and 0 voice crossings on the submitted conditioned MIDI.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32864B-D976-4723-93B9-AD30EE9A17A6}"/>
              </a:ext>
            </a:extLst>
          </p:cNvPr>
          <p:cNvSpPr>
            <a:spLocks noGrp="1"/>
          </p:cNvSpPr>
          <p:nvPr/>
        </p:nvSpPr>
        <p:spPr>
          <a:xfrm>
            <a:off x="5791200" y="4953000"/>
            <a:ext cx="4953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0" dirty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The lookup baseline matches tokens well, but the listening demo benefits from constrained beam/Gibbs decoding.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ECE2926-4691-4A0A-B5CD-3DD4B1194F2A}"/>
              </a:ext>
            </a:extLst>
          </p:cNvPr>
          <p:cNvSpPr>
            <a:spLocks noGrp="1"/>
          </p:cNvSpPr>
          <p:nvPr/>
        </p:nvSpPr>
        <p:spPr>
          <a:xfrm>
            <a:off x="419100" y="6496050"/>
            <a:ext cx="609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7B81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17C"/>
                </a:solidFill>
                <a:latin typeface="Aptos"/>
                <a:ea typeface="Aptos"/>
                <a:cs typeface="Aptos"/>
              </a:rPr>
              <a:t>BachBot | CSE 253 Assignment 2 | 08</a:t>
            </a:r>
          </a:p>
        </p:txBody>
      </p:sp>
      <p:pic>
        <p:nvPicPr>
          <p:cNvPr id="29" name="Picture 28" descr="A graph of a bar chart&#10;&#10;AI-generated content may be incorrect.">
            <a:extLst>
              <a:ext uri="{FF2B5EF4-FFF2-40B4-BE49-F238E27FC236}">
                <a16:creationId xmlns:a16="http://schemas.microsoft.com/office/drawing/2014/main" id="{F38DB626-243E-BE40-03DD-E80C7FCE1B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600" y="1729238"/>
            <a:ext cx="5298989" cy="2971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271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37">
            <a:extLst>
              <a:ext uri="{FF2B5EF4-FFF2-40B4-BE49-F238E27FC236}">
                <a16:creationId xmlns:a16="http://schemas.microsoft.com/office/drawing/2014/main" id="{5390B652-9CB6-44EA-9F30-09DF8289D3D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FB5C1B-CB37-485D-8166-0FFFDE88203E}"/>
              </a:ext>
            </a:extLst>
          </p:cNvPr>
          <p:cNvSpPr>
            <a:spLocks noGrp="1"/>
          </p:cNvSpPr>
          <p:nvPr/>
        </p:nvSpPr>
        <p:spPr>
          <a:xfrm>
            <a:off x="419100" y="7048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225371-BC6C-4753-96F3-D65DB2A97686}"/>
              </a:ext>
            </a:extLst>
          </p:cNvPr>
          <p:cNvSpPr>
            <a:spLocks noGrp="1"/>
          </p:cNvSpPr>
          <p:nvPr/>
        </p:nvSpPr>
        <p:spPr>
          <a:xfrm>
            <a:off x="419100" y="8191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2F35453-71D6-4D81-9739-0C2B4E0D5904}"/>
              </a:ext>
            </a:extLst>
          </p:cNvPr>
          <p:cNvSpPr>
            <a:spLocks noGrp="1"/>
          </p:cNvSpPr>
          <p:nvPr/>
        </p:nvSpPr>
        <p:spPr>
          <a:xfrm>
            <a:off x="419100" y="9334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D04AF7-3197-429E-BC62-BAFE6AF5B196}"/>
              </a:ext>
            </a:extLst>
          </p:cNvPr>
          <p:cNvSpPr>
            <a:spLocks noGrp="1"/>
          </p:cNvSpPr>
          <p:nvPr/>
        </p:nvSpPr>
        <p:spPr>
          <a:xfrm>
            <a:off x="419100" y="10477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C96DAB-EDED-4393-B3D3-520F3F60A549}"/>
              </a:ext>
            </a:extLst>
          </p:cNvPr>
          <p:cNvSpPr>
            <a:spLocks noGrp="1"/>
          </p:cNvSpPr>
          <p:nvPr/>
        </p:nvSpPr>
        <p:spPr>
          <a:xfrm>
            <a:off x="419100" y="11620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7CF9B2-1DF8-4D32-9A8C-D5B26B1F7A2E}"/>
              </a:ext>
            </a:extLst>
          </p:cNvPr>
          <p:cNvSpPr>
            <a:spLocks noGrp="1"/>
          </p:cNvSpPr>
          <p:nvPr/>
        </p:nvSpPr>
        <p:spPr>
          <a:xfrm>
            <a:off x="8458200" y="58102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9C9DC56-D8E1-4948-99B6-A62B2FD01D43}"/>
              </a:ext>
            </a:extLst>
          </p:cNvPr>
          <p:cNvSpPr>
            <a:spLocks noGrp="1"/>
          </p:cNvSpPr>
          <p:nvPr/>
        </p:nvSpPr>
        <p:spPr>
          <a:xfrm>
            <a:off x="8458200" y="59245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75EC3A-56D7-432B-B8D2-0712F67B47FC}"/>
              </a:ext>
            </a:extLst>
          </p:cNvPr>
          <p:cNvSpPr>
            <a:spLocks noGrp="1"/>
          </p:cNvSpPr>
          <p:nvPr/>
        </p:nvSpPr>
        <p:spPr>
          <a:xfrm>
            <a:off x="8458200" y="60388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EED5C6-65C3-4A37-A02D-6BE433A65FAD}"/>
              </a:ext>
            </a:extLst>
          </p:cNvPr>
          <p:cNvSpPr>
            <a:spLocks noGrp="1"/>
          </p:cNvSpPr>
          <p:nvPr/>
        </p:nvSpPr>
        <p:spPr>
          <a:xfrm>
            <a:off x="8458200" y="61531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E5BB537-660C-4948-B6A0-BB4E210A1F11}"/>
              </a:ext>
            </a:extLst>
          </p:cNvPr>
          <p:cNvSpPr>
            <a:spLocks noGrp="1"/>
          </p:cNvSpPr>
          <p:nvPr/>
        </p:nvSpPr>
        <p:spPr>
          <a:xfrm>
            <a:off x="8458200" y="62674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E210B88-76E9-4AB9-BEC8-AA0ECAD2A5C6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04D8996-0C37-4113-BC88-3E70A17E7BC6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rPr>
              <a:t>No single metric can decide whether generated music is good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A14E97-07DC-4918-99FE-DFD169AF6864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We combine predictive fit, voice-leading checks, harmony checks, and distribution checks.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D3D12-7BD3-4128-B773-A3CCA554997E}"/>
              </a:ext>
            </a:extLst>
          </p:cNvPr>
          <p:cNvSpPr>
            <a:spLocks noGrp="1"/>
          </p:cNvSpPr>
          <p:nvPr/>
        </p:nvSpPr>
        <p:spPr>
          <a:xfrm>
            <a:off x="666750" y="2152650"/>
            <a:ext cx="226695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162F687-1A4B-4970-A392-FD5911131CE0}"/>
              </a:ext>
            </a:extLst>
          </p:cNvPr>
          <p:cNvSpPr>
            <a:spLocks noGrp="1"/>
          </p:cNvSpPr>
          <p:nvPr/>
        </p:nvSpPr>
        <p:spPr>
          <a:xfrm>
            <a:off x="666750" y="2152650"/>
            <a:ext cx="2266950" cy="7620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77FC54-50DD-4398-9B5E-9A47A7A26D5F}"/>
              </a:ext>
            </a:extLst>
          </p:cNvPr>
          <p:cNvSpPr>
            <a:spLocks noGrp="1"/>
          </p:cNvSpPr>
          <p:nvPr/>
        </p:nvSpPr>
        <p:spPr>
          <a:xfrm>
            <a:off x="838200" y="2438400"/>
            <a:ext cx="1905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7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Predictive fit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DF1B24-8832-49EB-97B1-4FDBA243FA83}"/>
              </a:ext>
            </a:extLst>
          </p:cNvPr>
          <p:cNvSpPr>
            <a:spLocks noGrp="1"/>
          </p:cNvSpPr>
          <p:nvPr/>
        </p:nvSpPr>
        <p:spPr>
          <a:xfrm>
            <a:off x="838200" y="2952750"/>
            <a:ext cx="1905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loss, perplexity, per-voice accuracy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CA672B-56CC-4459-AD16-D2A6FB25AA3A}"/>
              </a:ext>
            </a:extLst>
          </p:cNvPr>
          <p:cNvSpPr>
            <a:spLocks noGrp="1"/>
          </p:cNvSpPr>
          <p:nvPr/>
        </p:nvSpPr>
        <p:spPr>
          <a:xfrm>
            <a:off x="838200" y="3867150"/>
            <a:ext cx="1905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Does the model learn the token task?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2E3A69-4803-4597-8502-A823C5CAF14C}"/>
              </a:ext>
            </a:extLst>
          </p:cNvPr>
          <p:cNvSpPr>
            <a:spLocks noGrp="1"/>
          </p:cNvSpPr>
          <p:nvPr/>
        </p:nvSpPr>
        <p:spPr>
          <a:xfrm>
            <a:off x="3448050" y="2152650"/>
            <a:ext cx="226695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3EA5379-3EBD-4945-BD2F-2E58CC49C519}"/>
              </a:ext>
            </a:extLst>
          </p:cNvPr>
          <p:cNvSpPr>
            <a:spLocks noGrp="1"/>
          </p:cNvSpPr>
          <p:nvPr/>
        </p:nvSpPr>
        <p:spPr>
          <a:xfrm>
            <a:off x="3448050" y="2152650"/>
            <a:ext cx="2266950" cy="7620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E0269A-47C8-446B-B3A3-6C305E27366D}"/>
              </a:ext>
            </a:extLst>
          </p:cNvPr>
          <p:cNvSpPr>
            <a:spLocks noGrp="1"/>
          </p:cNvSpPr>
          <p:nvPr/>
        </p:nvSpPr>
        <p:spPr>
          <a:xfrm>
            <a:off x="3619500" y="2438400"/>
            <a:ext cx="1905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7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Voice leading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B63573B-E073-497D-BB5C-16E792DF0D40}"/>
              </a:ext>
            </a:extLst>
          </p:cNvPr>
          <p:cNvSpPr>
            <a:spLocks noGrp="1"/>
          </p:cNvSpPr>
          <p:nvPr/>
        </p:nvSpPr>
        <p:spPr>
          <a:xfrm>
            <a:off x="3619500" y="2952750"/>
            <a:ext cx="1905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range violations, crossings, repeats, parallels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4C4F7D1-7EA9-4745-A909-E5DF73DA2D8F}"/>
              </a:ext>
            </a:extLst>
          </p:cNvPr>
          <p:cNvSpPr>
            <a:spLocks noGrp="1"/>
          </p:cNvSpPr>
          <p:nvPr/>
        </p:nvSpPr>
        <p:spPr>
          <a:xfrm>
            <a:off x="3619500" y="3867150"/>
            <a:ext cx="1905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Are the four lines singable and separated?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AE721B4-51BA-4400-8DAF-F34CCC446D8C}"/>
              </a:ext>
            </a:extLst>
          </p:cNvPr>
          <p:cNvSpPr>
            <a:spLocks noGrp="1"/>
          </p:cNvSpPr>
          <p:nvPr/>
        </p:nvSpPr>
        <p:spPr>
          <a:xfrm>
            <a:off x="6229350" y="2152650"/>
            <a:ext cx="226695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769F8D5-8888-489F-BEA4-6EDBDBF65FBB}"/>
              </a:ext>
            </a:extLst>
          </p:cNvPr>
          <p:cNvSpPr>
            <a:spLocks noGrp="1"/>
          </p:cNvSpPr>
          <p:nvPr/>
        </p:nvSpPr>
        <p:spPr>
          <a:xfrm>
            <a:off x="6229350" y="2152650"/>
            <a:ext cx="2266950" cy="7620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ADB0856-B150-4F51-B2EC-4AA9C15B3960}"/>
              </a:ext>
            </a:extLst>
          </p:cNvPr>
          <p:cNvSpPr>
            <a:spLocks noGrp="1"/>
          </p:cNvSpPr>
          <p:nvPr/>
        </p:nvSpPr>
        <p:spPr>
          <a:xfrm>
            <a:off x="6400800" y="2438400"/>
            <a:ext cx="1905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7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Harmony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1A4AA7-064D-4E10-A350-7E9AB2D2A40B}"/>
              </a:ext>
            </a:extLst>
          </p:cNvPr>
          <p:cNvSpPr>
            <a:spLocks noGrp="1"/>
          </p:cNvSpPr>
          <p:nvPr/>
        </p:nvSpPr>
        <p:spPr>
          <a:xfrm>
            <a:off x="6400800" y="2952750"/>
            <a:ext cx="1905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strong-beat consonance, chord diversity, cadence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489D69-A0FB-45A5-9B38-9E21CE0795CB}"/>
              </a:ext>
            </a:extLst>
          </p:cNvPr>
          <p:cNvSpPr>
            <a:spLocks noGrp="1"/>
          </p:cNvSpPr>
          <p:nvPr/>
        </p:nvSpPr>
        <p:spPr>
          <a:xfrm>
            <a:off x="6400800" y="3867150"/>
            <a:ext cx="1905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Is the sample stable without becoming static?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8B06712-670F-47E2-8C6D-457CE62D5AC6}"/>
              </a:ext>
            </a:extLst>
          </p:cNvPr>
          <p:cNvSpPr>
            <a:spLocks noGrp="1"/>
          </p:cNvSpPr>
          <p:nvPr/>
        </p:nvSpPr>
        <p:spPr>
          <a:xfrm>
            <a:off x="9010650" y="2152650"/>
            <a:ext cx="226695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7CEC4E5-EDFB-41BB-BCED-E9E9243D2C84}"/>
              </a:ext>
            </a:extLst>
          </p:cNvPr>
          <p:cNvSpPr>
            <a:spLocks noGrp="1"/>
          </p:cNvSpPr>
          <p:nvPr/>
        </p:nvSpPr>
        <p:spPr>
          <a:xfrm>
            <a:off x="9010650" y="2152650"/>
            <a:ext cx="2266950" cy="7620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858D77A-2692-4E2B-9D50-E314E85E5915}"/>
              </a:ext>
            </a:extLst>
          </p:cNvPr>
          <p:cNvSpPr>
            <a:spLocks noGrp="1"/>
          </p:cNvSpPr>
          <p:nvPr/>
        </p:nvSpPr>
        <p:spPr>
          <a:xfrm>
            <a:off x="9182100" y="2438400"/>
            <a:ext cx="1905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7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Distribution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D0511-2266-42C8-B5C1-6457B9D35739}"/>
              </a:ext>
            </a:extLst>
          </p:cNvPr>
          <p:cNvSpPr>
            <a:spLocks noGrp="1"/>
          </p:cNvSpPr>
          <p:nvPr/>
        </p:nvSpPr>
        <p:spPr>
          <a:xfrm>
            <a:off x="9182100" y="2952750"/>
            <a:ext cx="1905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pitch-class histogram distance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DD7C849-FAE7-4F0D-B697-5A55BE013447}"/>
              </a:ext>
            </a:extLst>
          </p:cNvPr>
          <p:cNvSpPr>
            <a:spLocks noGrp="1"/>
          </p:cNvSpPr>
          <p:nvPr/>
        </p:nvSpPr>
        <p:spPr>
          <a:xfrm>
            <a:off x="9182100" y="3867150"/>
            <a:ext cx="1905000" cy="666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Does it still resemble the Bach corpus?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923B3E8-963A-4B31-9FD1-D48EC0134203}"/>
              </a:ext>
            </a:extLst>
          </p:cNvPr>
          <p:cNvSpPr>
            <a:spLocks noGrp="1"/>
          </p:cNvSpPr>
          <p:nvPr/>
        </p:nvSpPr>
        <p:spPr>
          <a:xfrm>
            <a:off x="1215614" y="5448300"/>
            <a:ext cx="9642886" cy="685800"/>
          </a:xfrm>
          <a:prstGeom prst="rect">
            <a:avLst/>
          </a:prstGeom>
          <a:solidFill>
            <a:srgbClr val="EEE7D8"/>
          </a:solidFill>
          <a:ln w="9525">
            <a:solidFill>
              <a:srgbClr val="D2C8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E7B44A1-5EE3-4F76-8C09-72A0176BFB91}"/>
              </a:ext>
            </a:extLst>
          </p:cNvPr>
          <p:cNvSpPr>
            <a:spLocks noGrp="1"/>
          </p:cNvSpPr>
          <p:nvPr/>
        </p:nvSpPr>
        <p:spPr>
          <a:xfrm>
            <a:off x="1504950" y="5562600"/>
            <a:ext cx="9048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42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Listening remains part of the evaluation: these metrics catch obvious failure modes, but they do not replace musical judgment.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661D5-2C53-4AF3-8EF4-48BDD8FAC8D7}"/>
              </a:ext>
            </a:extLst>
          </p:cNvPr>
          <p:cNvSpPr>
            <a:spLocks noGrp="1"/>
          </p:cNvSpPr>
          <p:nvPr/>
        </p:nvSpPr>
        <p:spPr>
          <a:xfrm>
            <a:off x="419100" y="6496050"/>
            <a:ext cx="609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7B81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17C"/>
                </a:solidFill>
                <a:latin typeface="Aptos"/>
                <a:ea typeface="Aptos"/>
                <a:cs typeface="Aptos"/>
              </a:rPr>
              <a:t>BachBot | CSE 253 Assignment 2 | 09</a:t>
            </a:r>
          </a:p>
        </p:txBody>
      </p:sp>
    </p:spTree>
    <p:extLst>
      <p:ext uri="{BB962C8B-B14F-4D97-AF65-F5344CB8AC3E}">
        <p14:creationId xmlns:p14="http://schemas.microsoft.com/office/powerpoint/2010/main" val="172283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DD348DEC-F9B3-40AB-ADB5-21ADD90B58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27A0D2-AFD7-4A45-903B-29556F3BAE40}"/>
              </a:ext>
            </a:extLst>
          </p:cNvPr>
          <p:cNvSpPr>
            <a:spLocks noGrp="1"/>
          </p:cNvSpPr>
          <p:nvPr/>
        </p:nvSpPr>
        <p:spPr>
          <a:xfrm>
            <a:off x="419100" y="7048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C6F6E0-E8E1-47EA-8113-7EFFF431F430}"/>
              </a:ext>
            </a:extLst>
          </p:cNvPr>
          <p:cNvSpPr>
            <a:spLocks noGrp="1"/>
          </p:cNvSpPr>
          <p:nvPr/>
        </p:nvSpPr>
        <p:spPr>
          <a:xfrm>
            <a:off x="419100" y="8191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F89E99-7C47-4E95-AAF2-25C8D29D0C9E}"/>
              </a:ext>
            </a:extLst>
          </p:cNvPr>
          <p:cNvSpPr>
            <a:spLocks noGrp="1"/>
          </p:cNvSpPr>
          <p:nvPr/>
        </p:nvSpPr>
        <p:spPr>
          <a:xfrm>
            <a:off x="419100" y="9334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B77872-5015-4194-9DF4-59CBECA0294E}"/>
              </a:ext>
            </a:extLst>
          </p:cNvPr>
          <p:cNvSpPr>
            <a:spLocks noGrp="1"/>
          </p:cNvSpPr>
          <p:nvPr/>
        </p:nvSpPr>
        <p:spPr>
          <a:xfrm>
            <a:off x="419100" y="10477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C318B5-7236-423C-8CCB-889F94D7464F}"/>
              </a:ext>
            </a:extLst>
          </p:cNvPr>
          <p:cNvSpPr>
            <a:spLocks noGrp="1"/>
          </p:cNvSpPr>
          <p:nvPr/>
        </p:nvSpPr>
        <p:spPr>
          <a:xfrm>
            <a:off x="419100" y="11620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7C98DD-599C-4726-9BCA-64312FCE1006}"/>
              </a:ext>
            </a:extLst>
          </p:cNvPr>
          <p:cNvSpPr>
            <a:spLocks noGrp="1"/>
          </p:cNvSpPr>
          <p:nvPr/>
        </p:nvSpPr>
        <p:spPr>
          <a:xfrm>
            <a:off x="8458200" y="58102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A6EEF3-2A1C-4E68-981C-7DF2EA6C0C64}"/>
              </a:ext>
            </a:extLst>
          </p:cNvPr>
          <p:cNvSpPr>
            <a:spLocks noGrp="1"/>
          </p:cNvSpPr>
          <p:nvPr/>
        </p:nvSpPr>
        <p:spPr>
          <a:xfrm>
            <a:off x="8458200" y="59245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2E4DB7-FF83-4C8F-9135-79FE03727F3A}"/>
              </a:ext>
            </a:extLst>
          </p:cNvPr>
          <p:cNvSpPr>
            <a:spLocks noGrp="1"/>
          </p:cNvSpPr>
          <p:nvPr/>
        </p:nvSpPr>
        <p:spPr>
          <a:xfrm>
            <a:off x="8458200" y="60388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1A9612-0D85-4EAA-89CE-5234F6124D01}"/>
              </a:ext>
            </a:extLst>
          </p:cNvPr>
          <p:cNvSpPr>
            <a:spLocks noGrp="1"/>
          </p:cNvSpPr>
          <p:nvPr/>
        </p:nvSpPr>
        <p:spPr>
          <a:xfrm>
            <a:off x="8458200" y="61531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A83CF03-5965-48DB-936C-8D42833BDC35}"/>
              </a:ext>
            </a:extLst>
          </p:cNvPr>
          <p:cNvSpPr>
            <a:spLocks noGrp="1"/>
          </p:cNvSpPr>
          <p:nvPr/>
        </p:nvSpPr>
        <p:spPr>
          <a:xfrm>
            <a:off x="8458200" y="62674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F466C8-BFB8-4AAC-869B-2E0685B58A27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LISTENING DEMO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BCD6751-2511-407E-80F2-A2E9BF2C7813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rPr>
              <a:t>Play the final submitted MIDI files in a controlled order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547D2E-FD9D-450F-8F53-FDA830F29D4E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The instruments are separated so the SATB lines are easier to hear.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0C1C14-35CD-4D31-8018-DABA9FF1C9F9}"/>
              </a:ext>
            </a:extLst>
          </p:cNvPr>
          <p:cNvSpPr>
            <a:spLocks noGrp="1"/>
          </p:cNvSpPr>
          <p:nvPr/>
        </p:nvSpPr>
        <p:spPr>
          <a:xfrm>
            <a:off x="819150" y="2000250"/>
            <a:ext cx="4800600" cy="24003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8BB3C22-EB52-4E59-B712-1147E79946A5}"/>
              </a:ext>
            </a:extLst>
          </p:cNvPr>
          <p:cNvSpPr>
            <a:spLocks noGrp="1"/>
          </p:cNvSpPr>
          <p:nvPr/>
        </p:nvSpPr>
        <p:spPr>
          <a:xfrm>
            <a:off x="6572250" y="2000250"/>
            <a:ext cx="4800600" cy="240030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04EBAE-FD72-4112-953F-03106220DDF3}"/>
              </a:ext>
            </a:extLst>
          </p:cNvPr>
          <p:cNvSpPr>
            <a:spLocks noGrp="1"/>
          </p:cNvSpPr>
          <p:nvPr/>
        </p:nvSpPr>
        <p:spPr>
          <a:xfrm>
            <a:off x="1066800" y="226695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800" b="1">
                <a:solidFill>
                  <a:srgbClr val="3D6C8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D6C8E"/>
                </a:solidFill>
                <a:latin typeface="Aptos"/>
                <a:ea typeface="Aptos"/>
                <a:cs typeface="Aptos"/>
              </a:rPr>
              <a:t>1. symbolic_unconditioned.mid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4606E6-B0DA-48F6-A39E-7157F4B4A567}"/>
              </a:ext>
            </a:extLst>
          </p:cNvPr>
          <p:cNvSpPr>
            <a:spLocks noGrp="1"/>
          </p:cNvSpPr>
          <p:nvPr/>
        </p:nvSpPr>
        <p:spPr>
          <a:xfrm>
            <a:off x="1143000" y="29622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9A9D66-82EC-4704-BFB4-BF736487EB07}"/>
              </a:ext>
            </a:extLst>
          </p:cNvPr>
          <p:cNvSpPr>
            <a:spLocks noGrp="1"/>
          </p:cNvSpPr>
          <p:nvPr/>
        </p:nvSpPr>
        <p:spPr>
          <a:xfrm>
            <a:off x="1314450" y="2876550"/>
            <a:ext cx="3829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four-voice chorale generated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20C0635-47FF-479C-B331-8D0AA675E1A4}"/>
              </a:ext>
            </a:extLst>
          </p:cNvPr>
          <p:cNvSpPr>
            <a:spLocks noGrp="1"/>
          </p:cNvSpPr>
          <p:nvPr/>
        </p:nvSpPr>
        <p:spPr>
          <a:xfrm>
            <a:off x="1143000" y="34194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5862C8-502A-4650-B994-FFE1559FE05F}"/>
              </a:ext>
            </a:extLst>
          </p:cNvPr>
          <p:cNvSpPr>
            <a:spLocks noGrp="1"/>
          </p:cNvSpPr>
          <p:nvPr/>
        </p:nvSpPr>
        <p:spPr>
          <a:xfrm>
            <a:off x="1314450" y="3333750"/>
            <a:ext cx="3829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listen for variety, voice separation, and cadence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1C8D1D-E0BB-47ED-8559-C6498C2B1978}"/>
              </a:ext>
            </a:extLst>
          </p:cNvPr>
          <p:cNvSpPr>
            <a:spLocks noGrp="1"/>
          </p:cNvSpPr>
          <p:nvPr/>
        </p:nvSpPr>
        <p:spPr>
          <a:xfrm>
            <a:off x="1143000" y="38766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5D9D37-6514-4B72-A3C0-817161F84332}"/>
              </a:ext>
            </a:extLst>
          </p:cNvPr>
          <p:cNvSpPr>
            <a:spLocks noGrp="1"/>
          </p:cNvSpPr>
          <p:nvPr/>
        </p:nvSpPr>
        <p:spPr>
          <a:xfrm>
            <a:off x="1314450" y="3790950"/>
            <a:ext cx="3829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selected by candidate reranking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6A36C4-2AFD-43FF-BA4F-DD41A955B43B}"/>
              </a:ext>
            </a:extLst>
          </p:cNvPr>
          <p:cNvSpPr>
            <a:spLocks noGrp="1"/>
          </p:cNvSpPr>
          <p:nvPr/>
        </p:nvSpPr>
        <p:spPr>
          <a:xfrm>
            <a:off x="6819900" y="2266950"/>
            <a:ext cx="40957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800" b="1">
                <a:solidFill>
                  <a:srgbClr val="2D7D7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D7D74"/>
                </a:solidFill>
                <a:latin typeface="Aptos"/>
                <a:ea typeface="Aptos"/>
                <a:cs typeface="Aptos"/>
              </a:rPr>
              <a:t>2. symbolic_conditioned.mid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9B0B75A-C22D-4670-9516-A7C3D0B88147}"/>
              </a:ext>
            </a:extLst>
          </p:cNvPr>
          <p:cNvSpPr>
            <a:spLocks noGrp="1"/>
          </p:cNvSpPr>
          <p:nvPr/>
        </p:nvSpPr>
        <p:spPr>
          <a:xfrm>
            <a:off x="6896100" y="29622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308EEF-DA97-4C22-904C-81BE675856E5}"/>
              </a:ext>
            </a:extLst>
          </p:cNvPr>
          <p:cNvSpPr>
            <a:spLocks noGrp="1"/>
          </p:cNvSpPr>
          <p:nvPr/>
        </p:nvSpPr>
        <p:spPr>
          <a:xfrm>
            <a:off x="7067550" y="2876550"/>
            <a:ext cx="3829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custom soprano melody is fixed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BE3C2CD-4167-4B40-A69F-594C8DF84D30}"/>
              </a:ext>
            </a:extLst>
          </p:cNvPr>
          <p:cNvSpPr>
            <a:spLocks noGrp="1"/>
          </p:cNvSpPr>
          <p:nvPr/>
        </p:nvSpPr>
        <p:spPr>
          <a:xfrm>
            <a:off x="6896100" y="34194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C925042-863C-4E04-A52B-A482847AEEDE}"/>
              </a:ext>
            </a:extLst>
          </p:cNvPr>
          <p:cNvSpPr>
            <a:spLocks noGrp="1"/>
          </p:cNvSpPr>
          <p:nvPr/>
        </p:nvSpPr>
        <p:spPr>
          <a:xfrm>
            <a:off x="7067550" y="3333750"/>
            <a:ext cx="3829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lower voices generated by Bach-trained sampler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450A053-4028-49D7-8391-AA791D3CD451}"/>
              </a:ext>
            </a:extLst>
          </p:cNvPr>
          <p:cNvSpPr>
            <a:spLocks noGrp="1"/>
          </p:cNvSpPr>
          <p:nvPr/>
        </p:nvSpPr>
        <p:spPr>
          <a:xfrm>
            <a:off x="6896100" y="3876675"/>
            <a:ext cx="66675" cy="66675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1A73FE5-9D7D-4412-9394-28A53B60EE0D}"/>
              </a:ext>
            </a:extLst>
          </p:cNvPr>
          <p:cNvSpPr>
            <a:spLocks noGrp="1"/>
          </p:cNvSpPr>
          <p:nvPr/>
        </p:nvSpPr>
        <p:spPr>
          <a:xfrm>
            <a:off x="7067550" y="3790950"/>
            <a:ext cx="38290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35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listen for support under the soprano line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E96E11D-5579-4001-B685-5CD1E4465F5B}"/>
              </a:ext>
            </a:extLst>
          </p:cNvPr>
          <p:cNvSpPr>
            <a:spLocks noGrp="1"/>
          </p:cNvSpPr>
          <p:nvPr/>
        </p:nvSpPr>
        <p:spPr>
          <a:xfrm>
            <a:off x="2362200" y="5048250"/>
            <a:ext cx="14287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563EFC-0645-44A4-BA7B-607AE6F91503}"/>
              </a:ext>
            </a:extLst>
          </p:cNvPr>
          <p:cNvSpPr>
            <a:spLocks noGrp="1"/>
          </p:cNvSpPr>
          <p:nvPr/>
        </p:nvSpPr>
        <p:spPr>
          <a:xfrm>
            <a:off x="2362200" y="5048250"/>
            <a:ext cx="76200" cy="5524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D55DC6E-9F90-43E5-9724-31C0AEEAD279}"/>
              </a:ext>
            </a:extLst>
          </p:cNvPr>
          <p:cNvSpPr>
            <a:spLocks noGrp="1"/>
          </p:cNvSpPr>
          <p:nvPr/>
        </p:nvSpPr>
        <p:spPr>
          <a:xfrm>
            <a:off x="2533650" y="51244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soprano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3DCF4C5-6F88-4FCC-9F16-4C4DF7ABB5D4}"/>
              </a:ext>
            </a:extLst>
          </p:cNvPr>
          <p:cNvSpPr>
            <a:spLocks noGrp="1"/>
          </p:cNvSpPr>
          <p:nvPr/>
        </p:nvSpPr>
        <p:spPr>
          <a:xfrm>
            <a:off x="2533650" y="53340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flute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59558E-BAE4-4F2E-AAAC-4EE5F6DAA2BB}"/>
              </a:ext>
            </a:extLst>
          </p:cNvPr>
          <p:cNvSpPr>
            <a:spLocks noGrp="1"/>
          </p:cNvSpPr>
          <p:nvPr/>
        </p:nvSpPr>
        <p:spPr>
          <a:xfrm>
            <a:off x="4219575" y="5048250"/>
            <a:ext cx="14287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D73468D-A76C-44C1-BE44-2155859C6317}"/>
              </a:ext>
            </a:extLst>
          </p:cNvPr>
          <p:cNvSpPr>
            <a:spLocks noGrp="1"/>
          </p:cNvSpPr>
          <p:nvPr/>
        </p:nvSpPr>
        <p:spPr>
          <a:xfrm>
            <a:off x="4219575" y="5048250"/>
            <a:ext cx="76200" cy="552450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1B07676-0CCB-47A3-9A3D-39BCA0B9FD03}"/>
              </a:ext>
            </a:extLst>
          </p:cNvPr>
          <p:cNvSpPr>
            <a:spLocks noGrp="1"/>
          </p:cNvSpPr>
          <p:nvPr/>
        </p:nvSpPr>
        <p:spPr>
          <a:xfrm>
            <a:off x="4391025" y="51244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alto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ADB6E9B-6EF8-494D-8398-1EECAE4E47FF}"/>
              </a:ext>
            </a:extLst>
          </p:cNvPr>
          <p:cNvSpPr>
            <a:spLocks noGrp="1"/>
          </p:cNvSpPr>
          <p:nvPr/>
        </p:nvSpPr>
        <p:spPr>
          <a:xfrm>
            <a:off x="4391025" y="53340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oboe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67B9B2A-9AB8-43A3-AED7-771019AD7534}"/>
              </a:ext>
            </a:extLst>
          </p:cNvPr>
          <p:cNvSpPr>
            <a:spLocks noGrp="1"/>
          </p:cNvSpPr>
          <p:nvPr/>
        </p:nvSpPr>
        <p:spPr>
          <a:xfrm>
            <a:off x="6076950" y="5048250"/>
            <a:ext cx="14287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E0B95F0-D83E-4F8D-AA1C-D20209C24D14}"/>
              </a:ext>
            </a:extLst>
          </p:cNvPr>
          <p:cNvSpPr>
            <a:spLocks noGrp="1"/>
          </p:cNvSpPr>
          <p:nvPr/>
        </p:nvSpPr>
        <p:spPr>
          <a:xfrm>
            <a:off x="6076950" y="5048250"/>
            <a:ext cx="76200" cy="5524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9E4CC69-E894-4314-AD5B-228EF6DCC83C}"/>
              </a:ext>
            </a:extLst>
          </p:cNvPr>
          <p:cNvSpPr>
            <a:spLocks noGrp="1"/>
          </p:cNvSpPr>
          <p:nvPr/>
        </p:nvSpPr>
        <p:spPr>
          <a:xfrm>
            <a:off x="6248400" y="51244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tenor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AC8F075-0F87-48C9-9662-AC5D4E79D80F}"/>
              </a:ext>
            </a:extLst>
          </p:cNvPr>
          <p:cNvSpPr>
            <a:spLocks noGrp="1"/>
          </p:cNvSpPr>
          <p:nvPr/>
        </p:nvSpPr>
        <p:spPr>
          <a:xfrm>
            <a:off x="6248400" y="53340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cello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A6CE73E-4799-4BFD-B077-21AE6052E134}"/>
              </a:ext>
            </a:extLst>
          </p:cNvPr>
          <p:cNvSpPr>
            <a:spLocks noGrp="1"/>
          </p:cNvSpPr>
          <p:nvPr/>
        </p:nvSpPr>
        <p:spPr>
          <a:xfrm>
            <a:off x="7934325" y="5048250"/>
            <a:ext cx="14287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2F82A85-9AAA-4C89-AA77-BDA74787ED04}"/>
              </a:ext>
            </a:extLst>
          </p:cNvPr>
          <p:cNvSpPr>
            <a:spLocks noGrp="1"/>
          </p:cNvSpPr>
          <p:nvPr/>
        </p:nvSpPr>
        <p:spPr>
          <a:xfrm>
            <a:off x="7934325" y="5048250"/>
            <a:ext cx="76200" cy="5524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6F59781-A9B0-4476-92CC-923B3D69C63D}"/>
              </a:ext>
            </a:extLst>
          </p:cNvPr>
          <p:cNvSpPr>
            <a:spLocks noGrp="1"/>
          </p:cNvSpPr>
          <p:nvPr/>
        </p:nvSpPr>
        <p:spPr>
          <a:xfrm>
            <a:off x="8105775" y="5124450"/>
            <a:ext cx="1143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975" b="1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6865"/>
                </a:solidFill>
                <a:latin typeface="Aptos"/>
                <a:ea typeface="Aptos"/>
                <a:cs typeface="Aptos"/>
              </a:rPr>
              <a:t>bass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FDE2F2B-0177-4D34-B188-00C559369456}"/>
              </a:ext>
            </a:extLst>
          </p:cNvPr>
          <p:cNvSpPr>
            <a:spLocks noGrp="1"/>
          </p:cNvSpPr>
          <p:nvPr/>
        </p:nvSpPr>
        <p:spPr>
          <a:xfrm>
            <a:off x="8105775" y="5334000"/>
            <a:ext cx="11430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contrabass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2EBF07-1464-4779-AE95-7C3C2A5448A3}"/>
              </a:ext>
            </a:extLst>
          </p:cNvPr>
          <p:cNvSpPr>
            <a:spLocks noGrp="1"/>
          </p:cNvSpPr>
          <p:nvPr/>
        </p:nvSpPr>
        <p:spPr>
          <a:xfrm>
            <a:off x="419100" y="6496050"/>
            <a:ext cx="609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7B81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17C"/>
                </a:solidFill>
                <a:latin typeface="Aptos"/>
                <a:ea typeface="Aptos"/>
                <a:cs typeface="Aptos"/>
              </a:rPr>
              <a:t>BachBot | CSE 253 Assignment 2 | 10</a:t>
            </a:r>
          </a:p>
        </p:txBody>
      </p:sp>
    </p:spTree>
    <p:extLst>
      <p:ext uri="{BB962C8B-B14F-4D97-AF65-F5344CB8AC3E}">
        <p14:creationId xmlns:p14="http://schemas.microsoft.com/office/powerpoint/2010/main" val="11590156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6A9066CF-E23C-4ADB-AA85-638E0C32CE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4E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03BCF1-4AAD-4BFE-ADA7-2F5224FE93D7}"/>
              </a:ext>
            </a:extLst>
          </p:cNvPr>
          <p:cNvSpPr>
            <a:spLocks noGrp="1"/>
          </p:cNvSpPr>
          <p:nvPr/>
        </p:nvSpPr>
        <p:spPr>
          <a:xfrm>
            <a:off x="419100" y="7048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A499FD-64F8-4C43-BF07-8E0ACE05C245}"/>
              </a:ext>
            </a:extLst>
          </p:cNvPr>
          <p:cNvSpPr>
            <a:spLocks noGrp="1"/>
          </p:cNvSpPr>
          <p:nvPr/>
        </p:nvSpPr>
        <p:spPr>
          <a:xfrm>
            <a:off x="419100" y="8191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CB584D-FE13-4451-8582-985DD2A23E34}"/>
              </a:ext>
            </a:extLst>
          </p:cNvPr>
          <p:cNvSpPr>
            <a:spLocks noGrp="1"/>
          </p:cNvSpPr>
          <p:nvPr/>
        </p:nvSpPr>
        <p:spPr>
          <a:xfrm>
            <a:off x="419100" y="9334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454B5B9-4E17-4201-BC7D-554D9978F315}"/>
              </a:ext>
            </a:extLst>
          </p:cNvPr>
          <p:cNvSpPr>
            <a:spLocks noGrp="1"/>
          </p:cNvSpPr>
          <p:nvPr/>
        </p:nvSpPr>
        <p:spPr>
          <a:xfrm>
            <a:off x="419100" y="10477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3BB3A2-520E-4758-81CE-0220641B3142}"/>
              </a:ext>
            </a:extLst>
          </p:cNvPr>
          <p:cNvSpPr>
            <a:spLocks noGrp="1"/>
          </p:cNvSpPr>
          <p:nvPr/>
        </p:nvSpPr>
        <p:spPr>
          <a:xfrm>
            <a:off x="419100" y="1162050"/>
            <a:ext cx="342900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2A4568-A703-4F50-84A4-DD9669EB9C50}"/>
              </a:ext>
            </a:extLst>
          </p:cNvPr>
          <p:cNvSpPr>
            <a:spLocks noGrp="1"/>
          </p:cNvSpPr>
          <p:nvPr/>
        </p:nvSpPr>
        <p:spPr>
          <a:xfrm>
            <a:off x="8458200" y="58102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2F984F-C2B5-45C7-A6D2-DB33D9D17CF9}"/>
              </a:ext>
            </a:extLst>
          </p:cNvPr>
          <p:cNvSpPr>
            <a:spLocks noGrp="1"/>
          </p:cNvSpPr>
          <p:nvPr/>
        </p:nvSpPr>
        <p:spPr>
          <a:xfrm>
            <a:off x="8458200" y="59245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080CC01-A616-43DA-9C92-AEECF4B2CE03}"/>
              </a:ext>
            </a:extLst>
          </p:cNvPr>
          <p:cNvSpPr>
            <a:spLocks noGrp="1"/>
          </p:cNvSpPr>
          <p:nvPr/>
        </p:nvSpPr>
        <p:spPr>
          <a:xfrm>
            <a:off x="8458200" y="60388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41BA90-F427-4424-86FA-80DA5A7F6DF4}"/>
              </a:ext>
            </a:extLst>
          </p:cNvPr>
          <p:cNvSpPr>
            <a:spLocks noGrp="1"/>
          </p:cNvSpPr>
          <p:nvPr/>
        </p:nvSpPr>
        <p:spPr>
          <a:xfrm>
            <a:off x="8458200" y="61531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0E29666-959C-49A8-8B46-A2C2FAD911B2}"/>
              </a:ext>
            </a:extLst>
          </p:cNvPr>
          <p:cNvSpPr>
            <a:spLocks noGrp="1"/>
          </p:cNvSpPr>
          <p:nvPr/>
        </p:nvSpPr>
        <p:spPr>
          <a:xfrm>
            <a:off x="8458200" y="6267450"/>
            <a:ext cx="3143250" cy="9525"/>
          </a:xfrm>
          <a:prstGeom prst="rect">
            <a:avLst/>
          </a:prstGeom>
          <a:solidFill>
            <a:srgbClr val="DDD5C5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126E5B-1764-4DB4-A2DF-6BF46B24DBFA}"/>
              </a:ext>
            </a:extLst>
          </p:cNvPr>
          <p:cNvSpPr>
            <a:spLocks noGrp="1"/>
          </p:cNvSpPr>
          <p:nvPr/>
        </p:nvSpPr>
        <p:spPr>
          <a:xfrm>
            <a:off x="552450" y="323850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C99B3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9B3D"/>
                </a:solidFill>
                <a:latin typeface="Aptos"/>
                <a:ea typeface="Aptos"/>
                <a:cs typeface="Aptos"/>
              </a:rPr>
              <a:t>RELATED WORK AND LIMITS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87480E-D54B-4C29-9FE8-FF5A29C8C1F2}"/>
              </a:ext>
            </a:extLst>
          </p:cNvPr>
          <p:cNvSpPr>
            <a:spLocks noGrp="1"/>
          </p:cNvSpPr>
          <p:nvPr/>
        </p:nvSpPr>
        <p:spPr>
          <a:xfrm>
            <a:off x="533400" y="60960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1D2424"/>
                </a:solidFill>
                <a:latin typeface="Aptos Display"/>
                <a:ea typeface="Aptos Display"/>
                <a:cs typeface="Aptos Display"/>
              </a:rPr>
              <a:t>BachBot is a class-scale version of a larger symbolic music problem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3C2B76-3616-4BA7-8676-024409DBA257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The strongest future gains would come from longer-range modeling and stronger harmony constraints.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55A64E-AC5B-4EE8-8C10-6D75CF18F4C3}"/>
              </a:ext>
            </a:extLst>
          </p:cNvPr>
          <p:cNvSpPr>
            <a:spLocks noGrp="1"/>
          </p:cNvSpPr>
          <p:nvPr/>
        </p:nvSpPr>
        <p:spPr>
          <a:xfrm>
            <a:off x="723900" y="1962150"/>
            <a:ext cx="1028700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93F4B8F-D1C6-4F19-B54B-C6170B14B9A4}"/>
              </a:ext>
            </a:extLst>
          </p:cNvPr>
          <p:cNvSpPr>
            <a:spLocks noGrp="1"/>
          </p:cNvSpPr>
          <p:nvPr/>
        </p:nvSpPr>
        <p:spPr>
          <a:xfrm>
            <a:off x="723900" y="1962150"/>
            <a:ext cx="85725" cy="819150"/>
          </a:xfrm>
          <a:prstGeom prst="rect">
            <a:avLst/>
          </a:prstGeom>
          <a:solidFill>
            <a:srgbClr val="C99B3D"/>
          </a:solidFill>
          <a:ln w="0">
            <a:solidFill>
              <a:srgbClr val="C99B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2BDD564-772E-4BF3-A164-53F52E2F847D}"/>
              </a:ext>
            </a:extLst>
          </p:cNvPr>
          <p:cNvSpPr>
            <a:spLocks noGrp="1"/>
          </p:cNvSpPr>
          <p:nvPr/>
        </p:nvSpPr>
        <p:spPr>
          <a:xfrm>
            <a:off x="1009650" y="2133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8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DeepBach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6CECD5-6BDC-41ED-B688-D050B4AA132B}"/>
              </a:ext>
            </a:extLst>
          </p:cNvPr>
          <p:cNvSpPr>
            <a:spLocks noGrp="1"/>
          </p:cNvSpPr>
          <p:nvPr/>
        </p:nvSpPr>
        <p:spPr>
          <a:xfrm>
            <a:off x="3352800" y="2095500"/>
            <a:ext cx="3429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Bach chorale generation and harmonization with conditional resampling.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98DE62-46D0-407B-B0BE-600E0C911898}"/>
              </a:ext>
            </a:extLst>
          </p:cNvPr>
          <p:cNvSpPr>
            <a:spLocks noGrp="1"/>
          </p:cNvSpPr>
          <p:nvPr/>
        </p:nvSpPr>
        <p:spPr>
          <a:xfrm>
            <a:off x="7086600" y="2095500"/>
            <a:ext cx="3524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We implement a lightweight Gibbs-inspired demo trained on our processed corpus.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FC3A740-C618-4F82-B2BD-E545657E1A51}"/>
              </a:ext>
            </a:extLst>
          </p:cNvPr>
          <p:cNvSpPr>
            <a:spLocks noGrp="1"/>
          </p:cNvSpPr>
          <p:nvPr/>
        </p:nvSpPr>
        <p:spPr>
          <a:xfrm>
            <a:off x="723900" y="3067050"/>
            <a:ext cx="1028700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3BB6DF-F752-4D43-8A1F-6BBFCE384E78}"/>
              </a:ext>
            </a:extLst>
          </p:cNvPr>
          <p:cNvSpPr>
            <a:spLocks noGrp="1"/>
          </p:cNvSpPr>
          <p:nvPr/>
        </p:nvSpPr>
        <p:spPr>
          <a:xfrm>
            <a:off x="723900" y="3067050"/>
            <a:ext cx="85725" cy="819150"/>
          </a:xfrm>
          <a:prstGeom prst="rect">
            <a:avLst/>
          </a:prstGeom>
          <a:solidFill>
            <a:srgbClr val="3D6C8E"/>
          </a:solidFill>
          <a:ln w="0">
            <a:solidFill>
              <a:srgbClr val="3D6C8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C55CF5-C37D-4FDC-BFAC-60511740FCFE}"/>
              </a:ext>
            </a:extLst>
          </p:cNvPr>
          <p:cNvSpPr>
            <a:spLocks noGrp="1"/>
          </p:cNvSpPr>
          <p:nvPr/>
        </p:nvSpPr>
        <p:spPr>
          <a:xfrm>
            <a:off x="1009650" y="32385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8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Music Transformer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A3AF3F-65AC-41EC-8CB9-FC472A318D3E}"/>
              </a:ext>
            </a:extLst>
          </p:cNvPr>
          <p:cNvSpPr>
            <a:spLocks noGrp="1"/>
          </p:cNvSpPr>
          <p:nvPr/>
        </p:nvSpPr>
        <p:spPr>
          <a:xfrm>
            <a:off x="3352800" y="3200400"/>
            <a:ext cx="3429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Self-attention can model longer phrase-level symbolic structure.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F6963ED-2A1F-4EAF-970F-C7DE85635FD9}"/>
              </a:ext>
            </a:extLst>
          </p:cNvPr>
          <p:cNvSpPr>
            <a:spLocks noGrp="1"/>
          </p:cNvSpPr>
          <p:nvPr/>
        </p:nvSpPr>
        <p:spPr>
          <a:xfrm>
            <a:off x="7086600" y="3200400"/>
            <a:ext cx="3524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Our GRUs are cheaper to train and simpler to explain for the assignment.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168AE7B-5996-429D-91D7-E6EB60DBE7C4}"/>
              </a:ext>
            </a:extLst>
          </p:cNvPr>
          <p:cNvSpPr>
            <a:spLocks noGrp="1"/>
          </p:cNvSpPr>
          <p:nvPr/>
        </p:nvSpPr>
        <p:spPr>
          <a:xfrm>
            <a:off x="723900" y="4171950"/>
            <a:ext cx="10287000" cy="819150"/>
          </a:xfrm>
          <a:prstGeom prst="rect">
            <a:avLst/>
          </a:prstGeom>
          <a:solidFill>
            <a:srgbClr val="FFFFFF"/>
          </a:solidFill>
          <a:ln w="9525">
            <a:solidFill>
              <a:srgbClr val="D5CC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14A52C2-BBE7-4943-971B-1C5FF7ACDB48}"/>
              </a:ext>
            </a:extLst>
          </p:cNvPr>
          <p:cNvSpPr>
            <a:spLocks noGrp="1"/>
          </p:cNvSpPr>
          <p:nvPr/>
        </p:nvSpPr>
        <p:spPr>
          <a:xfrm>
            <a:off x="723900" y="4171950"/>
            <a:ext cx="85725" cy="819150"/>
          </a:xfrm>
          <a:prstGeom prst="rect">
            <a:avLst/>
          </a:prstGeom>
          <a:solidFill>
            <a:srgbClr val="2D7D74"/>
          </a:solidFill>
          <a:ln w="0">
            <a:solidFill>
              <a:srgbClr val="2D7D7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3FF2B-B92D-4625-800F-1735CC835AF6}"/>
              </a:ext>
            </a:extLst>
          </p:cNvPr>
          <p:cNvSpPr>
            <a:spLocks noGrp="1"/>
          </p:cNvSpPr>
          <p:nvPr/>
        </p:nvSpPr>
        <p:spPr>
          <a:xfrm>
            <a:off x="1009650" y="43434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800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Bach chorales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0EC0C98-D84C-4FED-A4C4-222BF04ACC3E}"/>
              </a:ext>
            </a:extLst>
          </p:cNvPr>
          <p:cNvSpPr>
            <a:spLocks noGrp="1"/>
          </p:cNvSpPr>
          <p:nvPr/>
        </p:nvSpPr>
        <p:spPr>
          <a:xfrm>
            <a:off x="3352800" y="4305300"/>
            <a:ext cx="34290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0">
                <a:solidFill>
                  <a:srgbClr val="5E686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6865"/>
                </a:solidFill>
                <a:latin typeface="Aptos"/>
                <a:ea typeface="Aptos"/>
                <a:cs typeface="Aptos"/>
              </a:rPr>
              <a:t>Compact four-voice benchmark with interpretable music-theory checks.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914E17-D595-4E8A-85C8-78AC443C2323}"/>
              </a:ext>
            </a:extLst>
          </p:cNvPr>
          <p:cNvSpPr>
            <a:spLocks noGrp="1"/>
          </p:cNvSpPr>
          <p:nvPr/>
        </p:nvSpPr>
        <p:spPr>
          <a:xfrm>
            <a:off x="7086600" y="4305300"/>
            <a:ext cx="352425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75" b="1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424"/>
                </a:solidFill>
                <a:latin typeface="Aptos"/>
                <a:ea typeface="Aptos"/>
                <a:cs typeface="Aptos"/>
              </a:rPr>
              <a:t>Great for evaluation, but not a complete model of all Western harmony.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56926A-782A-4BB7-AD2B-EB19C9531C3E}"/>
              </a:ext>
            </a:extLst>
          </p:cNvPr>
          <p:cNvSpPr>
            <a:spLocks noGrp="1"/>
          </p:cNvSpPr>
          <p:nvPr/>
        </p:nvSpPr>
        <p:spPr>
          <a:xfrm>
            <a:off x="1485900" y="5514975"/>
            <a:ext cx="66675" cy="66675"/>
          </a:xfrm>
          <a:prstGeom prst="rect">
            <a:avLst/>
          </a:prstGeom>
          <a:solidFill>
            <a:srgbClr val="A9584B"/>
          </a:solidFill>
          <a:ln w="0">
            <a:solidFill>
              <a:srgbClr val="A95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C695758-ADAB-48A6-B9D7-898E01276155}"/>
              </a:ext>
            </a:extLst>
          </p:cNvPr>
          <p:cNvSpPr>
            <a:spLocks noGrp="1"/>
          </p:cNvSpPr>
          <p:nvPr/>
        </p:nvSpPr>
        <p:spPr>
          <a:xfrm>
            <a:off x="1657350" y="5429250"/>
            <a:ext cx="8401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00" b="0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2424"/>
                </a:solidFill>
                <a:latin typeface="Aptos"/>
                <a:ea typeface="Aptos"/>
                <a:cs typeface="Aptos"/>
              </a:rPr>
              <a:t>Limit: fixed eighth-note grid simplifies rhythm.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D1BC75-E272-4682-AE2D-97F22D2327D5}"/>
              </a:ext>
            </a:extLst>
          </p:cNvPr>
          <p:cNvSpPr>
            <a:spLocks noGrp="1"/>
          </p:cNvSpPr>
          <p:nvPr/>
        </p:nvSpPr>
        <p:spPr>
          <a:xfrm>
            <a:off x="1485900" y="5800725"/>
            <a:ext cx="66675" cy="66675"/>
          </a:xfrm>
          <a:prstGeom prst="rect">
            <a:avLst/>
          </a:prstGeom>
          <a:solidFill>
            <a:srgbClr val="A9584B"/>
          </a:solidFill>
          <a:ln w="0">
            <a:solidFill>
              <a:srgbClr val="A95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E83E984-1205-4F38-9100-487900150B5D}"/>
              </a:ext>
            </a:extLst>
          </p:cNvPr>
          <p:cNvSpPr>
            <a:spLocks noGrp="1"/>
          </p:cNvSpPr>
          <p:nvPr/>
        </p:nvSpPr>
        <p:spPr>
          <a:xfrm>
            <a:off x="1657350" y="5715000"/>
            <a:ext cx="8401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00" b="0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2424"/>
                </a:solidFill>
                <a:latin typeface="Aptos"/>
                <a:ea typeface="Aptos"/>
                <a:cs typeface="Aptos"/>
              </a:rPr>
              <a:t>Limit: symbolic rules catch obvious failures, not full Bach harmony.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C635E8F-40A7-428D-8C21-A629F8760BAC}"/>
              </a:ext>
            </a:extLst>
          </p:cNvPr>
          <p:cNvSpPr>
            <a:spLocks noGrp="1"/>
          </p:cNvSpPr>
          <p:nvPr/>
        </p:nvSpPr>
        <p:spPr>
          <a:xfrm>
            <a:off x="1485900" y="6086475"/>
            <a:ext cx="66675" cy="66675"/>
          </a:xfrm>
          <a:prstGeom prst="rect">
            <a:avLst/>
          </a:prstGeom>
          <a:solidFill>
            <a:srgbClr val="668A4C"/>
          </a:solidFill>
          <a:ln w="0">
            <a:solidFill>
              <a:srgbClr val="668A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FB56406-617F-4DF5-B5BE-2E4EC2F84CE1}"/>
              </a:ext>
            </a:extLst>
          </p:cNvPr>
          <p:cNvSpPr>
            <a:spLocks noGrp="1"/>
          </p:cNvSpPr>
          <p:nvPr/>
        </p:nvSpPr>
        <p:spPr>
          <a:xfrm>
            <a:off x="1657350" y="6000750"/>
            <a:ext cx="84010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76200" tIns="47625" rIns="76200" bIns="47625" anchor="t"/>
          <a:lstStyle/>
          <a:p>
            <a:pPr algn="l">
              <a:defRPr sz="1200" b="0">
                <a:solidFill>
                  <a:srgbClr val="1D242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D2424"/>
                </a:solidFill>
                <a:latin typeface="Aptos"/>
                <a:ea typeface="Aptos"/>
                <a:cs typeface="Aptos"/>
              </a:rPr>
              <a:t>Next: train longer, add key-aware constraints, try Transformer-style context.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1526D77-880D-4F13-B327-1C95AC26E51F}"/>
              </a:ext>
            </a:extLst>
          </p:cNvPr>
          <p:cNvSpPr>
            <a:spLocks noGrp="1"/>
          </p:cNvSpPr>
          <p:nvPr/>
        </p:nvSpPr>
        <p:spPr>
          <a:xfrm>
            <a:off x="419100" y="6496050"/>
            <a:ext cx="609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7B81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7B817C"/>
                </a:solidFill>
                <a:latin typeface="Aptos"/>
                <a:ea typeface="Aptos"/>
                <a:cs typeface="Aptos"/>
              </a:rPr>
              <a:t>BachBot | CSE 253 Assignment 2 | 11</a:t>
            </a:r>
          </a:p>
        </p:txBody>
      </p:sp>
    </p:spTree>
    <p:extLst>
      <p:ext uri="{BB962C8B-B14F-4D97-AF65-F5344CB8AC3E}">
        <p14:creationId xmlns:p14="http://schemas.microsoft.com/office/powerpoint/2010/main" val="150132509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1049</Words>
  <Application>Microsoft Macintosh PowerPoint</Application>
  <DocSecurity>0</DocSecurity>
  <PresentationFormat>Widescreen</PresentationFormat>
  <Paragraphs>176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Aptos Mono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WEIQI ZHOU</cp:lastModifiedBy>
  <cp:revision>1</cp:revision>
  <dcterms:created xsi:type="dcterms:W3CDTF">2026-05-31T05:15:36Z</dcterms:created>
  <dcterms:modified xsi:type="dcterms:W3CDTF">2026-05-31T05:43:16Z</dcterms:modified>
</cp:coreProperties>
</file>