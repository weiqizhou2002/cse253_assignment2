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05" d="100"/>
          <a:sy n="105" d="100"/>
        </p:scale>
        <p:origin x="13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E559081-EC92-4F18-A3FF-ED547C78C2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A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B18C72A-907E-4EAC-A1DE-E80D0CF27F2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66700" cy="28575"/>
          </a:xfrm>
          <a:prstGeom prst="rect">
            <a:avLst/>
          </a:prstGeom>
          <a:solidFill>
            <a:srgbClr val="C994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8D99201-E81B-4173-820A-1B01D8053341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99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42F"/>
                </a:solidFill>
                <a:latin typeface="Aptos"/>
                <a:ea typeface="Aptos"/>
                <a:cs typeface="Aptos"/>
              </a:rPr>
              <a:t>CSE 153/253 ASSIGNMENT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5CA86-83CF-445E-9AD8-CB7D513F8E1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4953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BachBot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83E0B-C630-40E7-8864-C69CE33F7605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7810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Two symbolic generation systems, one reproducible chorale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290B7-49EA-48B0-A828-B2F2CADF607C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7334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8DED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EDC"/>
                </a:solidFill>
                <a:latin typeface="Aptos"/>
                <a:ea typeface="Aptos"/>
                <a:cs typeface="Aptos"/>
              </a:rPr>
              <a:t>Unconditioned SATB generation + soprano-conditioned harmonization, trained with lightweight neural models and evaluated with ML and music-theory metrics.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71A78C-5BAB-4B83-99D2-7FE75B7735EC}"/>
              </a:ext>
            </a:extLst>
          </p:cNvPr>
          <p:cNvSpPr>
            <a:spLocks noGrp="1"/>
          </p:cNvSpPr>
          <p:nvPr/>
        </p:nvSpPr>
        <p:spPr>
          <a:xfrm>
            <a:off x="8477250" y="1162050"/>
            <a:ext cx="2724150" cy="19050"/>
          </a:xfrm>
          <a:prstGeom prst="rect">
            <a:avLst/>
          </a:prstGeom>
          <a:solidFill>
            <a:srgbClr val="6F77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CAD28-3412-4A50-BC2F-3A72BB54830F}"/>
              </a:ext>
            </a:extLst>
          </p:cNvPr>
          <p:cNvSpPr>
            <a:spLocks noGrp="1"/>
          </p:cNvSpPr>
          <p:nvPr/>
        </p:nvSpPr>
        <p:spPr>
          <a:xfrm>
            <a:off x="8477250" y="1390650"/>
            <a:ext cx="2724150" cy="19050"/>
          </a:xfrm>
          <a:prstGeom prst="rect">
            <a:avLst/>
          </a:prstGeom>
          <a:solidFill>
            <a:srgbClr val="6F77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70D5BA-CE53-4443-A86A-C63CE2581903}"/>
              </a:ext>
            </a:extLst>
          </p:cNvPr>
          <p:cNvSpPr>
            <a:spLocks noGrp="1"/>
          </p:cNvSpPr>
          <p:nvPr/>
        </p:nvSpPr>
        <p:spPr>
          <a:xfrm>
            <a:off x="8477250" y="1619250"/>
            <a:ext cx="2724150" cy="19050"/>
          </a:xfrm>
          <a:prstGeom prst="rect">
            <a:avLst/>
          </a:prstGeom>
          <a:solidFill>
            <a:srgbClr val="6F77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B86CB-6854-4A20-8C05-8BEF4644B95D}"/>
              </a:ext>
            </a:extLst>
          </p:cNvPr>
          <p:cNvSpPr>
            <a:spLocks noGrp="1"/>
          </p:cNvSpPr>
          <p:nvPr/>
        </p:nvSpPr>
        <p:spPr>
          <a:xfrm>
            <a:off x="8477250" y="1847850"/>
            <a:ext cx="2724150" cy="19050"/>
          </a:xfrm>
          <a:prstGeom prst="rect">
            <a:avLst/>
          </a:prstGeom>
          <a:solidFill>
            <a:srgbClr val="6F77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E51A2D-4E71-4DE7-8EDC-59ED2B1086B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724150" cy="19050"/>
          </a:xfrm>
          <a:prstGeom prst="rect">
            <a:avLst/>
          </a:prstGeom>
          <a:solidFill>
            <a:srgbClr val="6F77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F154C3-FF95-4E87-8F85-7B05BFEFC6AA}"/>
              </a:ext>
            </a:extLst>
          </p:cNvPr>
          <p:cNvSpPr>
            <a:spLocks noGrp="1"/>
          </p:cNvSpPr>
          <p:nvPr/>
        </p:nvSpPr>
        <p:spPr>
          <a:xfrm>
            <a:off x="8953500" y="1504950"/>
            <a:ext cx="228600" cy="171450"/>
          </a:xfrm>
          <a:prstGeom prst="ellipse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E4F66-6498-4294-9850-4AB7DCF99159}"/>
              </a:ext>
            </a:extLst>
          </p:cNvPr>
          <p:cNvSpPr>
            <a:spLocks noGrp="1"/>
          </p:cNvSpPr>
          <p:nvPr/>
        </p:nvSpPr>
        <p:spPr>
          <a:xfrm>
            <a:off x="9153525" y="1104900"/>
            <a:ext cx="28575" cy="495300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1D39A1C-D8AF-47CB-8336-792394F399E4}"/>
              </a:ext>
            </a:extLst>
          </p:cNvPr>
          <p:cNvSpPr>
            <a:spLocks noGrp="1"/>
          </p:cNvSpPr>
          <p:nvPr/>
        </p:nvSpPr>
        <p:spPr>
          <a:xfrm>
            <a:off x="9601200" y="1276350"/>
            <a:ext cx="228600" cy="171450"/>
          </a:xfrm>
          <a:prstGeom prst="ellipse">
            <a:avLst/>
          </a:prstGeom>
          <a:solidFill>
            <a:srgbClr val="C994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4D2E1-0C4F-4343-8F00-818183E2FE3A}"/>
              </a:ext>
            </a:extLst>
          </p:cNvPr>
          <p:cNvSpPr>
            <a:spLocks noGrp="1"/>
          </p:cNvSpPr>
          <p:nvPr/>
        </p:nvSpPr>
        <p:spPr>
          <a:xfrm>
            <a:off x="9801225" y="876300"/>
            <a:ext cx="28575" cy="495300"/>
          </a:xfrm>
          <a:prstGeom prst="rect">
            <a:avLst/>
          </a:prstGeom>
          <a:solidFill>
            <a:srgbClr val="C994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7F91A5-63F2-4167-9D53-09B21FCF735B}"/>
              </a:ext>
            </a:extLst>
          </p:cNvPr>
          <p:cNvSpPr>
            <a:spLocks noGrp="1"/>
          </p:cNvSpPr>
          <p:nvPr/>
        </p:nvSpPr>
        <p:spPr>
          <a:xfrm>
            <a:off x="10267950" y="1733550"/>
            <a:ext cx="228600" cy="171450"/>
          </a:xfrm>
          <a:prstGeom prst="ellipse">
            <a:avLst/>
          </a:prstGeom>
          <a:solidFill>
            <a:srgbClr val="B33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3AE1AE-A311-41AD-8964-309CD769B14C}"/>
              </a:ext>
            </a:extLst>
          </p:cNvPr>
          <p:cNvSpPr>
            <a:spLocks noGrp="1"/>
          </p:cNvSpPr>
          <p:nvPr/>
        </p:nvSpPr>
        <p:spPr>
          <a:xfrm>
            <a:off x="10467975" y="1333500"/>
            <a:ext cx="28575" cy="495300"/>
          </a:xfrm>
          <a:prstGeom prst="rect">
            <a:avLst/>
          </a:prstGeom>
          <a:solidFill>
            <a:srgbClr val="B33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ED9FA8-0E5B-4319-B796-684B39D7F345}"/>
              </a:ext>
            </a:extLst>
          </p:cNvPr>
          <p:cNvSpPr>
            <a:spLocks noGrp="1"/>
          </p:cNvSpPr>
          <p:nvPr/>
        </p:nvSpPr>
        <p:spPr>
          <a:xfrm>
            <a:off x="10801350" y="1390650"/>
            <a:ext cx="228600" cy="171450"/>
          </a:xfrm>
          <a:prstGeom prst="ellipse">
            <a:avLst/>
          </a:prstGeom>
          <a:solidFill>
            <a:srgbClr val="3A6E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315143-6060-4BFB-93E8-582713A02802}"/>
              </a:ext>
            </a:extLst>
          </p:cNvPr>
          <p:cNvSpPr>
            <a:spLocks noGrp="1"/>
          </p:cNvSpPr>
          <p:nvPr/>
        </p:nvSpPr>
        <p:spPr>
          <a:xfrm>
            <a:off x="11001375" y="990600"/>
            <a:ext cx="28575" cy="495300"/>
          </a:xfrm>
          <a:prstGeom prst="rect">
            <a:avLst/>
          </a:prstGeom>
          <a:solidFill>
            <a:srgbClr val="3A6E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8E2435-6E3E-4C20-BFCC-A14EAAE0707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444B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99432E-A96F-4F6E-84F8-E79D43F171E5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C9D0CE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C9D0CE"/>
                </a:solidFill>
                <a:latin typeface="Aptos Mono"/>
                <a:ea typeface="Aptos Mono"/>
                <a:cs typeface="Aptos Mono"/>
              </a:rPr>
              <a:t>01 / intro</a:t>
            </a:r>
          </a:p>
        </p:txBody>
      </p:sp>
    </p:spTree>
    <p:extLst>
      <p:ext uri="{BB962C8B-B14F-4D97-AF65-F5344CB8AC3E}">
        <p14:creationId xmlns:p14="http://schemas.microsoft.com/office/powerpoint/2010/main" val="560339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A498CA4-1C1C-4C84-91FC-0981DCDCA8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2B86C6A-896C-4764-AABE-F2212F3CF9D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C31FCBA-A3E8-4036-82EC-E40EB992A125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DATA REPRESENTATION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A06F88-9927-4F5F-B5C1-698E23BC16F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Every model sees chorales as an eighth-note SATB token grid.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7A3497-F3E5-42A3-B36E-0ADF9412C4E6}"/>
              </a:ext>
            </a:extLst>
          </p:cNvPr>
          <p:cNvSpPr>
            <a:spLocks noGrp="1"/>
          </p:cNvSpPr>
          <p:nvPr/>
        </p:nvSpPr>
        <p:spPr>
          <a:xfrm>
            <a:off x="8801100" y="781050"/>
            <a:ext cx="1066800" cy="285750"/>
          </a:xfrm>
          <a:prstGeom prst="rect">
            <a:avLst/>
          </a:prstGeom>
          <a:solidFill>
            <a:srgbClr val="F1DDE4"/>
          </a:solidFill>
          <a:ln w="9525">
            <a:solidFill>
              <a:srgbClr val="B3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37C90-9B2A-4CEF-84B6-9ACFBC852B0B}"/>
              </a:ext>
            </a:extLst>
          </p:cNvPr>
          <p:cNvSpPr>
            <a:spLocks noGrp="1"/>
          </p:cNvSpPr>
          <p:nvPr/>
        </p:nvSpPr>
        <p:spPr>
          <a:xfrm>
            <a:off x="8896350" y="83820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B33A5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33A5B"/>
                </a:solidFill>
                <a:latin typeface="Aptos"/>
                <a:ea typeface="Aptos"/>
                <a:cs typeface="Aptos"/>
              </a:rPr>
              <a:t>This run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CC4EE-7342-45CC-AE58-2CD1743B4DCA}"/>
              </a:ext>
            </a:extLst>
          </p:cNvPr>
          <p:cNvSpPr>
            <a:spLocks noGrp="1"/>
          </p:cNvSpPr>
          <p:nvPr/>
        </p:nvSpPr>
        <p:spPr>
          <a:xfrm>
            <a:off x="9944100" y="800100"/>
            <a:ext cx="1562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B33A5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33A5B"/>
                </a:solidFill>
                <a:latin typeface="Aptos"/>
                <a:ea typeface="Aptos"/>
                <a:cs typeface="Aptos"/>
              </a:rPr>
              <a:t>Used deterministic chorale-style fallback corpus because `music21` was unavailable.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CAE42-F60F-4973-B60D-827D9CBAB8BA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1790700" cy="72390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34E5F-0B24-4080-A479-DDF0962E9273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52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Score / fallback chorale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2F348-C62D-4C7F-B8D4-FD765B4D7003}"/>
              </a:ext>
            </a:extLst>
          </p:cNvPr>
          <p:cNvSpPr>
            <a:spLocks noGrp="1"/>
          </p:cNvSpPr>
          <p:nvPr/>
        </p:nvSpPr>
        <p:spPr>
          <a:xfrm>
            <a:off x="2724150" y="24193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CD71CD-66F8-4FC1-A7D4-08FC290A9DEF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1790700" cy="72390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11E74-4655-44E1-AD52-85616F95C035}"/>
              </a:ext>
            </a:extLst>
          </p:cNvPr>
          <p:cNvSpPr>
            <a:spLocks noGrp="1"/>
          </p:cNvSpPr>
          <p:nvPr/>
        </p:nvSpPr>
        <p:spPr>
          <a:xfrm>
            <a:off x="3352800" y="2286000"/>
            <a:ext cx="152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Quantize</a:t>
            </a:r>
          </a:p>
          <a:p>
            <a:pPr algn="ctr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 quarterLength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4D05-1217-4C72-A0E8-4EED088DDC82}"/>
              </a:ext>
            </a:extLst>
          </p:cNvPr>
          <p:cNvSpPr>
            <a:spLocks noGrp="1"/>
          </p:cNvSpPr>
          <p:nvPr/>
        </p:nvSpPr>
        <p:spPr>
          <a:xfrm>
            <a:off x="5124450" y="24193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53586-9876-47E3-A2A1-9CA826F66EE4}"/>
              </a:ext>
            </a:extLst>
          </p:cNvPr>
          <p:cNvSpPr>
            <a:spLocks noGrp="1"/>
          </p:cNvSpPr>
          <p:nvPr/>
        </p:nvSpPr>
        <p:spPr>
          <a:xfrm>
            <a:off x="5619750" y="2190750"/>
            <a:ext cx="1790700" cy="72390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059839-EF83-4587-A790-A6ECA5A2C502}"/>
              </a:ext>
            </a:extLst>
          </p:cNvPr>
          <p:cNvSpPr>
            <a:spLocks noGrp="1"/>
          </p:cNvSpPr>
          <p:nvPr/>
        </p:nvSpPr>
        <p:spPr>
          <a:xfrm>
            <a:off x="5753100" y="2286000"/>
            <a:ext cx="152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T x 4 matrix</a:t>
            </a:r>
          </a:p>
          <a:p>
            <a:pPr algn="ctr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 A T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8F1EBC-3A17-4E15-9CDA-E6502572F329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18739A-E05D-4E9F-8F14-D32DB09FD40F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23431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3A2A66-3909-46E2-8DB2-2C52DE89659D}"/>
              </a:ext>
            </a:extLst>
          </p:cNvPr>
          <p:cNvSpPr>
            <a:spLocks noGrp="1"/>
          </p:cNvSpPr>
          <p:nvPr/>
        </p:nvSpPr>
        <p:spPr>
          <a:xfrm>
            <a:off x="8153400" y="228600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Token ids</a:t>
            </a:r>
          </a:p>
          <a:p>
            <a:pPr algn="ctr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PAD REST HOLD START END + MIDI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F0A27F-7502-4D99-B5BC-7DE9E3D5F20F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52197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0AA0CD-7EA9-4337-AE9E-A3AA23C4F440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SATB grid example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E0F86A-DC67-46E8-8577-F17BEC402DA2}"/>
              </a:ext>
            </a:extLst>
          </p:cNvPr>
          <p:cNvSpPr>
            <a:spLocks noGrp="1"/>
          </p:cNvSpPr>
          <p:nvPr/>
        </p:nvSpPr>
        <p:spPr>
          <a:xfrm>
            <a:off x="1200150" y="4133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3F44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FE536B-1909-48D0-962C-04AE905701AB}"/>
              </a:ext>
            </a:extLst>
          </p:cNvPr>
          <p:cNvSpPr>
            <a:spLocks noGrp="1"/>
          </p:cNvSpPr>
          <p:nvPr/>
        </p:nvSpPr>
        <p:spPr>
          <a:xfrm>
            <a:off x="2095500" y="4133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3F44"/>
                </a:solidFill>
                <a:latin typeface="Aptos"/>
                <a:ea typeface="Aptos"/>
                <a:cs typeface="Aptos"/>
              </a:rPr>
              <a:t>soprano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42E3AE-5E82-4D9E-9043-C5534503579A}"/>
              </a:ext>
            </a:extLst>
          </p:cNvPr>
          <p:cNvSpPr>
            <a:spLocks noGrp="1"/>
          </p:cNvSpPr>
          <p:nvPr/>
        </p:nvSpPr>
        <p:spPr>
          <a:xfrm>
            <a:off x="2990850" y="4133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3F44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0E0579-2C43-499D-A40D-97EB1B72CAF2}"/>
              </a:ext>
            </a:extLst>
          </p:cNvPr>
          <p:cNvSpPr>
            <a:spLocks noGrp="1"/>
          </p:cNvSpPr>
          <p:nvPr/>
        </p:nvSpPr>
        <p:spPr>
          <a:xfrm>
            <a:off x="3886200" y="4133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3F44"/>
                </a:solidFill>
                <a:latin typeface="Aptos"/>
                <a:ea typeface="Aptos"/>
                <a:cs typeface="Aptos"/>
              </a:rPr>
              <a:t>tenor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329ACA-4FF2-41CF-99CD-6DEC3059C58D}"/>
              </a:ext>
            </a:extLst>
          </p:cNvPr>
          <p:cNvSpPr>
            <a:spLocks noGrp="1"/>
          </p:cNvSpPr>
          <p:nvPr/>
        </p:nvSpPr>
        <p:spPr>
          <a:xfrm>
            <a:off x="4781550" y="4133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3F44"/>
                </a:solidFill>
                <a:latin typeface="Aptos"/>
                <a:ea typeface="Aptos"/>
                <a:cs typeface="Aptos"/>
              </a:rPr>
              <a:t>bass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C14948-1A1B-4B03-987D-4AC73AB73C2C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46863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618FDF-A659-4E44-857A-3F08C664611E}"/>
              </a:ext>
            </a:extLst>
          </p:cNvPr>
          <p:cNvSpPr>
            <a:spLocks noGrp="1"/>
          </p:cNvSpPr>
          <p:nvPr/>
        </p:nvSpPr>
        <p:spPr>
          <a:xfrm>
            <a:off x="1200150" y="44386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17C32F-25CA-4831-BA2B-5D617972AEE9}"/>
              </a:ext>
            </a:extLst>
          </p:cNvPr>
          <p:cNvSpPr>
            <a:spLocks noGrp="1"/>
          </p:cNvSpPr>
          <p:nvPr/>
        </p:nvSpPr>
        <p:spPr>
          <a:xfrm>
            <a:off x="2095500" y="44386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C7C34-E0D7-40D6-97FA-8AB1AB68702E}"/>
              </a:ext>
            </a:extLst>
          </p:cNvPr>
          <p:cNvSpPr>
            <a:spLocks noGrp="1"/>
          </p:cNvSpPr>
          <p:nvPr/>
        </p:nvSpPr>
        <p:spPr>
          <a:xfrm>
            <a:off x="2990850" y="44386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819BCA-107B-4124-B547-EE033AE06AAE}"/>
              </a:ext>
            </a:extLst>
          </p:cNvPr>
          <p:cNvSpPr>
            <a:spLocks noGrp="1"/>
          </p:cNvSpPr>
          <p:nvPr/>
        </p:nvSpPr>
        <p:spPr>
          <a:xfrm>
            <a:off x="3886200" y="44386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4B2F35-97F6-4A68-BF31-8795FA9DEA18}"/>
              </a:ext>
            </a:extLst>
          </p:cNvPr>
          <p:cNvSpPr>
            <a:spLocks noGrp="1"/>
          </p:cNvSpPr>
          <p:nvPr/>
        </p:nvSpPr>
        <p:spPr>
          <a:xfrm>
            <a:off x="4781550" y="44386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5B470E-D5FA-4179-A587-2A7A6FEB4711}"/>
              </a:ext>
            </a:extLst>
          </p:cNvPr>
          <p:cNvSpPr>
            <a:spLocks noGrp="1"/>
          </p:cNvSpPr>
          <p:nvPr/>
        </p:nvSpPr>
        <p:spPr>
          <a:xfrm>
            <a:off x="1104900" y="4648200"/>
            <a:ext cx="46863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43495D-40AE-4852-A55E-7178BFF9D5A1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t+1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FBE2A-D7BB-4805-815F-28A5F967025A}"/>
              </a:ext>
            </a:extLst>
          </p:cNvPr>
          <p:cNvSpPr>
            <a:spLocks noGrp="1"/>
          </p:cNvSpPr>
          <p:nvPr/>
        </p:nvSpPr>
        <p:spPr>
          <a:xfrm>
            <a:off x="2095500" y="47053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1F3F6B-1AC9-4BB5-A1DE-CEBF1A864F5D}"/>
              </a:ext>
            </a:extLst>
          </p:cNvPr>
          <p:cNvSpPr>
            <a:spLocks noGrp="1"/>
          </p:cNvSpPr>
          <p:nvPr/>
        </p:nvSpPr>
        <p:spPr>
          <a:xfrm>
            <a:off x="2990850" y="47053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6695FA-BA36-47D4-BB8F-08B1635C7653}"/>
              </a:ext>
            </a:extLst>
          </p:cNvPr>
          <p:cNvSpPr>
            <a:spLocks noGrp="1"/>
          </p:cNvSpPr>
          <p:nvPr/>
        </p:nvSpPr>
        <p:spPr>
          <a:xfrm>
            <a:off x="3886200" y="47053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CE4304-4C03-4848-9E61-E0A7ADC3FA78}"/>
              </a:ext>
            </a:extLst>
          </p:cNvPr>
          <p:cNvSpPr>
            <a:spLocks noGrp="1"/>
          </p:cNvSpPr>
          <p:nvPr/>
        </p:nvSpPr>
        <p:spPr>
          <a:xfrm>
            <a:off x="4781550" y="47053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3379EC-7219-4A91-BCE7-585FEFF29326}"/>
              </a:ext>
            </a:extLst>
          </p:cNvPr>
          <p:cNvSpPr>
            <a:spLocks noGrp="1"/>
          </p:cNvSpPr>
          <p:nvPr/>
        </p:nvSpPr>
        <p:spPr>
          <a:xfrm>
            <a:off x="1104900" y="4914900"/>
            <a:ext cx="46863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1A9383-305C-4DB6-A66D-6B5025818366}"/>
              </a:ext>
            </a:extLst>
          </p:cNvPr>
          <p:cNvSpPr>
            <a:spLocks noGrp="1"/>
          </p:cNvSpPr>
          <p:nvPr/>
        </p:nvSpPr>
        <p:spPr>
          <a:xfrm>
            <a:off x="1200150" y="4972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t+2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15293A-FB7B-4620-80CC-AB5F3EB7F345}"/>
              </a:ext>
            </a:extLst>
          </p:cNvPr>
          <p:cNvSpPr>
            <a:spLocks noGrp="1"/>
          </p:cNvSpPr>
          <p:nvPr/>
        </p:nvSpPr>
        <p:spPr>
          <a:xfrm>
            <a:off x="2095500" y="4972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2338E8-DE86-47E7-B010-04BADDAEB049}"/>
              </a:ext>
            </a:extLst>
          </p:cNvPr>
          <p:cNvSpPr>
            <a:spLocks noGrp="1"/>
          </p:cNvSpPr>
          <p:nvPr/>
        </p:nvSpPr>
        <p:spPr>
          <a:xfrm>
            <a:off x="2990850" y="4972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B64741-EC0B-4174-8158-760CC4E3AA4F}"/>
              </a:ext>
            </a:extLst>
          </p:cNvPr>
          <p:cNvSpPr>
            <a:spLocks noGrp="1"/>
          </p:cNvSpPr>
          <p:nvPr/>
        </p:nvSpPr>
        <p:spPr>
          <a:xfrm>
            <a:off x="3886200" y="4972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AEF0DC2-8233-40DD-A6AA-AC64FD009511}"/>
              </a:ext>
            </a:extLst>
          </p:cNvPr>
          <p:cNvSpPr>
            <a:spLocks noGrp="1"/>
          </p:cNvSpPr>
          <p:nvPr/>
        </p:nvSpPr>
        <p:spPr>
          <a:xfrm>
            <a:off x="4781550" y="49720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759AE7-5210-49B8-BB29-34BEB57CB6F3}"/>
              </a:ext>
            </a:extLst>
          </p:cNvPr>
          <p:cNvSpPr>
            <a:spLocks noGrp="1"/>
          </p:cNvSpPr>
          <p:nvPr/>
        </p:nvSpPr>
        <p:spPr>
          <a:xfrm>
            <a:off x="6705600" y="35623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6FEC7D-9DA3-44FC-82A6-ECFCDB3545F9}"/>
              </a:ext>
            </a:extLst>
          </p:cNvPr>
          <p:cNvSpPr>
            <a:spLocks noGrp="1"/>
          </p:cNvSpPr>
          <p:nvPr/>
        </p:nvSpPr>
        <p:spPr>
          <a:xfrm>
            <a:off x="6858000" y="36861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67 / 14 / 15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07EEDA-942E-44A4-867A-BE411E5F6562}"/>
              </a:ext>
            </a:extLst>
          </p:cNvPr>
          <p:cNvSpPr>
            <a:spLocks noGrp="1"/>
          </p:cNvSpPr>
          <p:nvPr/>
        </p:nvSpPr>
        <p:spPr>
          <a:xfrm>
            <a:off x="6858000" y="40576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train / validation / test split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2C0755-F9CA-4298-B24C-6AADA2438DD4}"/>
              </a:ext>
            </a:extLst>
          </p:cNvPr>
          <p:cNvSpPr>
            <a:spLocks noGrp="1"/>
          </p:cNvSpPr>
          <p:nvPr/>
        </p:nvSpPr>
        <p:spPr>
          <a:xfrm>
            <a:off x="8763000" y="35623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0B823A-052D-46F9-9CBF-D51DF6AD1A12}"/>
              </a:ext>
            </a:extLst>
          </p:cNvPr>
          <p:cNvSpPr>
            <a:spLocks noGrp="1"/>
          </p:cNvSpPr>
          <p:nvPr/>
        </p:nvSpPr>
        <p:spPr>
          <a:xfrm>
            <a:off x="8915400" y="36861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64.0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C5D60C-EA5E-4B2D-BDB2-DB7E1BDD8FFD}"/>
              </a:ext>
            </a:extLst>
          </p:cNvPr>
          <p:cNvSpPr>
            <a:spLocks noGrp="1"/>
          </p:cNvSpPr>
          <p:nvPr/>
        </p:nvSpPr>
        <p:spPr>
          <a:xfrm>
            <a:off x="8915400" y="40576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average time steps in each split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4E3346-08E9-468A-9904-145C9EC36832}"/>
              </a:ext>
            </a:extLst>
          </p:cNvPr>
          <p:cNvSpPr>
            <a:spLocks noGrp="1"/>
          </p:cNvSpPr>
          <p:nvPr/>
        </p:nvSpPr>
        <p:spPr>
          <a:xfrm>
            <a:off x="6705600" y="4667250"/>
            <a:ext cx="39243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0B823F8-6D10-4A64-BDA6-E227A36F4675}"/>
              </a:ext>
            </a:extLst>
          </p:cNvPr>
          <p:cNvSpPr>
            <a:spLocks noGrp="1"/>
          </p:cNvSpPr>
          <p:nvPr/>
        </p:nvSpPr>
        <p:spPr>
          <a:xfrm>
            <a:off x="6858000" y="4791075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C99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9942F"/>
                </a:solidFill>
                <a:latin typeface="Aptos Display"/>
                <a:ea typeface="Aptos Display"/>
                <a:cs typeface="Aptos Display"/>
              </a:rPr>
              <a:t>93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4E1B64-93AB-4773-BF8D-21179FC2EE72}"/>
              </a:ext>
            </a:extLst>
          </p:cNvPr>
          <p:cNvSpPr>
            <a:spLocks noGrp="1"/>
          </p:cNvSpPr>
          <p:nvPr/>
        </p:nvSpPr>
        <p:spPr>
          <a:xfrm>
            <a:off x="6858000" y="516255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token vocabulary: 88 MIDI pitches + 5 special symbols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C3CBC2-E24E-4694-82E4-A7A8E0CAD3C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BE4B563-BC82-41AF-B133-6DB93DB5E9E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configs/mvp.yaml, outputs/tables/dataset_summary.csv, src/data.py, src/tokenization.py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A9D344-2DDE-4FBD-BEFA-B4F3E00E85D2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03 / data</a:t>
            </a:r>
          </a:p>
        </p:txBody>
      </p:sp>
    </p:spTree>
    <p:extLst>
      <p:ext uri="{BB962C8B-B14F-4D97-AF65-F5344CB8AC3E}">
        <p14:creationId xmlns:p14="http://schemas.microsoft.com/office/powerpoint/2010/main" val="118181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3F7EA1-8CF6-4EF1-B892-6C01DA3A54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50D6EB9-51D8-4B71-9559-746A34ED108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CD019C8-7270-46AD-BA35-2DCA78AC5BA9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3250B2-D606-4C92-8710-AC8571E2AF4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corpus is compact, voice-ordered, and tonal enough for interpretable checks.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D6AE5-BD41-4DF9-A829-BF5CE859EA24}"/>
              </a:ext>
            </a:extLst>
          </p:cNvPr>
          <p:cNvSpPr>
            <a:spLocks noGrp="1"/>
          </p:cNvSpPr>
          <p:nvPr/>
        </p:nvSpPr>
        <p:spPr>
          <a:xfrm>
            <a:off x="542925" y="1743075"/>
            <a:ext cx="349567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797504"/>
            <a:ext cx="3476625" cy="19866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D71EF3-431E-4EDD-BA0E-42D82ED5252B}"/>
              </a:ext>
            </a:extLst>
          </p:cNvPr>
          <p:cNvSpPr>
            <a:spLocks noGrp="1"/>
          </p:cNvSpPr>
          <p:nvPr/>
        </p:nvSpPr>
        <p:spPr>
          <a:xfrm>
            <a:off x="4352925" y="1743075"/>
            <a:ext cx="349567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1813024"/>
            <a:ext cx="3476625" cy="19556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2C4407-FA40-4591-9202-ED668C9B926F}"/>
              </a:ext>
            </a:extLst>
          </p:cNvPr>
          <p:cNvSpPr>
            <a:spLocks noGrp="1"/>
          </p:cNvSpPr>
          <p:nvPr/>
        </p:nvSpPr>
        <p:spPr>
          <a:xfrm>
            <a:off x="8162925" y="1743075"/>
            <a:ext cx="349567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72450" y="1797504"/>
            <a:ext cx="3476625" cy="19866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E3F843-8441-4C4D-AF91-8451DD376207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AD5C1-F535-4880-BFC7-57A5F8C62766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Sequence length tells us whether a fixed `max_seq_len` will cover most chorales without heavy truncation.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563486-6BC5-4DF3-9842-28A3AD86E0E8}"/>
              </a:ext>
            </a:extLst>
          </p:cNvPr>
          <p:cNvSpPr>
            <a:spLocks noGrp="1"/>
          </p:cNvSpPr>
          <p:nvPr/>
        </p:nvSpPr>
        <p:spPr>
          <a:xfrm>
            <a:off x="4591050" y="46482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SATB ranges provide a sanity check for generated voices and make range violations easy to count.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8751FD-68C3-4FC0-945D-4FCB2E6DBBC3}"/>
              </a:ext>
            </a:extLst>
          </p:cNvPr>
          <p:cNvSpPr>
            <a:spLocks noGrp="1"/>
          </p:cNvSpPr>
          <p:nvPr/>
        </p:nvSpPr>
        <p:spPr>
          <a:xfrm>
            <a:off x="8401050" y="46482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Pitch-class distribution gives a compact reference for whether samples still sound tonal.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53FC8C-3F7D-4DC3-A7C7-4B900933C9A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DBCDD-DDB3-408F-BBFC-7E82F67D605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outputs/figures/sequence_lengths.png, voice_ranges.png, pitch_class_histogram.png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77A157-3901-4FF8-BA82-7D27B1051D0B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04 / eda</a:t>
            </a:r>
          </a:p>
        </p:txBody>
      </p:sp>
    </p:spTree>
    <p:extLst>
      <p:ext uri="{BB962C8B-B14F-4D97-AF65-F5344CB8AC3E}">
        <p14:creationId xmlns:p14="http://schemas.microsoft.com/office/powerpoint/2010/main" val="176855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DF4ABDA-D23F-47B0-93B8-D2BB8B81C6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13981D5-E241-43C0-BEE9-3274E69BB29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3F36F3F-E6CD-46C4-A9B6-6757A00C4D3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TASK 1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E17B7-AF81-4C49-80DA-0BBC6997968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GRU adds sequence memory beyond a one-step Markov baseline.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E9D78-6D63-438C-BBE4-D3B74794BF37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48577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DD32C-903C-411B-AAAA-0B91E3B47A10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Baseline: first-order SATB Markov chain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22BF5-56B9-478A-BD49-938D3F79C86C}"/>
              </a:ext>
            </a:extLst>
          </p:cNvPr>
          <p:cNvSpPr>
            <a:spLocks noGrp="1"/>
          </p:cNvSpPr>
          <p:nvPr/>
        </p:nvSpPr>
        <p:spPr>
          <a:xfrm>
            <a:off x="1123950" y="2819400"/>
            <a:ext cx="1333500" cy="74295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7B372-723B-4815-B770-3D8D443E0345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1066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state t-1</a:t>
            </a:r>
          </a:p>
          <a:p>
            <a:pPr algn="ctr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(S,A,T,B)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E5E8E-7434-49D9-9A4A-47F12D552EA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C9942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C9942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5489A9-8AC5-4D52-86B0-86B11A8014C2}"/>
              </a:ext>
            </a:extLst>
          </p:cNvPr>
          <p:cNvSpPr>
            <a:spLocks noGrp="1"/>
          </p:cNvSpPr>
          <p:nvPr/>
        </p:nvSpPr>
        <p:spPr>
          <a:xfrm>
            <a:off x="3238500" y="2819400"/>
            <a:ext cx="1333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F8A30-1E10-4FD8-A756-E85652E29BCF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1066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state t</a:t>
            </a:r>
          </a:p>
          <a:p>
            <a:pPr algn="ctr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(S,A,T,B)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673CA-F4E5-49A7-963A-FB4DB080A08F}"/>
              </a:ext>
            </a:extLst>
          </p:cNvPr>
          <p:cNvSpPr>
            <a:spLocks noGrp="1"/>
          </p:cNvSpPr>
          <p:nvPr/>
        </p:nvSpPr>
        <p:spPr>
          <a:xfrm>
            <a:off x="1143000" y="3981450"/>
            <a:ext cx="3238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Strength: simple and transparent.</a:t>
            </a:r>
          </a:p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Weakness: sparse states and local-only memory.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2E69A-7DD8-4365-A399-E99BE7890378}"/>
              </a:ext>
            </a:extLst>
          </p:cNvPr>
          <p:cNvSpPr>
            <a:spLocks noGrp="1"/>
          </p:cNvSpPr>
          <p:nvPr/>
        </p:nvSpPr>
        <p:spPr>
          <a:xfrm>
            <a:off x="6076950" y="1657350"/>
            <a:ext cx="52578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3E3CA9-DACF-426A-AA5F-A243D7A99B35}"/>
              </a:ext>
            </a:extLst>
          </p:cNvPr>
          <p:cNvSpPr>
            <a:spLocks noGrp="1"/>
          </p:cNvSpPr>
          <p:nvPr/>
        </p:nvSpPr>
        <p:spPr>
          <a:xfrm>
            <a:off x="6343650" y="192405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Neural model: four-head GRU language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FC381F-617C-4998-A516-4A81C4D618BF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1295400" cy="68580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FA2F8C-D4A2-4F6A-ABA0-E4E02506366B}"/>
              </a:ext>
            </a:extLst>
          </p:cNvPr>
          <p:cNvSpPr>
            <a:spLocks noGrp="1"/>
          </p:cNvSpPr>
          <p:nvPr/>
        </p:nvSpPr>
        <p:spPr>
          <a:xfrm>
            <a:off x="6629400" y="2743200"/>
            <a:ext cx="1028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SATB token history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E33F52-EBF3-4DF8-84C5-994FE6F8E13F}"/>
              </a:ext>
            </a:extLst>
          </p:cNvPr>
          <p:cNvSpPr>
            <a:spLocks noGrp="1"/>
          </p:cNvSpPr>
          <p:nvPr/>
        </p:nvSpPr>
        <p:spPr>
          <a:xfrm>
            <a:off x="7848600" y="28575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22D18-631A-412A-883F-110113610601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14668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5DFE3-EF61-4E16-A567-E05B1142B7F5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1200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per-voice embeddings</a:t>
            </a:r>
          </a:p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concat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466CC6-3174-4A41-B554-E739048BEF46}"/>
              </a:ext>
            </a:extLst>
          </p:cNvPr>
          <p:cNvSpPr>
            <a:spLocks noGrp="1"/>
          </p:cNvSpPr>
          <p:nvPr/>
        </p:nvSpPr>
        <p:spPr>
          <a:xfrm>
            <a:off x="9772650" y="28575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2F61E0-8673-4DBB-A24F-B708EC4241A1}"/>
              </a:ext>
            </a:extLst>
          </p:cNvPr>
          <p:cNvSpPr>
            <a:spLocks noGrp="1"/>
          </p:cNvSpPr>
          <p:nvPr/>
        </p:nvSpPr>
        <p:spPr>
          <a:xfrm>
            <a:off x="10172700" y="2647950"/>
            <a:ext cx="876300" cy="68580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0DD969-3FEA-4D16-AC6A-F313FE59EDA0}"/>
              </a:ext>
            </a:extLst>
          </p:cNvPr>
          <p:cNvSpPr>
            <a:spLocks noGrp="1"/>
          </p:cNvSpPr>
          <p:nvPr/>
        </p:nvSpPr>
        <p:spPr>
          <a:xfrm>
            <a:off x="10306050" y="2743200"/>
            <a:ext cx="609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2-layer GRU</a:t>
            </a:r>
          </a:p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hidden=128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0B5C01-DE4C-45A2-B41F-C375838C1575}"/>
              </a:ext>
            </a:extLst>
          </p:cNvPr>
          <p:cNvSpPr>
            <a:spLocks noGrp="1"/>
          </p:cNvSpPr>
          <p:nvPr/>
        </p:nvSpPr>
        <p:spPr>
          <a:xfrm>
            <a:off x="10591800" y="3429000"/>
            <a:ext cx="19050" cy="723900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BE9BD7-2C2D-416A-9609-1A544DEBCCA1}"/>
              </a:ext>
            </a:extLst>
          </p:cNvPr>
          <p:cNvSpPr>
            <a:spLocks noGrp="1"/>
          </p:cNvSpPr>
          <p:nvPr/>
        </p:nvSpPr>
        <p:spPr>
          <a:xfrm>
            <a:off x="9315450" y="4229100"/>
            <a:ext cx="781050" cy="36195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23DC4B-1877-432E-8577-2E7730F69C09}"/>
              </a:ext>
            </a:extLst>
          </p:cNvPr>
          <p:cNvSpPr>
            <a:spLocks noGrp="1"/>
          </p:cNvSpPr>
          <p:nvPr/>
        </p:nvSpPr>
        <p:spPr>
          <a:xfrm>
            <a:off x="9448800" y="43243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 head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76FB6E-F1C5-4BB0-8419-BAA791D3A791}"/>
              </a:ext>
            </a:extLst>
          </p:cNvPr>
          <p:cNvSpPr>
            <a:spLocks noGrp="1"/>
          </p:cNvSpPr>
          <p:nvPr/>
        </p:nvSpPr>
        <p:spPr>
          <a:xfrm>
            <a:off x="10210800" y="4229100"/>
            <a:ext cx="781050" cy="36195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7BBEE-E646-40D0-B897-748E3ACA3E8D}"/>
              </a:ext>
            </a:extLst>
          </p:cNvPr>
          <p:cNvSpPr>
            <a:spLocks noGrp="1"/>
          </p:cNvSpPr>
          <p:nvPr/>
        </p:nvSpPr>
        <p:spPr>
          <a:xfrm>
            <a:off x="10344150" y="43243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A head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E0FC5C-9E3D-4685-8C63-5275DFC5A438}"/>
              </a:ext>
            </a:extLst>
          </p:cNvPr>
          <p:cNvSpPr>
            <a:spLocks noGrp="1"/>
          </p:cNvSpPr>
          <p:nvPr/>
        </p:nvSpPr>
        <p:spPr>
          <a:xfrm>
            <a:off x="9315450" y="4705350"/>
            <a:ext cx="781050" cy="36195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E60D9-D28E-4053-8EB8-D8C20EE1D392}"/>
              </a:ext>
            </a:extLst>
          </p:cNvPr>
          <p:cNvSpPr>
            <a:spLocks noGrp="1"/>
          </p:cNvSpPr>
          <p:nvPr/>
        </p:nvSpPr>
        <p:spPr>
          <a:xfrm>
            <a:off x="9448800" y="48006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T head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66FAB7-877B-4466-B4AE-782358EA6EEB}"/>
              </a:ext>
            </a:extLst>
          </p:cNvPr>
          <p:cNvSpPr>
            <a:spLocks noGrp="1"/>
          </p:cNvSpPr>
          <p:nvPr/>
        </p:nvSpPr>
        <p:spPr>
          <a:xfrm>
            <a:off x="10210800" y="4705350"/>
            <a:ext cx="781050" cy="36195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CD267C-1BFB-43FB-833A-136679F85638}"/>
              </a:ext>
            </a:extLst>
          </p:cNvPr>
          <p:cNvSpPr>
            <a:spLocks noGrp="1"/>
          </p:cNvSpPr>
          <p:nvPr/>
        </p:nvSpPr>
        <p:spPr>
          <a:xfrm>
            <a:off x="10344150" y="48006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B head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B2A5EA-58D5-48DD-936D-5D41A112D034}"/>
              </a:ext>
            </a:extLst>
          </p:cNvPr>
          <p:cNvSpPr>
            <a:spLocks noGrp="1"/>
          </p:cNvSpPr>
          <p:nvPr/>
        </p:nvSpPr>
        <p:spPr>
          <a:xfrm>
            <a:off x="6381750" y="5600700"/>
            <a:ext cx="1104900" cy="28575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C01E6-8558-4084-80F1-44ACFC88E31E}"/>
              </a:ext>
            </a:extLst>
          </p:cNvPr>
          <p:cNvSpPr>
            <a:spLocks noGrp="1"/>
          </p:cNvSpPr>
          <p:nvPr/>
        </p:nvSpPr>
        <p:spPr>
          <a:xfrm>
            <a:off x="6477000" y="56578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Optimized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2BB1CF-3C8A-4B15-9CC7-213CB47AE870}"/>
              </a:ext>
            </a:extLst>
          </p:cNvPr>
          <p:cNvSpPr>
            <a:spLocks noGrp="1"/>
          </p:cNvSpPr>
          <p:nvPr/>
        </p:nvSpPr>
        <p:spPr>
          <a:xfrm>
            <a:off x="7620000" y="5600700"/>
            <a:ext cx="3295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Cross-entropy summed over soprano, alto, tenor, and bass next-token predictions.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0F4059-C825-418B-9F96-F70F493BD3C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41E821-FE7A-4E51-97BF-59F643560B2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src/baselines.py, src/models.py, src/train_unconditioned.py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9566CF-52C7-4665-B5C0-418EF9451F6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05 / task 1</a:t>
            </a:r>
          </a:p>
        </p:txBody>
      </p:sp>
    </p:spTree>
    <p:extLst>
      <p:ext uri="{BB962C8B-B14F-4D97-AF65-F5344CB8AC3E}">
        <p14:creationId xmlns:p14="http://schemas.microsoft.com/office/powerpoint/2010/main" val="63837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7C19482-41AA-4E4E-8ADF-BDB2B5A1EA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84921B8-96F5-49DE-B94D-7E974D4E7CE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BB941DF-CD88-433D-A579-8C32DDE9880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TASK 1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2904C-B0D5-4FB5-A76D-56C0DDD2237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GRU is more varied and pitch-faithful, but it pays with voice-leading errors.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7D3DB-A68B-4D23-8752-F0D1B22BE730}"/>
              </a:ext>
            </a:extLst>
          </p:cNvPr>
          <p:cNvSpPr>
            <a:spLocks noGrp="1"/>
          </p:cNvSpPr>
          <p:nvPr/>
        </p:nvSpPr>
        <p:spPr>
          <a:xfrm>
            <a:off x="542925" y="1666875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6744" y="1676400"/>
            <a:ext cx="3967163" cy="2266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999403-F9DC-43E1-9CA9-A312FF7676DE}"/>
              </a:ext>
            </a:extLst>
          </p:cNvPr>
          <p:cNvSpPr>
            <a:spLocks noGrp="1"/>
          </p:cNvSpPr>
          <p:nvPr/>
        </p:nvSpPr>
        <p:spPr>
          <a:xfrm>
            <a:off x="5000625" y="1666875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42958" y="1676400"/>
            <a:ext cx="4030133" cy="2266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824C30-FB90-42B9-8EA7-CE614D9CAB52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16D1F7-1FEB-440F-8361-E19876B8E869}"/>
              </a:ext>
            </a:extLst>
          </p:cNvPr>
          <p:cNvSpPr>
            <a:spLocks noGrp="1"/>
          </p:cNvSpPr>
          <p:nvPr/>
        </p:nvSpPr>
        <p:spPr>
          <a:xfrm>
            <a:off x="9582150" y="18192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7.61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E8C59F-2925-4E1D-A951-035765A479BF}"/>
              </a:ext>
            </a:extLst>
          </p:cNvPr>
          <p:cNvSpPr>
            <a:spLocks noGrp="1"/>
          </p:cNvSpPr>
          <p:nvPr/>
        </p:nvSpPr>
        <p:spPr>
          <a:xfrm>
            <a:off x="9582150" y="21907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GRU per-voice perplexity on the generated evaluation table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1C8729-53DB-4515-A20A-8ADB2D67375A}"/>
              </a:ext>
            </a:extLst>
          </p:cNvPr>
          <p:cNvSpPr>
            <a:spLocks noGrp="1"/>
          </p:cNvSpPr>
          <p:nvPr/>
        </p:nvSpPr>
        <p:spPr>
          <a:xfrm>
            <a:off x="9429750" y="278130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1360FB-5FD8-43BD-AC85-D8F1869D5D14}"/>
              </a:ext>
            </a:extLst>
          </p:cNvPr>
          <p:cNvSpPr>
            <a:spLocks noGrp="1"/>
          </p:cNvSpPr>
          <p:nvPr/>
        </p:nvSpPr>
        <p:spPr>
          <a:xfrm>
            <a:off x="9582150" y="290512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0.072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F28C8-D746-44BC-856D-D1A505BBF430}"/>
              </a:ext>
            </a:extLst>
          </p:cNvPr>
          <p:cNvSpPr>
            <a:spLocks noGrp="1"/>
          </p:cNvSpPr>
          <p:nvPr/>
        </p:nvSpPr>
        <p:spPr>
          <a:xfrm>
            <a:off x="9582150" y="327660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pitch-class distance vs. 1.135 for Markov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363B1-90CC-4C3C-A926-FA853E5168CB}"/>
              </a:ext>
            </a:extLst>
          </p:cNvPr>
          <p:cNvSpPr>
            <a:spLocks noGrp="1"/>
          </p:cNvSpPr>
          <p:nvPr/>
        </p:nvSpPr>
        <p:spPr>
          <a:xfrm>
            <a:off x="9429750" y="38671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4C285-AE1F-4271-9874-268629F3673A}"/>
              </a:ext>
            </a:extLst>
          </p:cNvPr>
          <p:cNvSpPr>
            <a:spLocks noGrp="1"/>
          </p:cNvSpPr>
          <p:nvPr/>
        </p:nvSpPr>
        <p:spPr>
          <a:xfrm>
            <a:off x="9582150" y="39909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E1BECB-9028-49D0-AFD0-4A93924C7EFC}"/>
              </a:ext>
            </a:extLst>
          </p:cNvPr>
          <p:cNvSpPr>
            <a:spLocks noGrp="1"/>
          </p:cNvSpPr>
          <p:nvPr/>
        </p:nvSpPr>
        <p:spPr>
          <a:xfrm>
            <a:off x="9582150" y="43624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voice crossings in the GRU sample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4C2389-776C-409C-A351-F2B78C1E19D0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2481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1F0C27-BFA1-44F6-B528-B4805B42A436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248150" cy="438150"/>
          </a:xfrm>
          <a:prstGeom prst="rect">
            <a:avLst/>
          </a:prstGeom>
          <a:solidFill>
            <a:srgbClr val="171A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3F39E6-818D-407C-9480-B539B173071B}"/>
              </a:ext>
            </a:extLst>
          </p:cNvPr>
          <p:cNvSpPr>
            <a:spLocks noGrp="1"/>
          </p:cNvSpPr>
          <p:nvPr/>
        </p:nvSpPr>
        <p:spPr>
          <a:xfrm>
            <a:off x="1085850" y="44958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AC78EB-45BE-47B5-8B82-9776F930989E}"/>
              </a:ext>
            </a:extLst>
          </p:cNvPr>
          <p:cNvSpPr>
            <a:spLocks noGrp="1"/>
          </p:cNvSpPr>
          <p:nvPr/>
        </p:nvSpPr>
        <p:spPr>
          <a:xfrm>
            <a:off x="220980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092DE1-D483-48B9-B0A2-E51EA6EFAE81}"/>
              </a:ext>
            </a:extLst>
          </p:cNvPr>
          <p:cNvSpPr>
            <a:spLocks noGrp="1"/>
          </p:cNvSpPr>
          <p:nvPr/>
        </p:nvSpPr>
        <p:spPr>
          <a:xfrm>
            <a:off x="2305050" y="44958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A35874-791F-4409-91CA-960517E8B24F}"/>
              </a:ext>
            </a:extLst>
          </p:cNvPr>
          <p:cNvSpPr>
            <a:spLocks noGrp="1"/>
          </p:cNvSpPr>
          <p:nvPr/>
        </p:nvSpPr>
        <p:spPr>
          <a:xfrm>
            <a:off x="320040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2D57A3-438A-48C0-ADA9-214AD8E943AA}"/>
              </a:ext>
            </a:extLst>
          </p:cNvPr>
          <p:cNvSpPr>
            <a:spLocks noGrp="1"/>
          </p:cNvSpPr>
          <p:nvPr/>
        </p:nvSpPr>
        <p:spPr>
          <a:xfrm>
            <a:off x="3295650" y="44958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399B3D-6661-41DB-BDCD-89D4DA7C1303}"/>
              </a:ext>
            </a:extLst>
          </p:cNvPr>
          <p:cNvSpPr>
            <a:spLocks noGrp="1"/>
          </p:cNvSpPr>
          <p:nvPr/>
        </p:nvSpPr>
        <p:spPr>
          <a:xfrm>
            <a:off x="424815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3FED30-AADA-46E5-94A7-D84F9F73AE76}"/>
              </a:ext>
            </a:extLst>
          </p:cNvPr>
          <p:cNvSpPr>
            <a:spLocks noGrp="1"/>
          </p:cNvSpPr>
          <p:nvPr/>
        </p:nvSpPr>
        <p:spPr>
          <a:xfrm>
            <a:off x="4343400" y="44958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Parallel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EC1F11-6522-485B-B712-A42D03A2E676}"/>
              </a:ext>
            </a:extLst>
          </p:cNvPr>
          <p:cNvSpPr>
            <a:spLocks noGrp="1"/>
          </p:cNvSpPr>
          <p:nvPr/>
        </p:nvSpPr>
        <p:spPr>
          <a:xfrm>
            <a:off x="990600" y="4838700"/>
            <a:ext cx="42481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DC6A2C-E624-4A50-A649-96CBE285E9D2}"/>
              </a:ext>
            </a:extLst>
          </p:cNvPr>
          <p:cNvSpPr>
            <a:spLocks noGrp="1"/>
          </p:cNvSpPr>
          <p:nvPr/>
        </p:nvSpPr>
        <p:spPr>
          <a:xfrm>
            <a:off x="1085850" y="493395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Markov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5655C8-6859-4FCA-B368-E7D7B672375A}"/>
              </a:ext>
            </a:extLst>
          </p:cNvPr>
          <p:cNvSpPr>
            <a:spLocks noGrp="1"/>
          </p:cNvSpPr>
          <p:nvPr/>
        </p:nvSpPr>
        <p:spPr>
          <a:xfrm>
            <a:off x="220980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98060C-F4EB-44E0-A9C5-E3004D4E799B}"/>
              </a:ext>
            </a:extLst>
          </p:cNvPr>
          <p:cNvSpPr>
            <a:spLocks noGrp="1"/>
          </p:cNvSpPr>
          <p:nvPr/>
        </p:nvSpPr>
        <p:spPr>
          <a:xfrm>
            <a:off x="2305050" y="4933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97.6%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D76610-5879-4DAF-A851-5EB764F0F1EB}"/>
              </a:ext>
            </a:extLst>
          </p:cNvPr>
          <p:cNvSpPr>
            <a:spLocks noGrp="1"/>
          </p:cNvSpPr>
          <p:nvPr/>
        </p:nvSpPr>
        <p:spPr>
          <a:xfrm>
            <a:off x="320040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7C46D7-A3E4-4DEF-9969-D21F335E3CAB}"/>
              </a:ext>
            </a:extLst>
          </p:cNvPr>
          <p:cNvSpPr>
            <a:spLocks noGrp="1"/>
          </p:cNvSpPr>
          <p:nvPr/>
        </p:nvSpPr>
        <p:spPr>
          <a:xfrm>
            <a:off x="3295650" y="49339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4.2%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4E8426-66F3-4E56-824C-5DD266797F39}"/>
              </a:ext>
            </a:extLst>
          </p:cNvPr>
          <p:cNvSpPr>
            <a:spLocks noGrp="1"/>
          </p:cNvSpPr>
          <p:nvPr/>
        </p:nvSpPr>
        <p:spPr>
          <a:xfrm>
            <a:off x="424815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EC75B4-7A94-42F3-8725-12FB94315D97}"/>
              </a:ext>
            </a:extLst>
          </p:cNvPr>
          <p:cNvSpPr>
            <a:spLocks noGrp="1"/>
          </p:cNvSpPr>
          <p:nvPr/>
        </p:nvSpPr>
        <p:spPr>
          <a:xfrm>
            <a:off x="4343400" y="4933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62BEAF-9384-4A51-BBF4-58BA93BA3EF8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42481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3B6027-FE5D-4E53-A384-7A62A72AD4B9}"/>
              </a:ext>
            </a:extLst>
          </p:cNvPr>
          <p:cNvSpPr>
            <a:spLocks noGrp="1"/>
          </p:cNvSpPr>
          <p:nvPr/>
        </p:nvSpPr>
        <p:spPr>
          <a:xfrm>
            <a:off x="1085850" y="537210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AA3E9E-68B9-4C70-BCB7-1951AC3D0B37}"/>
              </a:ext>
            </a:extLst>
          </p:cNvPr>
          <p:cNvSpPr>
            <a:spLocks noGrp="1"/>
          </p:cNvSpPr>
          <p:nvPr/>
        </p:nvSpPr>
        <p:spPr>
          <a:xfrm>
            <a:off x="220980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23CBBC-ADC4-47B7-BE89-C02DBFFC7A84}"/>
              </a:ext>
            </a:extLst>
          </p:cNvPr>
          <p:cNvSpPr>
            <a:spLocks noGrp="1"/>
          </p:cNvSpPr>
          <p:nvPr/>
        </p:nvSpPr>
        <p:spPr>
          <a:xfrm>
            <a:off x="2305050" y="53721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17.9%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7814D9-0375-4710-ACA0-9CD074060E4F}"/>
              </a:ext>
            </a:extLst>
          </p:cNvPr>
          <p:cNvSpPr>
            <a:spLocks noGrp="1"/>
          </p:cNvSpPr>
          <p:nvPr/>
        </p:nvSpPr>
        <p:spPr>
          <a:xfrm>
            <a:off x="320040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B578E7-8C03-488C-A253-F10247989CB6}"/>
              </a:ext>
            </a:extLst>
          </p:cNvPr>
          <p:cNvSpPr>
            <a:spLocks noGrp="1"/>
          </p:cNvSpPr>
          <p:nvPr/>
        </p:nvSpPr>
        <p:spPr>
          <a:xfrm>
            <a:off x="3295650" y="53721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2343C2-DCA1-45E7-9FBF-4D6F6252D72E}"/>
              </a:ext>
            </a:extLst>
          </p:cNvPr>
          <p:cNvSpPr>
            <a:spLocks noGrp="1"/>
          </p:cNvSpPr>
          <p:nvPr/>
        </p:nvSpPr>
        <p:spPr>
          <a:xfrm>
            <a:off x="424815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95D240-50EF-4EC2-9F3F-F51A8B4EEEFF}"/>
              </a:ext>
            </a:extLst>
          </p:cNvPr>
          <p:cNvSpPr>
            <a:spLocks noGrp="1"/>
          </p:cNvSpPr>
          <p:nvPr/>
        </p:nvSpPr>
        <p:spPr>
          <a:xfrm>
            <a:off x="4343400" y="53721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C33697-4F29-4DB3-A446-F93448CA0975}"/>
              </a:ext>
            </a:extLst>
          </p:cNvPr>
          <p:cNvSpPr>
            <a:spLocks noGrp="1"/>
          </p:cNvSpPr>
          <p:nvPr/>
        </p:nvSpPr>
        <p:spPr>
          <a:xfrm>
            <a:off x="5524500" y="4533900"/>
            <a:ext cx="3619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Interpretation: the Markov sample is overly sticky, while the GRU uses many more sonorities. The tradeoff is that a small model without explicit harmony constraints can still cross voices or create parallel perfect intervals.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2482B7-8307-467F-832F-BF75F2AD0E2F}"/>
              </a:ext>
            </a:extLst>
          </p:cNvPr>
          <p:cNvSpPr>
            <a:spLocks noGrp="1"/>
          </p:cNvSpPr>
          <p:nvPr/>
        </p:nvSpPr>
        <p:spPr>
          <a:xfrm>
            <a:off x="5524500" y="556260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B33A5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33A5B"/>
                </a:solidFill>
                <a:latin typeface="Aptos"/>
                <a:ea typeface="Aptos"/>
                <a:cs typeface="Aptos"/>
              </a:rPr>
              <a:t>Caveat: Markov tuple NLL and four-head GRU loss are on different modeling scales, so the musical metrics carry the comparison.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0BA12E-9861-45DC-A2B6-199232E1912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071F11-BD87-4283-B6C6-D129B1806D3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outputs/logs/unconditioned_history.json, outputs/tables/unconditioned_metrics.csv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8DDC82-BFE8-4A98-B259-A77F41A57689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06 / task 1</a:t>
            </a:r>
          </a:p>
        </p:txBody>
      </p:sp>
    </p:spTree>
    <p:extLst>
      <p:ext uri="{BB962C8B-B14F-4D97-AF65-F5344CB8AC3E}">
        <p14:creationId xmlns:p14="http://schemas.microsoft.com/office/powerpoint/2010/main" val="209909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6DDC834-18C1-4895-9FF8-7FCAC58555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2E41E58-52AE-47E3-A3B5-C5B03BA248A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C4305F2-9BDB-4B0B-8371-0BBF071EF36B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TASK 2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99B9F-2608-45F6-9445-AAC8D30C13D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Harmonization turns the known soprano line into three lower voices.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3F486-06DE-4E20-8B32-5297B4242F21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534650" cy="114300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42C01-152F-4AC7-B5B9-4304AD95451C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33507C-A140-4F94-86EE-D1C44C4CFF90}"/>
              </a:ext>
            </a:extLst>
          </p:cNvPr>
          <p:cNvSpPr>
            <a:spLocks noGrp="1"/>
          </p:cNvSpPr>
          <p:nvPr/>
        </p:nvSpPr>
        <p:spPr>
          <a:xfrm>
            <a:off x="1790700" y="20002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soprano_0 ... soprano_T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778B4D-DC17-49F5-909E-C8C87B87BA89}"/>
              </a:ext>
            </a:extLst>
          </p:cNvPr>
          <p:cNvSpPr>
            <a:spLocks noGrp="1"/>
          </p:cNvSpPr>
          <p:nvPr/>
        </p:nvSpPr>
        <p:spPr>
          <a:xfrm>
            <a:off x="5010150" y="19812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E53595-B581-435F-906B-3653471EACF2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66E2C2-28E8-4CD4-9DFC-28998302D976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[alto_t, tenor_t, bass_t] for each time step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93F5D1-C23D-4E59-ADDB-FC2110739FD0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47053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1F3160-6D42-4189-BB74-96CCB9DFE7D2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Lookup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61B968-F916-4F88-9917-655FC9D261EA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1352550" cy="55245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2345CD-3304-4DF3-AEB2-E5DF8558369C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soprano pitch 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A21E22-EEE9-4E39-A901-8DB1579D16BB}"/>
              </a:ext>
            </a:extLst>
          </p:cNvPr>
          <p:cNvSpPr>
            <a:spLocks noGrp="1"/>
          </p:cNvSpPr>
          <p:nvPr/>
        </p:nvSpPr>
        <p:spPr>
          <a:xfrm>
            <a:off x="2476500" y="434340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C99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942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417B-6C49-406F-8669-2401EA86D150}"/>
              </a:ext>
            </a:extLst>
          </p:cNvPr>
          <p:cNvSpPr>
            <a:spLocks noGrp="1"/>
          </p:cNvSpPr>
          <p:nvPr/>
        </p:nvSpPr>
        <p:spPr>
          <a:xfrm>
            <a:off x="2800350" y="4191000"/>
            <a:ext cx="1162050" cy="55245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6E033F-A65D-4464-AEBF-B4A73A5DA853}"/>
              </a:ext>
            </a:extLst>
          </p:cNvPr>
          <p:cNvSpPr>
            <a:spLocks noGrp="1"/>
          </p:cNvSpPr>
          <p:nvPr/>
        </p:nvSpPr>
        <p:spPr>
          <a:xfrm>
            <a:off x="2933700" y="4286250"/>
            <a:ext cx="895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beat position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F12267-DC7B-4B72-B696-D382E80AEC82}"/>
              </a:ext>
            </a:extLst>
          </p:cNvPr>
          <p:cNvSpPr>
            <a:spLocks noGrp="1"/>
          </p:cNvSpPr>
          <p:nvPr/>
        </p:nvSpPr>
        <p:spPr>
          <a:xfrm>
            <a:off x="4019550" y="432435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C9942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C9942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CE6FA3-2BC7-4504-8E98-1AA6DC69B01B}"/>
              </a:ext>
            </a:extLst>
          </p:cNvPr>
          <p:cNvSpPr>
            <a:spLocks noGrp="1"/>
          </p:cNvSpPr>
          <p:nvPr/>
        </p:nvSpPr>
        <p:spPr>
          <a:xfrm>
            <a:off x="4362450" y="4152900"/>
            <a:ext cx="9334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C42A7D-38E5-4C5E-B169-8CE0A6D9BF6F}"/>
              </a:ext>
            </a:extLst>
          </p:cNvPr>
          <p:cNvSpPr>
            <a:spLocks noGrp="1"/>
          </p:cNvSpPr>
          <p:nvPr/>
        </p:nvSpPr>
        <p:spPr>
          <a:xfrm>
            <a:off x="4495800" y="4248150"/>
            <a:ext cx="666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most common</a:t>
            </a:r>
          </a:p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ATB tuple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4665B3-2B9D-4B98-8580-B2BF441E6F7C}"/>
              </a:ext>
            </a:extLst>
          </p:cNvPr>
          <p:cNvSpPr>
            <a:spLocks noGrp="1"/>
          </p:cNvSpPr>
          <p:nvPr/>
        </p:nvSpPr>
        <p:spPr>
          <a:xfrm>
            <a:off x="5981700" y="3181350"/>
            <a:ext cx="523875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A268A4-A80E-47F4-8F3B-8E332E0932E0}"/>
              </a:ext>
            </a:extLst>
          </p:cNvPr>
          <p:cNvSpPr>
            <a:spLocks noGrp="1"/>
          </p:cNvSpPr>
          <p:nvPr/>
        </p:nvSpPr>
        <p:spPr>
          <a:xfrm>
            <a:off x="6248400" y="34480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BiGRU harmonizer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75E8D0-AFD6-41B2-8F90-3E160FCECD1D}"/>
              </a:ext>
            </a:extLst>
          </p:cNvPr>
          <p:cNvSpPr>
            <a:spLocks noGrp="1"/>
          </p:cNvSpPr>
          <p:nvPr/>
        </p:nvSpPr>
        <p:spPr>
          <a:xfrm>
            <a:off x="6362700" y="4095750"/>
            <a:ext cx="1295400" cy="59055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FA7FAC-A39F-4FD0-BD49-B259FA80E281}"/>
              </a:ext>
            </a:extLst>
          </p:cNvPr>
          <p:cNvSpPr>
            <a:spLocks noGrp="1"/>
          </p:cNvSpPr>
          <p:nvPr/>
        </p:nvSpPr>
        <p:spPr>
          <a:xfrm>
            <a:off x="6496050" y="4191000"/>
            <a:ext cx="1028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soprano token sequence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C99C8B-048C-4C54-A378-01B3C90D9A63}"/>
              </a:ext>
            </a:extLst>
          </p:cNvPr>
          <p:cNvSpPr>
            <a:spLocks noGrp="1"/>
          </p:cNvSpPr>
          <p:nvPr/>
        </p:nvSpPr>
        <p:spPr>
          <a:xfrm>
            <a:off x="7734300" y="4257675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683971-892F-48E4-9A9F-A555974A4539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8953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2322A7-4F71-4FDD-B0FB-C27E1D9E54C3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628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71E35-68E9-4CFC-88AE-63A246B1FD3D}"/>
              </a:ext>
            </a:extLst>
          </p:cNvPr>
          <p:cNvSpPr>
            <a:spLocks noGrp="1"/>
          </p:cNvSpPr>
          <p:nvPr/>
        </p:nvSpPr>
        <p:spPr>
          <a:xfrm>
            <a:off x="9124950" y="4257675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68C7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8F7A44-B97D-4BEE-BBF6-4B25812A7162}"/>
              </a:ext>
            </a:extLst>
          </p:cNvPr>
          <p:cNvSpPr>
            <a:spLocks noGrp="1"/>
          </p:cNvSpPr>
          <p:nvPr/>
        </p:nvSpPr>
        <p:spPr>
          <a:xfrm>
            <a:off x="9544050" y="4038600"/>
            <a:ext cx="1238250" cy="70485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864F40-3858-444B-9894-DE9841C9DA70}"/>
              </a:ext>
            </a:extLst>
          </p:cNvPr>
          <p:cNvSpPr>
            <a:spLocks noGrp="1"/>
          </p:cNvSpPr>
          <p:nvPr/>
        </p:nvSpPr>
        <p:spPr>
          <a:xfrm>
            <a:off x="9677400" y="4133850"/>
            <a:ext cx="971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2-layer</a:t>
            </a:r>
          </a:p>
          <a:p>
            <a:pPr algn="ct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bidirectional GRU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384540-F272-4E3A-AFCA-F9D45C2E9199}"/>
              </a:ext>
            </a:extLst>
          </p:cNvPr>
          <p:cNvSpPr>
            <a:spLocks noGrp="1"/>
          </p:cNvSpPr>
          <p:nvPr/>
        </p:nvSpPr>
        <p:spPr>
          <a:xfrm>
            <a:off x="10172700" y="4800600"/>
            <a:ext cx="19050" cy="361950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A43550-DD16-43E1-958B-9E9E3DF396FD}"/>
              </a:ext>
            </a:extLst>
          </p:cNvPr>
          <p:cNvSpPr>
            <a:spLocks noGrp="1"/>
          </p:cNvSpPr>
          <p:nvPr/>
        </p:nvSpPr>
        <p:spPr>
          <a:xfrm>
            <a:off x="9239250" y="5029200"/>
            <a:ext cx="590550" cy="34290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DB9F21-697F-4A51-94AD-633FE751BFA6}"/>
              </a:ext>
            </a:extLst>
          </p:cNvPr>
          <p:cNvSpPr>
            <a:spLocks noGrp="1"/>
          </p:cNvSpPr>
          <p:nvPr/>
        </p:nvSpPr>
        <p:spPr>
          <a:xfrm>
            <a:off x="9372600" y="51244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5483E9-9640-46F4-849A-753D25E31D38}"/>
              </a:ext>
            </a:extLst>
          </p:cNvPr>
          <p:cNvSpPr>
            <a:spLocks noGrp="1"/>
          </p:cNvSpPr>
          <p:nvPr/>
        </p:nvSpPr>
        <p:spPr>
          <a:xfrm>
            <a:off x="9886950" y="5029200"/>
            <a:ext cx="590550" cy="34290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711104-3DF3-44EB-814B-CB303FD6C676}"/>
              </a:ext>
            </a:extLst>
          </p:cNvPr>
          <p:cNvSpPr>
            <a:spLocks noGrp="1"/>
          </p:cNvSpPr>
          <p:nvPr/>
        </p:nvSpPr>
        <p:spPr>
          <a:xfrm>
            <a:off x="10020300" y="51244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tenor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132F0-31D1-4EAA-A352-0AECA0B7EB80}"/>
              </a:ext>
            </a:extLst>
          </p:cNvPr>
          <p:cNvSpPr>
            <a:spLocks noGrp="1"/>
          </p:cNvSpPr>
          <p:nvPr/>
        </p:nvSpPr>
        <p:spPr>
          <a:xfrm>
            <a:off x="10534650" y="5029200"/>
            <a:ext cx="590550" cy="34290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B64E4-B72B-40B3-B009-567E6809635C}"/>
              </a:ext>
            </a:extLst>
          </p:cNvPr>
          <p:cNvSpPr>
            <a:spLocks noGrp="1"/>
          </p:cNvSpPr>
          <p:nvPr/>
        </p:nvSpPr>
        <p:spPr>
          <a:xfrm>
            <a:off x="10668000" y="51244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bass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568543-AECB-4E79-9777-AA76EF870123}"/>
              </a:ext>
            </a:extLst>
          </p:cNvPr>
          <p:cNvSpPr>
            <a:spLocks noGrp="1"/>
          </p:cNvSpPr>
          <p:nvPr/>
        </p:nvSpPr>
        <p:spPr>
          <a:xfrm>
            <a:off x="7067550" y="5734050"/>
            <a:ext cx="1409700" cy="285750"/>
          </a:xfrm>
          <a:prstGeom prst="rect">
            <a:avLst/>
          </a:prstGeom>
          <a:solidFill>
            <a:srgbClr val="DDE8F4"/>
          </a:solidFill>
          <a:ln w="9525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E74098-E525-4A5C-A4CF-3888CAFEC694}"/>
              </a:ext>
            </a:extLst>
          </p:cNvPr>
          <p:cNvSpPr>
            <a:spLocks noGrp="1"/>
          </p:cNvSpPr>
          <p:nvPr/>
        </p:nvSpPr>
        <p:spPr>
          <a:xfrm>
            <a:off x="7162800" y="57912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Why bidirectional?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2E738B-E1E5-4598-87FC-A685FBCC6E3F}"/>
              </a:ext>
            </a:extLst>
          </p:cNvPr>
          <p:cNvSpPr>
            <a:spLocks noGrp="1"/>
          </p:cNvSpPr>
          <p:nvPr/>
        </p:nvSpPr>
        <p:spPr>
          <a:xfrm>
            <a:off x="8648700" y="573405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The full melody is known before harmonization, so looking ahead is allowed.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87F286-96B1-455D-9507-DFCEAC0989B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DF8AD7-5C1A-4AAA-9F48-D55AB1DE5F7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src/baselines.py, src/models.py, src/train_conditioned.py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A6F9F2-5077-4E1B-BD1C-6C00E0C079DA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07 / task 2</a:t>
            </a:r>
          </a:p>
        </p:txBody>
      </p:sp>
    </p:spTree>
    <p:extLst>
      <p:ext uri="{BB962C8B-B14F-4D97-AF65-F5344CB8AC3E}">
        <p14:creationId xmlns:p14="http://schemas.microsoft.com/office/powerpoint/2010/main" val="22320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AA6DDFF-1464-4A37-AE18-9D2A6DFAC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C02A3B6-06EC-48CD-90AC-73416743F02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E4032A7-491A-4C7A-A9F0-876F312FA08D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TASK 2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97CC2-E08A-4B35-AD5F-67CA8FF1737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BiGRU lifts accuracy and cuts parallels, but cadence is weaker.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6C235-3244-4A11-B91E-415D7A5A4B7B}"/>
              </a:ext>
            </a:extLst>
          </p:cNvPr>
          <p:cNvSpPr>
            <a:spLocks noGrp="1"/>
          </p:cNvSpPr>
          <p:nvPr/>
        </p:nvSpPr>
        <p:spPr>
          <a:xfrm>
            <a:off x="542925" y="1666875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6744" y="1676400"/>
            <a:ext cx="3967163" cy="2266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613807-A990-4A2F-B35C-9D273BFAEA98}"/>
              </a:ext>
            </a:extLst>
          </p:cNvPr>
          <p:cNvSpPr>
            <a:spLocks noGrp="1"/>
          </p:cNvSpPr>
          <p:nvPr/>
        </p:nvSpPr>
        <p:spPr>
          <a:xfrm>
            <a:off x="5000625" y="1666875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42958" y="1676400"/>
            <a:ext cx="4030133" cy="2266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98C325-CD68-49A7-96DC-77EC2E7C3F10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07DA4-B071-48CD-ACD2-A19A6AC93DE5}"/>
              </a:ext>
            </a:extLst>
          </p:cNvPr>
          <p:cNvSpPr>
            <a:spLocks noGrp="1"/>
          </p:cNvSpPr>
          <p:nvPr/>
        </p:nvSpPr>
        <p:spPr>
          <a:xfrm>
            <a:off x="9582150" y="18192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29.2%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956485-C2C4-486F-BF22-9802410B9CE8}"/>
              </a:ext>
            </a:extLst>
          </p:cNvPr>
          <p:cNvSpPr>
            <a:spLocks noGrp="1"/>
          </p:cNvSpPr>
          <p:nvPr/>
        </p:nvSpPr>
        <p:spPr>
          <a:xfrm>
            <a:off x="9582150" y="21907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BiGRU average lower-voice accuracy vs. 27.0% lookup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0DE6FC-392B-4BE9-8CF9-AFD4117FEAF7}"/>
              </a:ext>
            </a:extLst>
          </p:cNvPr>
          <p:cNvSpPr>
            <a:spLocks noGrp="1"/>
          </p:cNvSpPr>
          <p:nvPr/>
        </p:nvSpPr>
        <p:spPr>
          <a:xfrm>
            <a:off x="9429750" y="278130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2B9309-6CA0-45F5-BBE2-C75DF8A8E240}"/>
              </a:ext>
            </a:extLst>
          </p:cNvPr>
          <p:cNvSpPr>
            <a:spLocks noGrp="1"/>
          </p:cNvSpPr>
          <p:nvPr/>
        </p:nvSpPr>
        <p:spPr>
          <a:xfrm>
            <a:off x="9582150" y="290512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94AB3-D911-4B0B-93D9-87EDA41DC6DE}"/>
              </a:ext>
            </a:extLst>
          </p:cNvPr>
          <p:cNvSpPr>
            <a:spLocks noGrp="1"/>
          </p:cNvSpPr>
          <p:nvPr/>
        </p:nvSpPr>
        <p:spPr>
          <a:xfrm>
            <a:off x="9582150" y="327660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parallel fifth/octave count vs. 42 for lookup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07A49C-C056-4913-B3E5-15DEF33E714D}"/>
              </a:ext>
            </a:extLst>
          </p:cNvPr>
          <p:cNvSpPr>
            <a:spLocks noGrp="1"/>
          </p:cNvSpPr>
          <p:nvPr/>
        </p:nvSpPr>
        <p:spPr>
          <a:xfrm>
            <a:off x="9429750" y="3867150"/>
            <a:ext cx="18669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CDB0F-1D17-4C98-98FC-6F92481E3601}"/>
              </a:ext>
            </a:extLst>
          </p:cNvPr>
          <p:cNvSpPr>
            <a:spLocks noGrp="1"/>
          </p:cNvSpPr>
          <p:nvPr/>
        </p:nvSpPr>
        <p:spPr>
          <a:xfrm>
            <a:off x="9582150" y="3990975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rPr>
              <a:t>0.40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5D1179-10FA-483C-80CA-86D7423BB070}"/>
              </a:ext>
            </a:extLst>
          </p:cNvPr>
          <p:cNvSpPr>
            <a:spLocks noGrp="1"/>
          </p:cNvSpPr>
          <p:nvPr/>
        </p:nvSpPr>
        <p:spPr>
          <a:xfrm>
            <a:off x="9582150" y="43624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cadence heuristic vs. 1.00 lookup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6C2EC1-AC48-485B-8170-B21F39C60FA5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44005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CF7FA8-5A83-4505-AF62-E9A9807C52EE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4400550" cy="438150"/>
          </a:xfrm>
          <a:prstGeom prst="rect">
            <a:avLst/>
          </a:prstGeom>
          <a:solidFill>
            <a:srgbClr val="171A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1C3B0B-3E21-4E33-8534-FEE44C7CC2A0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F6A8D9-7E60-4E75-8511-EAB33DB69021}"/>
              </a:ext>
            </a:extLst>
          </p:cNvPr>
          <p:cNvSpPr>
            <a:spLocks noGrp="1"/>
          </p:cNvSpPr>
          <p:nvPr/>
        </p:nvSpPr>
        <p:spPr>
          <a:xfrm>
            <a:off x="194310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8F15B-5EF7-4099-BC5D-54BDFB8DB000}"/>
              </a:ext>
            </a:extLst>
          </p:cNvPr>
          <p:cNvSpPr>
            <a:spLocks noGrp="1"/>
          </p:cNvSpPr>
          <p:nvPr/>
        </p:nvSpPr>
        <p:spPr>
          <a:xfrm>
            <a:off x="2038350" y="44958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21CFF-B926-4A53-9D10-E46AAE7FAC54}"/>
              </a:ext>
            </a:extLst>
          </p:cNvPr>
          <p:cNvSpPr>
            <a:spLocks noGrp="1"/>
          </p:cNvSpPr>
          <p:nvPr/>
        </p:nvSpPr>
        <p:spPr>
          <a:xfrm>
            <a:off x="276225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548BE3-3A4C-4AE4-AD4C-586D4EA374F3}"/>
              </a:ext>
            </a:extLst>
          </p:cNvPr>
          <p:cNvSpPr>
            <a:spLocks noGrp="1"/>
          </p:cNvSpPr>
          <p:nvPr/>
        </p:nvSpPr>
        <p:spPr>
          <a:xfrm>
            <a:off x="2857500" y="44958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Tenor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76C7DB-1DAC-419D-85B5-0DB3C0D96ED2}"/>
              </a:ext>
            </a:extLst>
          </p:cNvPr>
          <p:cNvSpPr>
            <a:spLocks noGrp="1"/>
          </p:cNvSpPr>
          <p:nvPr/>
        </p:nvSpPr>
        <p:spPr>
          <a:xfrm>
            <a:off x="358140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EB4D0C-5EA6-4E00-906B-4B2C3DE93FFB}"/>
              </a:ext>
            </a:extLst>
          </p:cNvPr>
          <p:cNvSpPr>
            <a:spLocks noGrp="1"/>
          </p:cNvSpPr>
          <p:nvPr/>
        </p:nvSpPr>
        <p:spPr>
          <a:xfrm>
            <a:off x="3676650" y="44958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E48ECE-6832-4445-AA9E-DC272F44068B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9C5F40-61DD-4CC4-858C-D3690CDDC956}"/>
              </a:ext>
            </a:extLst>
          </p:cNvPr>
          <p:cNvSpPr>
            <a:spLocks noGrp="1"/>
          </p:cNvSpPr>
          <p:nvPr/>
        </p:nvSpPr>
        <p:spPr>
          <a:xfrm>
            <a:off x="4495800" y="44958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8DD8F8-0379-420D-AF7A-5F117D68BF5B}"/>
              </a:ext>
            </a:extLst>
          </p:cNvPr>
          <p:cNvSpPr>
            <a:spLocks noGrp="1"/>
          </p:cNvSpPr>
          <p:nvPr/>
        </p:nvSpPr>
        <p:spPr>
          <a:xfrm>
            <a:off x="819150" y="4838700"/>
            <a:ext cx="44005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B3B731-C1A0-49BC-B020-E7C09C921BFA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Lookup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E2210F-AADA-4619-9FF1-CE3C0FA18B80}"/>
              </a:ext>
            </a:extLst>
          </p:cNvPr>
          <p:cNvSpPr>
            <a:spLocks noGrp="1"/>
          </p:cNvSpPr>
          <p:nvPr/>
        </p:nvSpPr>
        <p:spPr>
          <a:xfrm>
            <a:off x="194310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1180D7-DD7C-4705-8C00-3215BF78FD03}"/>
              </a:ext>
            </a:extLst>
          </p:cNvPr>
          <p:cNvSpPr>
            <a:spLocks noGrp="1"/>
          </p:cNvSpPr>
          <p:nvPr/>
        </p:nvSpPr>
        <p:spPr>
          <a:xfrm>
            <a:off x="2038350" y="493395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18.4%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46199D-4CF8-4AE3-A1A0-16AB29B6B4F7}"/>
              </a:ext>
            </a:extLst>
          </p:cNvPr>
          <p:cNvSpPr>
            <a:spLocks noGrp="1"/>
          </p:cNvSpPr>
          <p:nvPr/>
        </p:nvSpPr>
        <p:spPr>
          <a:xfrm>
            <a:off x="276225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5F6A65-1A5A-4F04-9321-D0A590E08EB2}"/>
              </a:ext>
            </a:extLst>
          </p:cNvPr>
          <p:cNvSpPr>
            <a:spLocks noGrp="1"/>
          </p:cNvSpPr>
          <p:nvPr/>
        </p:nvSpPr>
        <p:spPr>
          <a:xfrm>
            <a:off x="2857500" y="493395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24.6%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D080BA-8DD2-4843-B7FA-57C7787EC6E4}"/>
              </a:ext>
            </a:extLst>
          </p:cNvPr>
          <p:cNvSpPr>
            <a:spLocks noGrp="1"/>
          </p:cNvSpPr>
          <p:nvPr/>
        </p:nvSpPr>
        <p:spPr>
          <a:xfrm>
            <a:off x="358140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55A8FA-9F3C-420E-8BE7-E60E3E576598}"/>
              </a:ext>
            </a:extLst>
          </p:cNvPr>
          <p:cNvSpPr>
            <a:spLocks noGrp="1"/>
          </p:cNvSpPr>
          <p:nvPr/>
        </p:nvSpPr>
        <p:spPr>
          <a:xfrm>
            <a:off x="3676650" y="493395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37.9%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5499A6-35B6-4D4D-9ECD-2198ACDB4A85}"/>
              </a:ext>
            </a:extLst>
          </p:cNvPr>
          <p:cNvSpPr>
            <a:spLocks noGrp="1"/>
          </p:cNvSpPr>
          <p:nvPr/>
        </p:nvSpPr>
        <p:spPr>
          <a:xfrm>
            <a:off x="4400550" y="483870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724CB4-0120-49F6-BA71-C45155ACC7CE}"/>
              </a:ext>
            </a:extLst>
          </p:cNvPr>
          <p:cNvSpPr>
            <a:spLocks noGrp="1"/>
          </p:cNvSpPr>
          <p:nvPr/>
        </p:nvSpPr>
        <p:spPr>
          <a:xfrm>
            <a:off x="4495800" y="493395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7.4%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3CC162-B248-4B45-BD5E-6F72F89319DB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44005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019BFA-91D4-4D30-8150-EE2E87C0685A}"/>
              </a:ext>
            </a:extLst>
          </p:cNvPr>
          <p:cNvSpPr>
            <a:spLocks noGrp="1"/>
          </p:cNvSpPr>
          <p:nvPr/>
        </p:nvSpPr>
        <p:spPr>
          <a:xfrm>
            <a:off x="914400" y="53721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BiGRU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158305-BB24-472D-BC3F-3DB933CA7BD5}"/>
              </a:ext>
            </a:extLst>
          </p:cNvPr>
          <p:cNvSpPr>
            <a:spLocks noGrp="1"/>
          </p:cNvSpPr>
          <p:nvPr/>
        </p:nvSpPr>
        <p:spPr>
          <a:xfrm>
            <a:off x="194310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B6219C-765B-4E48-87CC-43A7DE2BB78B}"/>
              </a:ext>
            </a:extLst>
          </p:cNvPr>
          <p:cNvSpPr>
            <a:spLocks noGrp="1"/>
          </p:cNvSpPr>
          <p:nvPr/>
        </p:nvSpPr>
        <p:spPr>
          <a:xfrm>
            <a:off x="2038350" y="53721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26.3%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01F26D-37A4-4767-A892-618922700EF6}"/>
              </a:ext>
            </a:extLst>
          </p:cNvPr>
          <p:cNvSpPr>
            <a:spLocks noGrp="1"/>
          </p:cNvSpPr>
          <p:nvPr/>
        </p:nvSpPr>
        <p:spPr>
          <a:xfrm>
            <a:off x="276225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4CBA86-D6EA-4D12-85E7-D1D805B58E0F}"/>
              </a:ext>
            </a:extLst>
          </p:cNvPr>
          <p:cNvSpPr>
            <a:spLocks noGrp="1"/>
          </p:cNvSpPr>
          <p:nvPr/>
        </p:nvSpPr>
        <p:spPr>
          <a:xfrm>
            <a:off x="2857500" y="53721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22.7%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8A375C-F134-419F-ADD5-FB2B59292801}"/>
              </a:ext>
            </a:extLst>
          </p:cNvPr>
          <p:cNvSpPr>
            <a:spLocks noGrp="1"/>
          </p:cNvSpPr>
          <p:nvPr/>
        </p:nvSpPr>
        <p:spPr>
          <a:xfrm>
            <a:off x="358140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187E50-CD29-4C3D-ADEE-C7943361292E}"/>
              </a:ext>
            </a:extLst>
          </p:cNvPr>
          <p:cNvSpPr>
            <a:spLocks noGrp="1"/>
          </p:cNvSpPr>
          <p:nvPr/>
        </p:nvSpPr>
        <p:spPr>
          <a:xfrm>
            <a:off x="3676650" y="53721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38.5%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4B86E5-B3F6-493C-97CF-17D466377621}"/>
              </a:ext>
            </a:extLst>
          </p:cNvPr>
          <p:cNvSpPr>
            <a:spLocks noGrp="1"/>
          </p:cNvSpPr>
          <p:nvPr/>
        </p:nvSpPr>
        <p:spPr>
          <a:xfrm>
            <a:off x="4400550" y="5276850"/>
            <a:ext cx="9525" cy="4381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BD8B09-FF3C-4028-89BA-242EE57591C6}"/>
              </a:ext>
            </a:extLst>
          </p:cNvPr>
          <p:cNvSpPr>
            <a:spLocks noGrp="1"/>
          </p:cNvSpPr>
          <p:nvPr/>
        </p:nvSpPr>
        <p:spPr>
          <a:xfrm>
            <a:off x="4495800" y="5372100"/>
            <a:ext cx="62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3.6%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AF13A1-0B87-4A9A-BE0F-E9FBD52150CA}"/>
              </a:ext>
            </a:extLst>
          </p:cNvPr>
          <p:cNvSpPr>
            <a:spLocks noGrp="1"/>
          </p:cNvSpPr>
          <p:nvPr/>
        </p:nvSpPr>
        <p:spPr>
          <a:xfrm>
            <a:off x="5619750" y="4533900"/>
            <a:ext cx="361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Interpretation: exact ATB match is harsh because many harmonizations can be valid. The useful signal is the combination of per-voice accuracy, range/crossing sanity, and fewer parallel perfect intervals.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7F2E03-333C-4448-9FE0-D9D230A6F94F}"/>
              </a:ext>
            </a:extLst>
          </p:cNvPr>
          <p:cNvSpPr>
            <a:spLocks noGrp="1"/>
          </p:cNvSpPr>
          <p:nvPr/>
        </p:nvSpPr>
        <p:spPr>
          <a:xfrm>
            <a:off x="5619750" y="556260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B33A5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33A5B"/>
                </a:solidFill>
                <a:latin typeface="Aptos"/>
                <a:ea typeface="Aptos"/>
                <a:cs typeface="Aptos"/>
              </a:rPr>
              <a:t>Failure mode to mention during playback: the neural harmonizer is plausible locally but does not always land with a strong final cadence.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9A09D2-7DDE-41B0-B138-914D9D042C9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82A5FF-0AA8-4754-BBFB-43336E2AD3D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outputs/logs/conditioned_history.json, outputs/tables/conditioned_metrics.csv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9DB7B-223E-4C73-8BAF-AF182E0B859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08 / task 2</a:t>
            </a:r>
          </a:p>
        </p:txBody>
      </p:sp>
    </p:spTree>
    <p:extLst>
      <p:ext uri="{BB962C8B-B14F-4D97-AF65-F5344CB8AC3E}">
        <p14:creationId xmlns:p14="http://schemas.microsoft.com/office/powerpoint/2010/main" val="144359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F6497F7-680E-4620-9700-5E35501C59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4583433-1D2E-4B4E-A294-570CE3FBC29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B1B4AA1-B310-448F-9CE6-59ED58C83608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C01618-7215-4858-95F9-F3B84D7FC60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Predictive fit and musical plausibility answer different questions.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5AE3E-0AE9-4868-B958-D6EE554FA357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23812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2BBFE-F523-430F-8B0A-B3F24967BCE8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2381250" cy="76200"/>
          </a:xfrm>
          <a:prstGeom prst="rect">
            <a:avLst/>
          </a:prstGeom>
          <a:solidFill>
            <a:srgbClr val="3A6E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1FF1EC-1D1B-4CDC-A73D-B4A91FE89CFB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ML fit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F8F56-10FC-42A1-B055-38423F0D8BC9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038350" cy="323850"/>
          </a:xfrm>
          <a:prstGeom prst="rect">
            <a:avLst/>
          </a:prstGeom>
          <a:solidFill>
            <a:srgbClr val="DDE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919A22-47CB-4A00-A315-D3EB739E57E4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validation/test loss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E381F-F23D-49B2-A640-F4F28CA270C1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2038350" cy="323850"/>
          </a:xfrm>
          <a:prstGeom prst="rect">
            <a:avLst/>
          </a:prstGeom>
          <a:solidFill>
            <a:srgbClr val="DDE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F49C57-5D29-48AB-AB46-380AE9FD1F95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perplexity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1256D-20F1-46E8-83D1-FADACDB57CEA}"/>
              </a:ext>
            </a:extLst>
          </p:cNvPr>
          <p:cNvSpPr>
            <a:spLocks noGrp="1"/>
          </p:cNvSpPr>
          <p:nvPr/>
        </p:nvSpPr>
        <p:spPr>
          <a:xfrm>
            <a:off x="876300" y="3752850"/>
            <a:ext cx="2038350" cy="323850"/>
          </a:xfrm>
          <a:prstGeom prst="rect">
            <a:avLst/>
          </a:prstGeom>
          <a:solidFill>
            <a:srgbClr val="DDE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C8F560-C006-4A32-8291-E9053B430FDA}"/>
              </a:ext>
            </a:extLst>
          </p:cNvPr>
          <p:cNvSpPr>
            <a:spLocks noGrp="1"/>
          </p:cNvSpPr>
          <p:nvPr/>
        </p:nvSpPr>
        <p:spPr>
          <a:xfrm>
            <a:off x="990600" y="38290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per-voice accuracy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F89853-A7F6-4276-8D9D-CFA79255B2C4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2038350" cy="323850"/>
          </a:xfrm>
          <a:prstGeom prst="rect">
            <a:avLst/>
          </a:prstGeom>
          <a:solidFill>
            <a:srgbClr val="DDE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32D099-00CC-419E-B161-667E4BE09150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exact ATB accuracy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D6CF57-554C-4E54-88BB-115DB335841B}"/>
              </a:ext>
            </a:extLst>
          </p:cNvPr>
          <p:cNvSpPr>
            <a:spLocks noGrp="1"/>
          </p:cNvSpPr>
          <p:nvPr/>
        </p:nvSpPr>
        <p:spPr>
          <a:xfrm>
            <a:off x="3486150" y="2038350"/>
            <a:ext cx="23812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BABFB-C267-4253-8AA9-AF28CC860D12}"/>
              </a:ext>
            </a:extLst>
          </p:cNvPr>
          <p:cNvSpPr>
            <a:spLocks noGrp="1"/>
          </p:cNvSpPr>
          <p:nvPr/>
        </p:nvSpPr>
        <p:spPr>
          <a:xfrm>
            <a:off x="3486150" y="2038350"/>
            <a:ext cx="2381250" cy="76200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829C98-24D1-42AE-B39A-32654D639F1C}"/>
              </a:ext>
            </a:extLst>
          </p:cNvPr>
          <p:cNvSpPr>
            <a:spLocks noGrp="1"/>
          </p:cNvSpPr>
          <p:nvPr/>
        </p:nvSpPr>
        <p:spPr>
          <a:xfrm>
            <a:off x="3657600" y="2305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Voice-leading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8F355-2037-4566-9CB3-3F187E348C9E}"/>
              </a:ext>
            </a:extLst>
          </p:cNvPr>
          <p:cNvSpPr>
            <a:spLocks noGrp="1"/>
          </p:cNvSpPr>
          <p:nvPr/>
        </p:nvSpPr>
        <p:spPr>
          <a:xfrm>
            <a:off x="3657600" y="2838450"/>
            <a:ext cx="2038350" cy="323850"/>
          </a:xfrm>
          <a:prstGeom prst="rect">
            <a:avLst/>
          </a:prstGeom>
          <a:solidFill>
            <a:srgbClr val="DD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CCEA64-81A1-46B9-8AC2-DAB1A6ED8565}"/>
              </a:ext>
            </a:extLst>
          </p:cNvPr>
          <p:cNvSpPr>
            <a:spLocks noGrp="1"/>
          </p:cNvSpPr>
          <p:nvPr/>
        </p:nvSpPr>
        <p:spPr>
          <a:xfrm>
            <a:off x="3771900" y="29146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range violations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A5D44C-3031-4304-89AC-D12B4F7954A0}"/>
              </a:ext>
            </a:extLst>
          </p:cNvPr>
          <p:cNvSpPr>
            <a:spLocks noGrp="1"/>
          </p:cNvSpPr>
          <p:nvPr/>
        </p:nvSpPr>
        <p:spPr>
          <a:xfrm>
            <a:off x="3657600" y="3295650"/>
            <a:ext cx="2038350" cy="323850"/>
          </a:xfrm>
          <a:prstGeom prst="rect">
            <a:avLst/>
          </a:prstGeom>
          <a:solidFill>
            <a:srgbClr val="DD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813976-316F-4E03-8C8E-5E40DC306DB9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voice crossings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5E04C4-BDEC-4B12-8F72-93F855B8CCAB}"/>
              </a:ext>
            </a:extLst>
          </p:cNvPr>
          <p:cNvSpPr>
            <a:spLocks noGrp="1"/>
          </p:cNvSpPr>
          <p:nvPr/>
        </p:nvSpPr>
        <p:spPr>
          <a:xfrm>
            <a:off x="3657600" y="3752850"/>
            <a:ext cx="2038350" cy="323850"/>
          </a:xfrm>
          <a:prstGeom prst="rect">
            <a:avLst/>
          </a:prstGeom>
          <a:solidFill>
            <a:srgbClr val="DD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8AFB51-881F-4B91-87B0-EF19D9AF08BD}"/>
              </a:ext>
            </a:extLst>
          </p:cNvPr>
          <p:cNvSpPr>
            <a:spLocks noGrp="1"/>
          </p:cNvSpPr>
          <p:nvPr/>
        </p:nvSpPr>
        <p:spPr>
          <a:xfrm>
            <a:off x="3771900" y="38290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repeated-note ratio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8F574-9A98-424E-BDBD-56E39A364643}"/>
              </a:ext>
            </a:extLst>
          </p:cNvPr>
          <p:cNvSpPr>
            <a:spLocks noGrp="1"/>
          </p:cNvSpPr>
          <p:nvPr/>
        </p:nvSpPr>
        <p:spPr>
          <a:xfrm>
            <a:off x="3657600" y="4210050"/>
            <a:ext cx="2038350" cy="323850"/>
          </a:xfrm>
          <a:prstGeom prst="rect">
            <a:avLst/>
          </a:prstGeom>
          <a:solidFill>
            <a:srgbClr val="DD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9249F1-7461-4F14-BBA5-1CF04A671633}"/>
              </a:ext>
            </a:extLst>
          </p:cNvPr>
          <p:cNvSpPr>
            <a:spLocks noGrp="1"/>
          </p:cNvSpPr>
          <p:nvPr/>
        </p:nvSpPr>
        <p:spPr>
          <a:xfrm>
            <a:off x="3771900" y="42862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parallel fifths/octaves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E88726-5F7A-4F10-B096-B1E58B0527E1}"/>
              </a:ext>
            </a:extLst>
          </p:cNvPr>
          <p:cNvSpPr>
            <a:spLocks noGrp="1"/>
          </p:cNvSpPr>
          <p:nvPr/>
        </p:nvSpPr>
        <p:spPr>
          <a:xfrm>
            <a:off x="6267450" y="2038350"/>
            <a:ext cx="23812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B3ECE-1F1E-4377-9F72-4E594DB299E3}"/>
              </a:ext>
            </a:extLst>
          </p:cNvPr>
          <p:cNvSpPr>
            <a:spLocks noGrp="1"/>
          </p:cNvSpPr>
          <p:nvPr/>
        </p:nvSpPr>
        <p:spPr>
          <a:xfrm>
            <a:off x="6267450" y="2038350"/>
            <a:ext cx="2381250" cy="76200"/>
          </a:xfrm>
          <a:prstGeom prst="rect">
            <a:avLst/>
          </a:prstGeom>
          <a:solidFill>
            <a:srgbClr val="C994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089DC6-4733-4466-AA6A-B52D991DC03D}"/>
              </a:ext>
            </a:extLst>
          </p:cNvPr>
          <p:cNvSpPr>
            <a:spLocks noGrp="1"/>
          </p:cNvSpPr>
          <p:nvPr/>
        </p:nvSpPr>
        <p:spPr>
          <a:xfrm>
            <a:off x="6438900" y="2305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994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942F"/>
                </a:solidFill>
                <a:latin typeface="Aptos Display"/>
                <a:ea typeface="Aptos Display"/>
                <a:cs typeface="Aptos Display"/>
              </a:rPr>
              <a:t>Harmony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C776B0-E917-4883-B53E-40F7C8B9CCA8}"/>
              </a:ext>
            </a:extLst>
          </p:cNvPr>
          <p:cNvSpPr>
            <a:spLocks noGrp="1"/>
          </p:cNvSpPr>
          <p:nvPr/>
        </p:nvSpPr>
        <p:spPr>
          <a:xfrm>
            <a:off x="6438900" y="2838450"/>
            <a:ext cx="2038350" cy="323850"/>
          </a:xfrm>
          <a:prstGeom prst="rect">
            <a:avLst/>
          </a:prstGeom>
          <a:solidFill>
            <a:srgbClr val="F4E6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E84016-A4FB-42A3-AF38-36EAB863152E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strong-beat consonance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03584E-1805-40C2-834F-609ECD2F25E3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2038350" cy="323850"/>
          </a:xfrm>
          <a:prstGeom prst="rect">
            <a:avLst/>
          </a:prstGeom>
          <a:solidFill>
            <a:srgbClr val="F4E6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A5A0FD-1D2F-49F7-9479-8BAD35224E68}"/>
              </a:ext>
            </a:extLst>
          </p:cNvPr>
          <p:cNvSpPr>
            <a:spLocks noGrp="1"/>
          </p:cNvSpPr>
          <p:nvPr/>
        </p:nvSpPr>
        <p:spPr>
          <a:xfrm>
            <a:off x="6553200" y="3371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chord diversity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D04629-C3B6-4825-BB94-2F8D37711E39}"/>
              </a:ext>
            </a:extLst>
          </p:cNvPr>
          <p:cNvSpPr>
            <a:spLocks noGrp="1"/>
          </p:cNvSpPr>
          <p:nvPr/>
        </p:nvSpPr>
        <p:spPr>
          <a:xfrm>
            <a:off x="6438900" y="3752850"/>
            <a:ext cx="2038350" cy="323850"/>
          </a:xfrm>
          <a:prstGeom prst="rect">
            <a:avLst/>
          </a:prstGeom>
          <a:solidFill>
            <a:srgbClr val="F4E6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10593F-518F-4C1B-AD74-379319FF3DE9}"/>
              </a:ext>
            </a:extLst>
          </p:cNvPr>
          <p:cNvSpPr>
            <a:spLocks noGrp="1"/>
          </p:cNvSpPr>
          <p:nvPr/>
        </p:nvSpPr>
        <p:spPr>
          <a:xfrm>
            <a:off x="6553200" y="38290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cadence heuristic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2C5890-5F1D-4DC1-B9C2-EB61C6C8EC6C}"/>
              </a:ext>
            </a:extLst>
          </p:cNvPr>
          <p:cNvSpPr>
            <a:spLocks noGrp="1"/>
          </p:cNvSpPr>
          <p:nvPr/>
        </p:nvSpPr>
        <p:spPr>
          <a:xfrm>
            <a:off x="9048750" y="2038350"/>
            <a:ext cx="23812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3B1AEF-9F1E-4FED-8ED8-BDC6115D3604}"/>
              </a:ext>
            </a:extLst>
          </p:cNvPr>
          <p:cNvSpPr>
            <a:spLocks noGrp="1"/>
          </p:cNvSpPr>
          <p:nvPr/>
        </p:nvSpPr>
        <p:spPr>
          <a:xfrm>
            <a:off x="9048750" y="2038350"/>
            <a:ext cx="2381250" cy="76200"/>
          </a:xfrm>
          <a:prstGeom prst="rect">
            <a:avLst/>
          </a:prstGeom>
          <a:solidFill>
            <a:srgbClr val="B33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318E52-4DAA-40E6-BFEE-7882BFC97448}"/>
              </a:ext>
            </a:extLst>
          </p:cNvPr>
          <p:cNvSpPr>
            <a:spLocks noGrp="1"/>
          </p:cNvSpPr>
          <p:nvPr/>
        </p:nvSpPr>
        <p:spPr>
          <a:xfrm>
            <a:off x="9220200" y="2305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rPr>
              <a:t>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CDC109-B8C6-4936-8247-5C7D99787BCD}"/>
              </a:ext>
            </a:extLst>
          </p:cNvPr>
          <p:cNvSpPr>
            <a:spLocks noGrp="1"/>
          </p:cNvSpPr>
          <p:nvPr/>
        </p:nvSpPr>
        <p:spPr>
          <a:xfrm>
            <a:off x="9220200" y="2838450"/>
            <a:ext cx="2038350" cy="323850"/>
          </a:xfrm>
          <a:prstGeom prst="rect">
            <a:avLst/>
          </a:prstGeom>
          <a:solidFill>
            <a:srgbClr val="F1D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DA1741-777F-47E1-979A-7049FA81C101}"/>
              </a:ext>
            </a:extLst>
          </p:cNvPr>
          <p:cNvSpPr>
            <a:spLocks noGrp="1"/>
          </p:cNvSpPr>
          <p:nvPr/>
        </p:nvSpPr>
        <p:spPr>
          <a:xfrm>
            <a:off x="9334500" y="29146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pitch-class histogram distance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6BDD52-139C-444A-B9A6-7277147646DB}"/>
              </a:ext>
            </a:extLst>
          </p:cNvPr>
          <p:cNvSpPr>
            <a:spLocks noGrp="1"/>
          </p:cNvSpPr>
          <p:nvPr/>
        </p:nvSpPr>
        <p:spPr>
          <a:xfrm>
            <a:off x="9220200" y="3295650"/>
            <a:ext cx="2038350" cy="323850"/>
          </a:xfrm>
          <a:prstGeom prst="rect">
            <a:avLst/>
          </a:prstGeom>
          <a:solidFill>
            <a:srgbClr val="F1DD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3CB8A45-2FAE-4BA0-9B2F-2EC43A35474C}"/>
              </a:ext>
            </a:extLst>
          </p:cNvPr>
          <p:cNvSpPr>
            <a:spLocks noGrp="1"/>
          </p:cNvSpPr>
          <p:nvPr/>
        </p:nvSpPr>
        <p:spPr>
          <a:xfrm>
            <a:off x="9334500" y="3371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generated vs. training pitch footprint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E858D2-DE03-40F8-BECF-A5C3E9EF8DE7}"/>
              </a:ext>
            </a:extLst>
          </p:cNvPr>
          <p:cNvSpPr>
            <a:spLocks noGrp="1"/>
          </p:cNvSpPr>
          <p:nvPr/>
        </p:nvSpPr>
        <p:spPr>
          <a:xfrm>
            <a:off x="1371600" y="5486400"/>
            <a:ext cx="1257300" cy="285750"/>
          </a:xfrm>
          <a:prstGeom prst="rect">
            <a:avLst/>
          </a:prstGeom>
          <a:solidFill>
            <a:srgbClr val="E6E8E3"/>
          </a:solidFill>
          <a:ln w="9525">
            <a:solidFill>
              <a:srgbClr val="171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C222E2-B179-4104-8DA0-0C6148389E59}"/>
              </a:ext>
            </a:extLst>
          </p:cNvPr>
          <p:cNvSpPr>
            <a:spLocks noGrp="1"/>
          </p:cNvSpPr>
          <p:nvPr/>
        </p:nvSpPr>
        <p:spPr>
          <a:xfrm>
            <a:off x="1466850" y="55435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Core message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281A37-B7AD-4168-8720-0036C6EBDBB5}"/>
              </a:ext>
            </a:extLst>
          </p:cNvPr>
          <p:cNvSpPr>
            <a:spLocks noGrp="1"/>
          </p:cNvSpPr>
          <p:nvPr/>
        </p:nvSpPr>
        <p:spPr>
          <a:xfrm>
            <a:off x="2857500" y="5476875"/>
            <a:ext cx="7124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Good likelihood alone is not enough: a generated chorale also needs singable ranges, stable sonorities, varied chords, and a convincing ending.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1737FA-8603-492D-8F95-42DD8940C47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E71350-34CD-40D8-8D48-1395A96D7E8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src/evaluate.py, src/metrics_music.py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5F9A139-2B58-4BE2-B8BD-63F558A3855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09 / evaluation</a:t>
            </a:r>
          </a:p>
        </p:txBody>
      </p:sp>
    </p:spTree>
    <p:extLst>
      <p:ext uri="{BB962C8B-B14F-4D97-AF65-F5344CB8AC3E}">
        <p14:creationId xmlns:p14="http://schemas.microsoft.com/office/powerpoint/2010/main" val="165670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A15410C-1608-49BF-AFA2-DF45DDE3B6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7421639-3B11-463A-926F-82322702D46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86F42DE-A74A-4185-AD2F-2C5E19770768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LISTENING 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10C0E-8B22-4CA3-A899-831DD3BBAC2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Use playback to connect the metric tradeoffs to what graders hear.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A21B8-CB41-4A51-9C53-34E38E02B8B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953000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F095D4-4E91-4983-B9E6-65DF86B2DF8D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Playback order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DBDF4-2FDA-496A-82F0-E0EFE25A6872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657600" cy="53340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972B6A-BCAF-4C33-9FFF-8270C63B812C}"/>
              </a:ext>
            </a:extLst>
          </p:cNvPr>
          <p:cNvSpPr>
            <a:spLocks noGrp="1"/>
          </p:cNvSpPr>
          <p:nvPr/>
        </p:nvSpPr>
        <p:spPr>
          <a:xfrm>
            <a:off x="1200150" y="287655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1. symbolic_unconditioned.mid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0546B2-A690-4C35-8A6B-E7B2520EC404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3657600" cy="533400"/>
          </a:xfrm>
          <a:prstGeom prst="rect">
            <a:avLst/>
          </a:prstGeom>
          <a:solidFill>
            <a:srgbClr val="DDEFEA"/>
          </a:solidFill>
          <a:ln w="9525">
            <a:solidFill>
              <a:srgbClr val="16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BA24A-C0A7-4C8C-BEBF-A83F5D3BFEAE}"/>
              </a:ext>
            </a:extLst>
          </p:cNvPr>
          <p:cNvSpPr>
            <a:spLocks noGrp="1"/>
          </p:cNvSpPr>
          <p:nvPr/>
        </p:nvSpPr>
        <p:spPr>
          <a:xfrm>
            <a:off x="1200150" y="365760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2. symbolic_conditioned.mid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A63A2C-5BA3-4DAC-B8D2-FB002DD1122E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Optional comparison files live in `outputs/midi/`: baseline_unconditioned.mid, baseline_conditioned.mid, and reference_test_chorale.mid.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9E3594-AFF4-4DD3-8C6C-C68DA61DE4F7}"/>
              </a:ext>
            </a:extLst>
          </p:cNvPr>
          <p:cNvSpPr>
            <a:spLocks noGrp="1"/>
          </p:cNvSpPr>
          <p:nvPr/>
        </p:nvSpPr>
        <p:spPr>
          <a:xfrm>
            <a:off x="6172200" y="1790700"/>
            <a:ext cx="5162550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F0415-9F09-48CB-A0FD-F542EAE89465}"/>
              </a:ext>
            </a:extLst>
          </p:cNvPr>
          <p:cNvSpPr>
            <a:spLocks noGrp="1"/>
          </p:cNvSpPr>
          <p:nvPr/>
        </p:nvSpPr>
        <p:spPr>
          <a:xfrm>
            <a:off x="6496050" y="2095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What to listen for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63C98-FB18-4BF1-B220-68C6DC693EDC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1428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C2FDA-328F-459D-945D-4CDA5BE06707}"/>
              </a:ext>
            </a:extLst>
          </p:cNvPr>
          <p:cNvSpPr>
            <a:spLocks noGrp="1"/>
          </p:cNvSpPr>
          <p:nvPr/>
        </p:nvSpPr>
        <p:spPr>
          <a:xfrm>
            <a:off x="6724650" y="282892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8C7F"/>
                </a:solidFill>
                <a:latin typeface="Aptos Display"/>
                <a:ea typeface="Aptos Display"/>
                <a:cs typeface="Aptos Display"/>
              </a:rPr>
              <a:t>Variety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9860C4-51C9-476D-957B-8FE69E6F54F6}"/>
              </a:ext>
            </a:extLst>
          </p:cNvPr>
          <p:cNvSpPr>
            <a:spLocks noGrp="1"/>
          </p:cNvSpPr>
          <p:nvPr/>
        </p:nvSpPr>
        <p:spPr>
          <a:xfrm>
            <a:off x="6724650" y="3200400"/>
            <a:ext cx="112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Does it move beyond repeated states?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9EC408-353C-4773-A962-C819F83CCDFD}"/>
              </a:ext>
            </a:extLst>
          </p:cNvPr>
          <p:cNvSpPr>
            <a:spLocks noGrp="1"/>
          </p:cNvSpPr>
          <p:nvPr/>
        </p:nvSpPr>
        <p:spPr>
          <a:xfrm>
            <a:off x="8210550" y="2705100"/>
            <a:ext cx="1428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5613CD-E935-435D-8954-75F979A48BED}"/>
              </a:ext>
            </a:extLst>
          </p:cNvPr>
          <p:cNvSpPr>
            <a:spLocks noGrp="1"/>
          </p:cNvSpPr>
          <p:nvPr/>
        </p:nvSpPr>
        <p:spPr>
          <a:xfrm>
            <a:off x="8362950" y="282892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Ordering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85B9AC-401E-4044-86B0-FBCDE52C71DA}"/>
              </a:ext>
            </a:extLst>
          </p:cNvPr>
          <p:cNvSpPr>
            <a:spLocks noGrp="1"/>
          </p:cNvSpPr>
          <p:nvPr/>
        </p:nvSpPr>
        <p:spPr>
          <a:xfrm>
            <a:off x="8362950" y="3200400"/>
            <a:ext cx="112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Do lower voices stay below upper voices?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C83C57-6A42-469F-9B6D-7605B23E23BA}"/>
              </a:ext>
            </a:extLst>
          </p:cNvPr>
          <p:cNvSpPr>
            <a:spLocks noGrp="1"/>
          </p:cNvSpPr>
          <p:nvPr/>
        </p:nvSpPr>
        <p:spPr>
          <a:xfrm>
            <a:off x="9848850" y="2705100"/>
            <a:ext cx="1428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22566F-CBAB-4357-B453-786D4E21A108}"/>
              </a:ext>
            </a:extLst>
          </p:cNvPr>
          <p:cNvSpPr>
            <a:spLocks noGrp="1"/>
          </p:cNvSpPr>
          <p:nvPr/>
        </p:nvSpPr>
        <p:spPr>
          <a:xfrm>
            <a:off x="10001250" y="282892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33A5B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EBBE09-55C0-4E0E-A868-D1E5D08D89EB}"/>
              </a:ext>
            </a:extLst>
          </p:cNvPr>
          <p:cNvSpPr>
            <a:spLocks noGrp="1"/>
          </p:cNvSpPr>
          <p:nvPr/>
        </p:nvSpPr>
        <p:spPr>
          <a:xfrm>
            <a:off x="10001250" y="3200400"/>
            <a:ext cx="112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Does the ending sound final?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54CA3B-325B-4E67-A696-3963982E2549}"/>
              </a:ext>
            </a:extLst>
          </p:cNvPr>
          <p:cNvSpPr>
            <a:spLocks noGrp="1"/>
          </p:cNvSpPr>
          <p:nvPr/>
        </p:nvSpPr>
        <p:spPr>
          <a:xfrm>
            <a:off x="6610350" y="4057650"/>
            <a:ext cx="1257300" cy="285750"/>
          </a:xfrm>
          <a:prstGeom prst="rect">
            <a:avLst/>
          </a:prstGeom>
          <a:solidFill>
            <a:srgbClr val="F4E6C8"/>
          </a:solidFill>
          <a:ln w="9525">
            <a:solidFill>
              <a:srgbClr val="C994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67B77F-4525-4F7D-AD13-61F395ACAA37}"/>
              </a:ext>
            </a:extLst>
          </p:cNvPr>
          <p:cNvSpPr>
            <a:spLocks noGrp="1"/>
          </p:cNvSpPr>
          <p:nvPr/>
        </p:nvSpPr>
        <p:spPr>
          <a:xfrm>
            <a:off x="6705600" y="41148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C9942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C9942F"/>
                </a:solidFill>
                <a:latin typeface="Aptos"/>
                <a:ea typeface="Aptos"/>
                <a:cs typeface="Aptos"/>
              </a:rPr>
              <a:t>Narration cue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6250E7-AA76-460D-B6D6-F860496AA939}"/>
              </a:ext>
            </a:extLst>
          </p:cNvPr>
          <p:cNvSpPr>
            <a:spLocks noGrp="1"/>
          </p:cNvSpPr>
          <p:nvPr/>
        </p:nvSpPr>
        <p:spPr>
          <a:xfrm>
            <a:off x="8058150" y="40576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A3F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A3F44"/>
                </a:solidFill>
                <a:latin typeface="Aptos"/>
                <a:ea typeface="Aptos"/>
                <a:cs typeface="Aptos"/>
              </a:rPr>
              <a:t>Frame imperfections as model behavior: this helps graders see that the evaluation and listening discussion match the code.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8E501E-7F4E-4343-AF97-07358E8C60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932097-D75E-4E3E-A703-A84AA8E12E1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outputs/midi/symbolic_unconditioned.mid, outputs/midi/symbolic_conditioned.mid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02D162-771D-4EE0-8325-8A4F9222FAB5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10 / demo</a:t>
            </a:r>
          </a:p>
        </p:txBody>
      </p:sp>
    </p:spTree>
    <p:extLst>
      <p:ext uri="{BB962C8B-B14F-4D97-AF65-F5344CB8AC3E}">
        <p14:creationId xmlns:p14="http://schemas.microsoft.com/office/powerpoint/2010/main" val="15202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E291BF8-FA0A-4203-B5D7-7F8079BFAB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8DF87BE-600A-4CF0-8FB4-E7912CBE937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28575"/>
          </a:xfrm>
          <a:prstGeom prst="rect">
            <a:avLst/>
          </a:prstGeom>
          <a:solidFill>
            <a:srgbClr val="16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FF1F3A2-E4F8-4115-AD5B-D59BB7CA0D8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6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C7F"/>
                </a:solidFill>
                <a:latin typeface="Aptos"/>
                <a:ea typeface="Aptos"/>
                <a:cs typeface="Aptos"/>
              </a:rPr>
              <a:t>RELATED WORK AND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83E43-F559-43FE-9FCF-817C56A68D3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BachBot is smaller than research systems, so the tradeoffs are visible.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47758-9C98-441B-B368-254F067480D1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98869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AAB42C-192E-4D84-9DA3-F7759408040A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9886950" cy="666750"/>
          </a:xfrm>
          <a:prstGeom prst="rect">
            <a:avLst/>
          </a:prstGeom>
          <a:solidFill>
            <a:srgbClr val="171A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F7E19F-487A-495D-87CB-9FC61C162107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FAA90-4678-40A8-AB26-B9104A2C6CF2}"/>
              </a:ext>
            </a:extLst>
          </p:cNvPr>
          <p:cNvSpPr>
            <a:spLocks noGrp="1"/>
          </p:cNvSpPr>
          <p:nvPr/>
        </p:nvSpPr>
        <p:spPr>
          <a:xfrm>
            <a:off x="2514600" y="180975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E7F638-0CFC-4A71-A43F-D4228BA727A8}"/>
              </a:ext>
            </a:extLst>
          </p:cNvPr>
          <p:cNvSpPr>
            <a:spLocks noGrp="1"/>
          </p:cNvSpPr>
          <p:nvPr/>
        </p:nvSpPr>
        <p:spPr>
          <a:xfrm>
            <a:off x="2609850" y="1905000"/>
            <a:ext cx="3371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brings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E2E55-9DBE-40D7-91E8-7080F0B5DB4E}"/>
              </a:ext>
            </a:extLst>
          </p:cNvPr>
          <p:cNvSpPr>
            <a:spLocks noGrp="1"/>
          </p:cNvSpPr>
          <p:nvPr/>
        </p:nvSpPr>
        <p:spPr>
          <a:xfrm>
            <a:off x="6076950" y="180975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353C1-433A-42AB-8042-9F1A5620F55E}"/>
              </a:ext>
            </a:extLst>
          </p:cNvPr>
          <p:cNvSpPr>
            <a:spLocks noGrp="1"/>
          </p:cNvSpPr>
          <p:nvPr/>
        </p:nvSpPr>
        <p:spPr>
          <a:xfrm>
            <a:off x="6172200" y="1905000"/>
            <a:ext cx="4343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BachBot differs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A6BCC4-2092-4D32-98FD-3A1A7297959E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98869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22A2F-8ED9-4316-9886-EBE06C69732E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DeepBach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B30FF9-DAF5-4035-AC6D-55908A939004}"/>
              </a:ext>
            </a:extLst>
          </p:cNvPr>
          <p:cNvSpPr>
            <a:spLocks noGrp="1"/>
          </p:cNvSpPr>
          <p:nvPr/>
        </p:nvSpPr>
        <p:spPr>
          <a:xfrm>
            <a:off x="2514600" y="247650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C3241-D020-41BB-A581-051A72F5EDBF}"/>
              </a:ext>
            </a:extLst>
          </p:cNvPr>
          <p:cNvSpPr>
            <a:spLocks noGrp="1"/>
          </p:cNvSpPr>
          <p:nvPr/>
        </p:nvSpPr>
        <p:spPr>
          <a:xfrm>
            <a:off x="2609850" y="2571750"/>
            <a:ext cx="3371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Direct Bach chorale generation and harmonization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75CD29-209C-4477-A58A-F3BB91652521}"/>
              </a:ext>
            </a:extLst>
          </p:cNvPr>
          <p:cNvSpPr>
            <a:spLocks noGrp="1"/>
          </p:cNvSpPr>
          <p:nvPr/>
        </p:nvSpPr>
        <p:spPr>
          <a:xfrm>
            <a:off x="6076950" y="247650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F4EF7-FFD8-495E-8A20-C4E1B71A425B}"/>
              </a:ext>
            </a:extLst>
          </p:cNvPr>
          <p:cNvSpPr>
            <a:spLocks noGrp="1"/>
          </p:cNvSpPr>
          <p:nvPr/>
        </p:nvSpPr>
        <p:spPr>
          <a:xfrm>
            <a:off x="6172200" y="2571750"/>
            <a:ext cx="4343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lighter grid representation, GRU models, class-scale training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94762A-35D0-42F7-AA53-CD592D3E834F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98869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E3898E-D9DE-474B-857C-8AB0DC9CD3A5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Music Transformer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3635CB-B6BA-4CFA-9C8A-173B3A6D9DED}"/>
              </a:ext>
            </a:extLst>
          </p:cNvPr>
          <p:cNvSpPr>
            <a:spLocks noGrp="1"/>
          </p:cNvSpPr>
          <p:nvPr/>
        </p:nvSpPr>
        <p:spPr>
          <a:xfrm>
            <a:off x="2514600" y="314325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355894-CD59-42C6-8E06-2DF4D572C4C5}"/>
              </a:ext>
            </a:extLst>
          </p:cNvPr>
          <p:cNvSpPr>
            <a:spLocks noGrp="1"/>
          </p:cNvSpPr>
          <p:nvPr/>
        </p:nvSpPr>
        <p:spPr>
          <a:xfrm>
            <a:off x="2609850" y="3238500"/>
            <a:ext cx="3371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self-attention for longer-range symbolic 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CA0C06-37E0-4A4D-A931-150C3C4CDDAD}"/>
              </a:ext>
            </a:extLst>
          </p:cNvPr>
          <p:cNvSpPr>
            <a:spLocks noGrp="1"/>
          </p:cNvSpPr>
          <p:nvPr/>
        </p:nvSpPr>
        <p:spPr>
          <a:xfrm>
            <a:off x="6076950" y="314325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E0F1A-9426-4A85-A0BB-47CA7459419C}"/>
              </a:ext>
            </a:extLst>
          </p:cNvPr>
          <p:cNvSpPr>
            <a:spLocks noGrp="1"/>
          </p:cNvSpPr>
          <p:nvPr/>
        </p:nvSpPr>
        <p:spPr>
          <a:xfrm>
            <a:off x="6172200" y="3238500"/>
            <a:ext cx="4343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GRU is cheaper and easier to train for the MVP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B0DDCA-35D4-4B35-99F9-7BADE92DABDE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88695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7C347B-797B-4F2C-BCAC-1CAE70601C00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Bach chorales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D0FA77-A313-4CCB-98AF-BCC2D38266B1}"/>
              </a:ext>
            </a:extLst>
          </p:cNvPr>
          <p:cNvSpPr>
            <a:spLocks noGrp="1"/>
          </p:cNvSpPr>
          <p:nvPr/>
        </p:nvSpPr>
        <p:spPr>
          <a:xfrm>
            <a:off x="2514600" y="381000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F345ED-5218-4F84-BD60-6A6DBFFC259B}"/>
              </a:ext>
            </a:extLst>
          </p:cNvPr>
          <p:cNvSpPr>
            <a:spLocks noGrp="1"/>
          </p:cNvSpPr>
          <p:nvPr/>
        </p:nvSpPr>
        <p:spPr>
          <a:xfrm>
            <a:off x="2609850" y="3905250"/>
            <a:ext cx="3371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compact SATB benchmark with harmonic regularities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441059-EA78-4F78-B844-41BCA267B36D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9525" cy="666750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DC8D55-C9C2-474F-B851-D26D8F20680D}"/>
              </a:ext>
            </a:extLst>
          </p:cNvPr>
          <p:cNvSpPr>
            <a:spLocks noGrp="1"/>
          </p:cNvSpPr>
          <p:nvPr/>
        </p:nvSpPr>
        <p:spPr>
          <a:xfrm>
            <a:off x="6172200" y="3905250"/>
            <a:ext cx="4343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fallback corpus keeps pipeline runnable without corpus access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7A7184-BD54-47CF-A6CC-C1FBA77A684C}"/>
              </a:ext>
            </a:extLst>
          </p:cNvPr>
          <p:cNvSpPr>
            <a:spLocks noGrp="1"/>
          </p:cNvSpPr>
          <p:nvPr/>
        </p:nvSpPr>
        <p:spPr>
          <a:xfrm>
            <a:off x="952500" y="5372100"/>
            <a:ext cx="9582150" cy="552450"/>
          </a:xfrm>
          <a:prstGeom prst="rect">
            <a:avLst/>
          </a:prstGeom>
          <a:solidFill>
            <a:srgbClr val="F1DDE4"/>
          </a:solidFill>
          <a:ln w="9525">
            <a:solidFill>
              <a:srgbClr val="B3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3B27CE-F543-4305-8B35-D8D344B0615E}"/>
              </a:ext>
            </a:extLst>
          </p:cNvPr>
          <p:cNvSpPr>
            <a:spLocks noGrp="1"/>
          </p:cNvSpPr>
          <p:nvPr/>
        </p:nvSpPr>
        <p:spPr>
          <a:xfrm>
            <a:off x="1162050" y="5505450"/>
            <a:ext cx="8763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3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87985-479C-4BD6-B5D6-C2821B2CA516}"/>
              </a:ext>
            </a:extLst>
          </p:cNvPr>
          <p:cNvSpPr>
            <a:spLocks noGrp="1"/>
          </p:cNvSpPr>
          <p:nvPr/>
        </p:nvSpPr>
        <p:spPr>
          <a:xfrm>
            <a:off x="1257300" y="5562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B33A5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33A5B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D81C60-73BB-44F9-9205-091DB14869BD}"/>
              </a:ext>
            </a:extLst>
          </p:cNvPr>
          <p:cNvSpPr>
            <a:spLocks noGrp="1"/>
          </p:cNvSpPr>
          <p:nvPr/>
        </p:nvSpPr>
        <p:spPr>
          <a:xfrm>
            <a:off x="2247900" y="5505450"/>
            <a:ext cx="786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Small data, fixed eighth-note grid, short training, and no explicit harmony constraints explain many of the remaining musical errors.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4A6B34-1253-4204-A5A6-067941861E2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6E8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EF8583-AB7B-4DAE-B7FC-4F77EAF51C1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bachbot_group_project_plan.md, notebooks/workbook.html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F946A3-5BA0-4BC5-83F9-886CDB35B37D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8706D"/>
                </a:solidFill>
                <a:latin typeface="Aptos Mono"/>
                <a:ea typeface="Aptos Mono"/>
                <a:cs typeface="Aptos Mono"/>
              </a:rPr>
              <a:t>11 / related work</a:t>
            </a:r>
          </a:p>
        </p:txBody>
      </p:sp>
    </p:spTree>
    <p:extLst>
      <p:ext uri="{BB962C8B-B14F-4D97-AF65-F5344CB8AC3E}">
        <p14:creationId xmlns:p14="http://schemas.microsoft.com/office/powerpoint/2010/main" val="10868726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Macintosh PowerPoint</Application>
  <DocSecurity>0</DocSecurity>
  <PresentationFormat>Widescreen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WEIQI ZHOU</cp:lastModifiedBy>
  <cp:revision>1</cp:revision>
  <dcterms:created xsi:type="dcterms:W3CDTF">2026-05-28T04:09:20Z</dcterms:created>
  <dcterms:modified xsi:type="dcterms:W3CDTF">2026-05-31T05:48:34Z</dcterms:modified>
</cp:coreProperties>
</file>