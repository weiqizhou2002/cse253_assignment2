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d95d0083914165" /><Relationship Type="http://schemas.openxmlformats.org/officeDocument/2006/relationships/extended-properties" Target="/docProps/app.xml" Id="Ra6e9027fb8574f7b" /><Relationship Type="http://schemas.openxmlformats.org/officeDocument/2006/relationships/officeDocument" Target="/ppt/presentation.xml" Id="R121d1bf181014a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72c1c929ba4c5b"/>
  </p:sldMasterIdLst>
  <p:notesMasterIdLst>
    <p:notesMasterId xmlns:r="http://schemas.openxmlformats.org/officeDocument/2006/relationships" r:id="Rffaaceec72f14be6"/>
  </p:notesMasterIdLst>
  <p:sldIdLst>
    <p:sldId xmlns:r="http://schemas.openxmlformats.org/officeDocument/2006/relationships" id="256" r:id="R3e39306e9ab44278"/>
    <p:sldId xmlns:r="http://schemas.openxmlformats.org/officeDocument/2006/relationships" id="257" r:id="R1beac05eb3c34d68"/>
    <p:sldId xmlns:r="http://schemas.openxmlformats.org/officeDocument/2006/relationships" id="258" r:id="R03e2449e43cb4320"/>
    <p:sldId xmlns:r="http://schemas.openxmlformats.org/officeDocument/2006/relationships" id="259" r:id="R78725e931d864252"/>
    <p:sldId xmlns:r="http://schemas.openxmlformats.org/officeDocument/2006/relationships" id="260" r:id="R2cfee6a40d224d15"/>
    <p:sldId xmlns:r="http://schemas.openxmlformats.org/officeDocument/2006/relationships" id="261" r:id="Ra891611f61154b94"/>
    <p:sldId xmlns:r="http://schemas.openxmlformats.org/officeDocument/2006/relationships" id="262" r:id="Rdd4e78b893c241ca"/>
    <p:sldId xmlns:r="http://schemas.openxmlformats.org/officeDocument/2006/relationships" id="263" r:id="R5e37111385cf41e0"/>
    <p:sldId xmlns:r="http://schemas.openxmlformats.org/officeDocument/2006/relationships" id="264" r:id="Rc516803243e048d1"/>
    <p:sldId xmlns:r="http://schemas.openxmlformats.org/officeDocument/2006/relationships" id="265" r:id="Rb34841b348354c9a"/>
    <p:sldId xmlns:r="http://schemas.openxmlformats.org/officeDocument/2006/relationships" id="266" r:id="R3180e4798d604fe4"/>
    <p:sldId xmlns:r="http://schemas.openxmlformats.org/officeDocument/2006/relationships" id="267" r:id="Rc8896602b4d8404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72c1c929ba4c5b" /><Relationship Type="http://schemas.openxmlformats.org/officeDocument/2006/relationships/theme" Target="/ppt/theme/theme1.xml" Id="R3f305a8ac1db4549" /><Relationship Type="http://schemas.openxmlformats.org/officeDocument/2006/relationships/notesMaster" Target="/ppt/notesMasters/notesMaster1.xml" Id="Rffaaceec72f14be6" /><Relationship Type="http://schemas.openxmlformats.org/officeDocument/2006/relationships/presProps" Target="/ppt/presProps.xml" Id="Rbc25af382124423f" /><Relationship Type="http://schemas.openxmlformats.org/officeDocument/2006/relationships/viewProps" Target="/ppt/viewProps.xml" Id="R3fd1a5b94f164d21" /><Relationship Type="http://schemas.openxmlformats.org/officeDocument/2006/relationships/tableStyles" Target="/ppt/tableStyles.xml" Id="Rf0a038781a614542" /><Relationship Type="http://schemas.openxmlformats.org/officeDocument/2006/relationships/slide" Target="/ppt/slides/slide1.xml" Id="R3e39306e9ab44278" /><Relationship Type="http://schemas.openxmlformats.org/officeDocument/2006/relationships/slide" Target="/ppt/slides/slide2.xml" Id="R1beac05eb3c34d68" /><Relationship Type="http://schemas.openxmlformats.org/officeDocument/2006/relationships/slide" Target="/ppt/slides/slide3.xml" Id="R03e2449e43cb4320" /><Relationship Type="http://schemas.openxmlformats.org/officeDocument/2006/relationships/slide" Target="/ppt/slides/slide4.xml" Id="R78725e931d864252" /><Relationship Type="http://schemas.openxmlformats.org/officeDocument/2006/relationships/slide" Target="/ppt/slides/slide5.xml" Id="R2cfee6a40d224d15" /><Relationship Type="http://schemas.openxmlformats.org/officeDocument/2006/relationships/slide" Target="/ppt/slides/slide6.xml" Id="Ra891611f61154b94" /><Relationship Type="http://schemas.openxmlformats.org/officeDocument/2006/relationships/slide" Target="/ppt/slides/slide7.xml" Id="Rdd4e78b893c241ca" /><Relationship Type="http://schemas.openxmlformats.org/officeDocument/2006/relationships/slide" Target="/ppt/slides/slide8.xml" Id="R5e37111385cf41e0" /><Relationship Type="http://schemas.openxmlformats.org/officeDocument/2006/relationships/slide" Target="/ppt/slides/slide9.xml" Id="Rc516803243e048d1" /><Relationship Type="http://schemas.openxmlformats.org/officeDocument/2006/relationships/slide" Target="/ppt/slides/slide10.xml" Id="Rb34841b348354c9a" /><Relationship Type="http://schemas.openxmlformats.org/officeDocument/2006/relationships/slide" Target="/ppt/slides/slide11.xml" Id="R3180e4798d604fe4" /><Relationship Type="http://schemas.openxmlformats.org/officeDocument/2006/relationships/slide" Target="/ppt/slides/slide12.xml" Id="Rc8896602b4d840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b087785b70343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41dfa392fd49da" /><Relationship Type="http://schemas.openxmlformats.org/officeDocument/2006/relationships/notesMaster" Target="/ppt/notesMasters/notesMaster1.xml" Id="R6e08f83a75b34b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1316c158d44511" /><Relationship Type="http://schemas.openxmlformats.org/officeDocument/2006/relationships/notesMaster" Target="/ppt/notesMasters/notesMaster1.xml" Id="R9a5499ecacce43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805f2655e046e8" /><Relationship Type="http://schemas.openxmlformats.org/officeDocument/2006/relationships/notesMaster" Target="/ppt/notesMasters/notesMaster1.xml" Id="Rda3effd1e0814a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e20adf2a624a26" /><Relationship Type="http://schemas.openxmlformats.org/officeDocument/2006/relationships/notesMaster" Target="/ppt/notesMasters/notesMaster1.xml" Id="R8b949c4116cb45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3aa11538f74d2a" /><Relationship Type="http://schemas.openxmlformats.org/officeDocument/2006/relationships/notesMaster" Target="/ppt/notesMasters/notesMaster1.xml" Id="R4998fd8196064b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c3bf7d0c9940c9" /><Relationship Type="http://schemas.openxmlformats.org/officeDocument/2006/relationships/notesMaster" Target="/ppt/notesMasters/notesMaster1.xml" Id="R9cee24071d304b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f6f1df8fcc40aa" /><Relationship Type="http://schemas.openxmlformats.org/officeDocument/2006/relationships/notesMaster" Target="/ppt/notesMasters/notesMaster1.xml" Id="R3b078817e59f4a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9479f3ffa447b0" /><Relationship Type="http://schemas.openxmlformats.org/officeDocument/2006/relationships/notesMaster" Target="/ppt/notesMasters/notesMaster1.xml" Id="R3598b6ee1bde4c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4a6cec78c74ba3" /><Relationship Type="http://schemas.openxmlformats.org/officeDocument/2006/relationships/notesMaster" Target="/ppt/notesMasters/notesMaster1.xml" Id="R8be49a61bdf542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c5340e90874be2" /><Relationship Type="http://schemas.openxmlformats.org/officeDocument/2006/relationships/notesMaster" Target="/ppt/notesMasters/notesMaster1.xml" Id="R73028c601ac746d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1a08a0022084601" /><Relationship Type="http://schemas.openxmlformats.org/officeDocument/2006/relationships/notesMaster" Target="/ppt/notesMasters/notesMaster1.xml" Id="R26aabcef9b1048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72fa2e23e0488f" /><Relationship Type="http://schemas.openxmlformats.org/officeDocument/2006/relationships/notesMaster" Target="/ppt/notesMasters/notesMaster1.xml" Id="R5cc944c7089849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a15c14e130468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df5247136f8406e" /><Relationship Type="http://schemas.openxmlformats.org/officeDocument/2006/relationships/slideLayout" Target="/ppt/slideLayouts/slideLayout2.xml" Id="Rfc71048b19d342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71048b19d342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ff1eb105974d59" /><Relationship Type="http://schemas.openxmlformats.org/officeDocument/2006/relationships/notesSlide" Target="/ppt/notesSlides/notesSlide1.xml" Id="R200b4a0b325743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283a012004476b" /><Relationship Type="http://schemas.openxmlformats.org/officeDocument/2006/relationships/notesSlide" Target="/ppt/notesSlides/notesSlide2.xml" Id="R9a166a5728804c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208b74024e4683" /><Relationship Type="http://schemas.openxmlformats.org/officeDocument/2006/relationships/notesSlide" Target="/ppt/notesSlides/notesSlide3.xml" Id="R63443790789e44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849e00461d42ed" /><Relationship Type="http://schemas.openxmlformats.org/officeDocument/2006/relationships/image" Target="/ppt/media/image.png" Id="Re77e9c4fc92f4f2a" /><Relationship Type="http://schemas.openxmlformats.org/officeDocument/2006/relationships/image" Target="/ppt/media/image2.png" Id="Rab8eeebc62b04da1" /><Relationship Type="http://schemas.openxmlformats.org/officeDocument/2006/relationships/image" Target="/ppt/media/image3.png" Id="Rba700b2a0a884ef7" /><Relationship Type="http://schemas.openxmlformats.org/officeDocument/2006/relationships/notesSlide" Target="/ppt/notesSlides/notesSlide4.xml" Id="R0d63cb1828bc4b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11590797684c1b" /><Relationship Type="http://schemas.openxmlformats.org/officeDocument/2006/relationships/notesSlide" Target="/ppt/notesSlides/notesSlide5.xml" Id="R66b3ed2a076248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9a91ef92c54112" /><Relationship Type="http://schemas.openxmlformats.org/officeDocument/2006/relationships/image" Target="/ppt/media/image4.png" Id="R56dc948eb3da4dd4" /><Relationship Type="http://schemas.openxmlformats.org/officeDocument/2006/relationships/image" Target="/ppt/media/image5.png" Id="R169752a6f3d14db7" /><Relationship Type="http://schemas.openxmlformats.org/officeDocument/2006/relationships/notesSlide" Target="/ppt/notesSlides/notesSlide6.xml" Id="Rd5122c0faf7040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6be80ebfca440b" /><Relationship Type="http://schemas.openxmlformats.org/officeDocument/2006/relationships/notesSlide" Target="/ppt/notesSlides/notesSlide7.xml" Id="Re50e4918229641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75dbdbefe94184" /><Relationship Type="http://schemas.openxmlformats.org/officeDocument/2006/relationships/image" Target="/ppt/media/image6.png" Id="R20b0490061f04337" /><Relationship Type="http://schemas.openxmlformats.org/officeDocument/2006/relationships/image" Target="/ppt/media/image7.png" Id="R056471aba93c4a81" /><Relationship Type="http://schemas.openxmlformats.org/officeDocument/2006/relationships/notesSlide" Target="/ppt/notesSlides/notesSlide8.xml" Id="R0edbf6179bab49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ef4d501fd84f97" /><Relationship Type="http://schemas.openxmlformats.org/officeDocument/2006/relationships/notesSlide" Target="/ppt/notesSlides/notesSlide9.xml" Id="Rabe9cc5a815b40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91b399243f407d" /><Relationship Type="http://schemas.openxmlformats.org/officeDocument/2006/relationships/notesSlide" Target="/ppt/notesSlides/notesSlide10.xml" Id="R964d7aec9aa14ab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88a3e11adc4710" /><Relationship Type="http://schemas.openxmlformats.org/officeDocument/2006/relationships/notesSlide" Target="/ppt/notesSlides/notesSlide11.xml" Id="Rdd057107183842f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5c435dc9514a17" /><Relationship Type="http://schemas.openxmlformats.org/officeDocument/2006/relationships/notesSlide" Target="/ppt/notesSlides/notesSlide12.xml" Id="R434f7e71c19a4d5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559081-EC92-4F18-A3FF-ED547C78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A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B18C72A-907E-4EAC-A1DE-E80D0CF2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4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8D99201-E81B-4173-820A-1B01D805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72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942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42F"/>
                </a:solidFill>
                <a:latin typeface="Aptos"/>
                <a:ea typeface="Aptos"/>
                <a:cs typeface="Aptos"/>
              </a:rPr>
              <a:t>CSE 153/253 ASSIGNMENT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5CA86-83CF-445E-9AD8-CB7D513F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5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BachBot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83E0B-C630-40E7-8864-C69CE33F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810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Two symbolic generation systems, one reproducible chorale pipeline.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290B7-49EA-48B0-A828-B2F2CADF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733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Unconditioned SATB generation + soprano-conditioned harmonization, trained with lightweight neural models and evaluated with ML and music-theory metrics.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71A78C-5BAB-4B83-99D2-7FE75B77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162050"/>
            <a:ext cx="272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7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9CAD28-3412-4A50-BC2F-3A72BB54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90650"/>
            <a:ext cx="272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7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0D5BA-CE53-4443-A86A-C63CE258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72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7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B86CB-6854-4A20-8C05-8BEF4644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47850"/>
            <a:ext cx="272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7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E51A2D-4E71-4DE7-8EDC-59ED2B10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76450"/>
            <a:ext cx="272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7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F154C3-FF95-4E87-8F85-7B05BFEF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504950"/>
            <a:ext cx="22860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5E4F66-6498-4294-9850-4AB7DCF9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104900"/>
            <a:ext cx="28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D39A1C-D8AF-47CB-8336-792394F3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276350"/>
            <a:ext cx="22860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4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C4D2E1-0C4F-4343-8F00-818183E2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876300"/>
            <a:ext cx="28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4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F91A5-63F2-4167-9D53-09B21FCF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733550"/>
            <a:ext cx="22860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3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3AE1AE-A311-41AD-8964-309CD769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1333500"/>
            <a:ext cx="28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ED9FA8-0E5B-4319-B796-684B39D7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390650"/>
            <a:ext cx="22860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6E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315143-6060-4BFB-93E8-582713A0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990600"/>
            <a:ext cx="28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6E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7E2B89-F5AB-4721-9B79-CA59C76C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5918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B9B28B-52BC-4852-BC29-4A538957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1581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A444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821FFA-9C0A-42AF-8E14-FB93AA53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33925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96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A01534-1CFA-4C6D-8681-EAEB5697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1276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chorale-style sequences in this run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0C977B-2BCC-4A42-A2DD-32A767F3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10100"/>
            <a:ext cx="1581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A444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C7F313-24D7-4011-A05A-5E015B0D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33925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F1095D-CD97-4361-8CE2-B1BEBC90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05400"/>
            <a:ext cx="1276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assignment tasks covered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9D85A7-86DB-453E-B915-7A1562C4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10100"/>
            <a:ext cx="1962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A444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02F827-9076-4DEC-A45E-2F4A27C3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339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DA926B-44A8-4608-B51A-24A66E02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05400"/>
            <a:ext cx="165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training epochs for each neural model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AB2599-875E-47FB-8D59-2B2D4C85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101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A444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237B75-B397-49B9-9933-CBDA8DE2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733925"/>
            <a:ext cx="150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 MIDI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2F78A1-F463-490C-947C-031ADC99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1054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final generated music 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E2EB18-B801-489B-9390-0846CA14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1010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A444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2D57ED-C1F4-41CD-9BFD-B289C88B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33925"/>
            <a:ext cx="2038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20 min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93B1DA-D24B-42C3-BC27-419384F5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target presentation length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8E2435-6E3E-4C20-BFCC-A14EAAE0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B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0217FA-EE93-44E7-9FC1-898792F3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9D0CE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9D0CE"/>
                </a:solidFill>
                <a:latin typeface="Aptos Mono"/>
                <a:ea typeface="Aptos Mono"/>
                <a:cs typeface="Aptos Mono"/>
              </a:rPr>
              <a:t>README.md, presentation_outline.md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699432E-A96F-4F6E-84F8-E79D43F1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C9D0CE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9D0CE"/>
                </a:solidFill>
                <a:latin typeface="Aptos Mono"/>
                <a:ea typeface="Aptos Mono"/>
                <a:cs typeface="Aptos Mono"/>
              </a:rPr>
              <a:t>01 / intro</a:t>
            </a:r>
          </a:p>
        </p:txBody>
      </p:sp>
    </p:spTree>
    <p:extLst>
      <p:ext uri="{BB962C8B-B14F-4D97-AF65-F5344CB8AC3E}">
        <p14:creationId xmlns:p14="http://schemas.microsoft.com/office/powerpoint/2010/main" val="56033987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6145A5-D161-4484-BDD5-4F007DC9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3D7574E-C1AB-43EB-89E4-ACA76081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1D75281-9CFB-4556-9D96-625B00C4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TALK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F8B92-6686-415D-BE35-89451D50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The story follows the rubric, with shared data and evaluation up front.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65B97-09F7-42EA-859F-909958C7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1676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1DC4E2-21D0-4B38-A2EB-E2604D2F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1676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4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B6B18-F20A-4096-9362-AED35B93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rPr>
              <a:t>1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7E233-6DEB-44B4-B994-E6E280BA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67050"/>
            <a:ext cx="137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Intro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D47C07-C8FC-45F3-9802-9F2B8169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Two tasks and project goal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D41531-8504-4F1F-837E-777F9EEB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43275"/>
            <a:ext cx="19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1633BB-4B48-4A8F-AC34-E770FA59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00300"/>
            <a:ext cx="1676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D4591C-6CAB-4A3D-9B8A-382101EC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00300"/>
            <a:ext cx="1676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CA4E73-15BC-4942-909B-9FCBF4EE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479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3 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BF08D-DE41-4A7B-B82E-2C8B7C86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67050"/>
            <a:ext cx="137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Data + EDA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A1D643-AB23-4E67-A413-1EF871D8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004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SATB grid, tokenization, plots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A89130-E61A-48E4-B92C-7CEA88BE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343275"/>
            <a:ext cx="19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CB38F4-E298-4FB7-BE6F-45BEFEC6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0300"/>
            <a:ext cx="1676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7BD137-0008-41EF-AAE7-9AF0E4D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0300"/>
            <a:ext cx="1676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6E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D358DB-D3C3-4909-8372-27446640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rPr>
              <a:t>4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3D94B4-3DE8-4E31-9694-0F9A24C9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67050"/>
            <a:ext cx="137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Task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8D196B-6E9A-42BE-93AD-43D680C9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004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Markov baseline and GRU generator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EA766D-0D7A-46B7-A953-DF4930CB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43275"/>
            <a:ext cx="19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B1F5BE-C7DD-4AEF-BD5E-F061B828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00300"/>
            <a:ext cx="1676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D8828C-15A7-447A-AF9C-173CF4CA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00300"/>
            <a:ext cx="1676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6E3FFA-52CE-4DB3-B881-3177E0EC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479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rPr>
              <a:t>4 min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87101B-1910-45CE-82D0-9B5717BF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67050"/>
            <a:ext cx="137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Task 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2AD912-1FAC-4990-B540-350DAA7D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004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Lookup baseline and BiGRU harmonizer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E698CC-7BD5-4C4B-9492-5DF55E53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43275"/>
            <a:ext cx="19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151646-C8B9-4C60-8B5B-2F8960AE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00300"/>
            <a:ext cx="1676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B00874-AB13-4568-B5F8-B36217BB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00300"/>
            <a:ext cx="1676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F224E8-07C6-49D8-B395-399AB6AB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479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5 min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EA8B47-77F6-4C3D-A1F6-8AE624CD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67050"/>
            <a:ext cx="137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Evaluation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B33EC75-941E-45FE-9F8D-A95AE19E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004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Loss, accuracy, music metrics, results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40E606-96FB-4738-A4A0-5B020AB3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343275"/>
            <a:ext cx="19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7C8580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A8B4E1-28BA-46AC-B0D0-0465EA12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1676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2DBE9E-F43B-4E6F-A024-FC2EAC3C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1676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4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A93617-45D3-4A93-96B4-DC744CDC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479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rPr>
              <a:t>3 min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904CD7-92E1-4F92-83F0-33BD6F00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67050"/>
            <a:ext cx="137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Limits + wrap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08D2D3-83B6-41E7-97B9-41D00BC5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6004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Related work, files, takeaways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9FDC358-9CF2-4283-AD3A-1F99DDF3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89C3D4-F2BB-427C-A13A-A95D4513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2445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Member 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89E178-0161-4F0A-A229-D6F124FB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0673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DE4"/>
          </a:solidFill>
          <a:ln xmlns:a="http://schemas.openxmlformats.org/drawingml/2006/main" w="9525">
            <a:solidFill>
              <a:srgbClr val="B33A5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ABF5CB-7A49-405B-8C06-371D6385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12445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B33A5B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B33A5B"/>
                </a:solidFill>
                <a:latin typeface="Aptos"/>
                <a:ea typeface="Aptos"/>
                <a:cs typeface="Aptos"/>
              </a:rPr>
              <a:t>Member 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563392-6AD5-4A1C-B155-16B1FB8C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673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9525">
            <a:solidFill>
              <a:srgbClr val="3A6EA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0B80A1-541E-421E-8B9F-DDDFF202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12445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3A6EA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3A6EA5"/>
                </a:solidFill>
                <a:latin typeface="Aptos"/>
                <a:ea typeface="Aptos"/>
                <a:cs typeface="Aptos"/>
              </a:rPr>
              <a:t>Member C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56AD2DA-4531-495C-9783-3958DF5B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505450"/>
            <a:ext cx="512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Suggested ending: play both generated MIDI outputs after the formal 20 minutes.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020B0D-3E11-4DE7-812E-69C8727C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DE8D1C-A3CE-4C0C-993F-A44E62C5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presentation_outline.md, assignment prompt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3EF13B7-2849-40D3-9D0B-516F33AF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02 / roadmap</a:t>
            </a:r>
          </a:p>
        </p:txBody>
      </p:sp>
    </p:spTree>
    <p:extLst>
      <p:ext uri="{BB962C8B-B14F-4D97-AF65-F5344CB8AC3E}">
        <p14:creationId xmlns:p14="http://schemas.microsoft.com/office/powerpoint/2010/main" val="14725893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498CA4-1C1C-4C84-91FC-0981DCDC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2B86C6A-896C-4764-AABE-F2212F3C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C31FCBA-A3E8-4036-82EC-E40EB992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DATA REPRESENTATION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A06F88-9927-4F5F-B5C1-698E23BC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Every model sees chorales as an eighth-note SATB token grid.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7A3497-F3E5-42A3-B36E-0ADF9412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7810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DE4"/>
          </a:solidFill>
          <a:ln xmlns:a="http://schemas.openxmlformats.org/drawingml/2006/main" w="9525">
            <a:solidFill>
              <a:srgbClr val="B33A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37C90-9B2A-4CEF-84B6-9ACFBC85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838200"/>
            <a:ext cx="876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B33A5B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B33A5B"/>
                </a:solidFill>
                <a:latin typeface="Aptos"/>
                <a:ea typeface="Aptos"/>
                <a:cs typeface="Aptos"/>
              </a:rPr>
              <a:t>This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9CC4EE-7342-45CC-AE58-2CD1743B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800100"/>
            <a:ext cx="1562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33A5B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33A5B"/>
                </a:solidFill>
                <a:latin typeface="Aptos"/>
                <a:ea typeface="Aptos"/>
                <a:cs typeface="Aptos"/>
              </a:rPr>
              <a:t>Used deterministic chorale-style fallback corpus because `music21` was unavailable.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0CAE42-F60F-4973-B60D-827D9CBA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90750"/>
            <a:ext cx="1790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6C8"/>
          </a:solidFill>
          <a:ln xmlns:a="http://schemas.openxmlformats.org/drawingml/2006/main" w="9525">
            <a:solidFill>
              <a:srgbClr val="C9942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34E5F-0B24-4080-A479-DDF0962E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Score / fallback chorale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B2F348-C62D-4C7F-B8D4-FD765B4D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193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D71CD-66F8-4FC1-A7D4-08FC290A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1790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11E74-4655-44E1-AD52-85616F95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8600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Quantize</a:t>
            </a:r>
          </a:p>
          <a:p xmlns:a="http://schemas.openxmlformats.org/drawingml/2006/main">
            <a:pPr algn="ctr">
              <a:defRPr sz="135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0.5 quarterLength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04D05-1217-4C72-A0E8-4EED088D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193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53586-9876-47E3-A2A1-9CA826F6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90750"/>
            <a:ext cx="1790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9525">
            <a:solidFill>
              <a:srgbClr val="3A6EA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59839-EF83-4587-A790-A6ECA5A2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28600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T x 4 matrix</a:t>
            </a:r>
          </a:p>
          <a:p xmlns:a="http://schemas.openxmlformats.org/drawingml/2006/main">
            <a:pPr algn="ctr">
              <a:defRPr sz="135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S A T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8F1EBC-3A17-4E15-9CDA-E6502572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193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18739A-E05D-4E9F-8F14-D32DB09F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90750"/>
            <a:ext cx="2343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A2A66-3909-46E2-8DB2-2C52DE89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86000"/>
            <a:ext cx="2076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Token ids</a:t>
            </a:r>
          </a:p>
          <a:p xmlns:a="http://schemas.openxmlformats.org/drawingml/2006/main">
            <a:pPr algn="ctr">
              <a:defRPr sz="120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PAD REST HOLD START END + MIDI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0A27F-7502-4D99-B5BC-7DE9E3D5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52197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0AA0CD-7EA9-4337-AE9E-A3AA23C4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147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SATB grid example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E0F86A-DC67-46E8-8577-F17BEC40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338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A3F44"/>
                </a:solidFill>
                <a:latin typeface="Aptos"/>
                <a:ea typeface="Aptos"/>
                <a:cs typeface="Aptos"/>
              </a:rPr>
              <a:t>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E536B-1909-48D0-962C-04AE9057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1338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A3F44"/>
                </a:solidFill>
                <a:latin typeface="Aptos"/>
                <a:ea typeface="Aptos"/>
                <a:cs typeface="Aptos"/>
              </a:rPr>
              <a:t>soprano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42E3AE-5E82-4D9E-9043-C5534503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1338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A3F44"/>
                </a:solidFill>
                <a:latin typeface="Aptos"/>
                <a:ea typeface="Aptos"/>
                <a:cs typeface="Aptos"/>
              </a:rPr>
              <a:t>alto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0E0579-2C43-499D-A40D-97EB1B72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1338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A3F44"/>
                </a:solidFill>
                <a:latin typeface="Aptos"/>
                <a:ea typeface="Aptos"/>
                <a:cs typeface="Aptos"/>
              </a:rPr>
              <a:t>tenor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329ACA-4FF2-41CF-99CD-6DEC305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1338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A3F44"/>
                </a:solidFill>
                <a:latin typeface="Aptos"/>
                <a:ea typeface="Aptos"/>
                <a:cs typeface="Aptos"/>
              </a:rPr>
              <a:t>bass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C14948-1A1B-4B03-987D-4AC73AB7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81500"/>
            <a:ext cx="468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618FDF-A659-4E44-857A-3F08C664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386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71A1F"/>
                </a:solidFill>
                <a:latin typeface="Aptos Mono"/>
                <a:ea typeface="Aptos Mono"/>
                <a:cs typeface="Aptos Mono"/>
              </a:rPr>
              <a:t>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17C32F-25CA-4831-BA2B-5D617972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386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72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EC7C34-E0D7-40D6-97FA-8AB1AB68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4386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64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819BCA-107B-4124-B547-EE033AE0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4386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4B2F35-97F6-4A68-BF31-8795FA9D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386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5B470E-D5FA-4179-A587-2A7A6FEB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48200"/>
            <a:ext cx="468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43495D-40AE-4852-A55E-7178BFF9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053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71A1F"/>
                </a:solidFill>
                <a:latin typeface="Aptos Mono"/>
                <a:ea typeface="Aptos Mono"/>
                <a:cs typeface="Aptos Mono"/>
              </a:rPr>
              <a:t>t+1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FBE2A-D7BB-4805-815F-28A5F967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053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72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1F3F6B-1AC9-4BB5-A1DE-CEBF1A86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7053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65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6695FA-BA36-47D4-BB8F-08B1635C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7053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0CE4304-4C03-4848-9E61-E0A7ADC3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053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3379EC-7219-4A91-BCE7-585FEFF2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14900"/>
            <a:ext cx="468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1A9383-305C-4DB6-A66D-6B502581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71A1F"/>
                </a:solidFill>
                <a:latin typeface="Aptos Mono"/>
                <a:ea typeface="Aptos Mono"/>
                <a:cs typeface="Aptos Mono"/>
              </a:rPr>
              <a:t>t+2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15293A-FB7B-4620-80CC-AB5F3EB7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74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2338E8-DE86-47E7-B010-04BADDAE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720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66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B64741-EC0B-4174-8158-760CC4E3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720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57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F0DC2-8233-40DD-A6AA-AC64FD00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72050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759AE7-5210-49B8-BB29-34BEB57C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6235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A6FEC7D-9DA3-44FC-82A6-ECFCDB35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86175"/>
            <a:ext cx="1562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67 / 14 / 15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07EEDA-942E-44A4-867A-BE411E5F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5765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train / validation / test split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2C0755-F9CA-4298-B24C-6AADA243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6235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30B823A-052D-46F9-9CBF-D51DF6AD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686175"/>
            <a:ext cx="1562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rPr>
              <a:t>64.0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C5D60C-EA5E-4B2D-BDB2-DB7E1BDD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05765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average time steps in each split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34E3346-08E9-468A-9904-145C9EC3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67250"/>
            <a:ext cx="3924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0B823F8-6D10-4A64-BDA6-E227A36F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91075"/>
            <a:ext cx="361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rPr>
              <a:t>93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4E1B64-93AB-4773-BF8D-21179FC2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6255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token vocabulary: 88 MIDI pitches + 5 special symbols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5C3CBC2-E24E-4694-82E4-A7A8E0CA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E4B563-BC82-41AF-B133-6DB93DB5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configs/mvp.yaml, outputs/tables/dataset_summary.csv, src/data.py, src/tokenization.py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A9D344-2DDE-4FBD-BEFA-B4F3E00E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03 / data</a:t>
            </a:r>
          </a:p>
        </p:txBody>
      </p:sp>
    </p:spTree>
    <p:extLst>
      <p:ext uri="{BB962C8B-B14F-4D97-AF65-F5344CB8AC3E}">
        <p14:creationId xmlns:p14="http://schemas.microsoft.com/office/powerpoint/2010/main" val="118181820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3F7EA1-8CF6-4EF1-B892-6C01DA3A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50D6EB9-51D8-4B71-9559-746A34ED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CD019C8-7270-46AD-BA35-2DCA78AC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250B2-D606-4C92-8710-AC8571E2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The corpus is compact, voice-ordered, and tonal enough for interpretable checks.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BD6AE5-BD41-4DF9-A829-BF5CE859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43075"/>
            <a:ext cx="3495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e9c4fc92f4f2a"/>
          <a:stretch xmlns:a="http://schemas.openxmlformats.org/drawingml/2006/main"/>
        </p:blipFill>
        <p:spPr>
          <a:xfrm xmlns:a="http://schemas.openxmlformats.org/drawingml/2006/main">
            <a:off x="552450" y="1797504"/>
            <a:ext cx="3476625" cy="198664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71EF3-431E-4EDD-BA0E-42D82ED5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43075"/>
            <a:ext cx="3495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eeebc62b04da1"/>
          <a:stretch xmlns:a="http://schemas.openxmlformats.org/drawingml/2006/main"/>
        </p:blipFill>
        <p:spPr>
          <a:xfrm xmlns:a="http://schemas.openxmlformats.org/drawingml/2006/main">
            <a:off x="4362450" y="1813024"/>
            <a:ext cx="3476625" cy="1955602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C4407-FA40-4591-9202-ED668C9B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1743075"/>
            <a:ext cx="3495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700b2a0a884ef7"/>
          <a:stretch xmlns:a="http://schemas.openxmlformats.org/drawingml/2006/main"/>
        </p:blipFill>
        <p:spPr>
          <a:xfrm xmlns:a="http://schemas.openxmlformats.org/drawingml/2006/main">
            <a:off x="8172450" y="1797504"/>
            <a:ext cx="3476625" cy="1986643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E3F843-8441-4C4D-AF91-8451DD3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Why it matters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2AD5C1-F535-4880-BFC7-57A5F8C6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29146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Sequence length tells us whether a fixed `max_seq_len` will cover most chorales without heavy truncation.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563486-6BC5-4DF3-9842-28A3AD86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48200"/>
            <a:ext cx="29146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SATB ranges provide a sanity check for generated voices and make range violations easy to count.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8751FD-68C3-4FC0-945D-4FCB2E6D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48200"/>
            <a:ext cx="29146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Pitch-class distribution gives a compact reference for whether samples still sound tonal.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53FC8C-3F7D-4DC3-A7C7-4B900933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4DBCDD-DDB3-408F-BBFC-7E82F67D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outputs/figures/sequence_lengths.png, voice_ranges.png, pitch_class_histogram.png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77A157-3901-4FF8-BA82-7D27B105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04 / eda</a:t>
            </a:r>
          </a:p>
        </p:txBody>
      </p:sp>
    </p:spTree>
    <p:extLst>
      <p:ext uri="{BB962C8B-B14F-4D97-AF65-F5344CB8AC3E}">
        <p14:creationId xmlns:p14="http://schemas.microsoft.com/office/powerpoint/2010/main" val="17685549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F4ABDA-D23F-47B0-93B8-D2BB8B81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13981D5-E241-43C0-BEE9-3274E69B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3F36F3F-E6CD-46C4-A9B6-6757A00C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TASK 1 MODELING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E17B7-AF81-4C49-80DA-0BBC6997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The GRU adds sequence memory beyond a one-step Markov baseline.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E9D78-6D63-438C-BBE4-D3B74794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4857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DD32C-903C-411B-AAAA-0B91E3B4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14550"/>
            <a:ext cx="3714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Baseline: first-order SATB Markov chain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22BF5-56B9-478A-BD49-938D3F79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1333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6C8"/>
          </a:solidFill>
          <a:ln xmlns:a="http://schemas.openxmlformats.org/drawingml/2006/main" w="9525">
            <a:solidFill>
              <a:srgbClr val="C9942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7B372-723B-4815-B770-3D8D443E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14650"/>
            <a:ext cx="1066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state t-1</a:t>
            </a:r>
          </a:p>
          <a:p xmlns:a="http://schemas.openxmlformats.org/drawingml/2006/main">
            <a:pPr algn="ctr">
              <a:defRPr sz="12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(S,A,T,B)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CE5E8E-7434-49D9-9A4A-47F12D55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670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9942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C9942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5489A9-8AC5-4D52-86B0-86B11A80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19400"/>
            <a:ext cx="1333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942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F8A30-1E10-4FD8-A756-E85652E2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1066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state t</a:t>
            </a:r>
          </a:p>
          <a:p xmlns:a="http://schemas.openxmlformats.org/drawingml/2006/main">
            <a:pPr algn="ctr">
              <a:defRPr sz="12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(S,A,T,B)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6673CA-F4E5-49A7-963A-FB4DB080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Strength: simple and transparent.</a:t>
            </a:r>
          </a:p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Weakness: sparse states and local-only memory.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E2E69A-7DD8-4365-A399-E99BE789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57350"/>
            <a:ext cx="52578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E3CA9-DACF-426A-AA5F-A243D7A9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2405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Neural model: four-head GRU language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FC381F-617C-4998-A516-4A81C4D6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47950"/>
            <a:ext cx="129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A2F8C-D4A2-4F6A-ABA0-E4E02506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43200"/>
            <a:ext cx="1028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SATB token history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E33F52-EBF3-4DF8-84C5-994FE6F8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57500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922D18-631A-412A-883F-11011361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71750"/>
            <a:ext cx="1466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95DFE3-EF61-4E16-A567-E05B1142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67000"/>
            <a:ext cx="12001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per-voice embeddings</a:t>
            </a:r>
          </a:p>
          <a:p xmlns:a="http://schemas.openxmlformats.org/drawingml/2006/main">
            <a:pPr algn="ctr">
              <a:defRPr sz="112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concat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66CC6-3174-4A41-B554-E739048B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57500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2F61E0-8673-4DBB-A24F-B708EC42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47950"/>
            <a:ext cx="876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0DD969-3FEA-4D16-AC6A-F313FE59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743200"/>
            <a:ext cx="609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2-layer GRU</a:t>
            </a:r>
          </a:p>
          <a:p xmlns:a="http://schemas.openxmlformats.org/drawingml/2006/main">
            <a:pPr algn="ctr">
              <a:defRPr sz="112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hidden=128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0B5C01-DE4C-45A2-B41F-C375838C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429000"/>
            <a:ext cx="19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BE9BD7-2C2D-416A-9609-1A544DEB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2910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23DC4B-1877-432E-8577-2E7730F6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32435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S head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76FB6E-F1C5-4BB0-8419-BAA791D3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22910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9525">
            <a:solidFill>
              <a:srgbClr val="3A6EA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C7BBEE-E646-40D0-B897-748E3ACA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32435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A head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E0FC5C-9E3D-4685-8C63-5275DFC5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70535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9525">
            <a:solidFill>
              <a:srgbClr val="3A6EA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0E60D9-D28E-4053-8EB8-D8C20EE1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8006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T head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66FAB7-877B-4466-B4AE-782358EA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70535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CD267C-1BFB-43FB-833A-136679F8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8006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B head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B2A5EA-58D5-48DD-936D-5D41A112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0070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9525">
            <a:solidFill>
              <a:srgbClr val="3A6EA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CC01E6-8558-4084-80F1-44ACFC88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657850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3A6EA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3A6EA5"/>
                </a:solidFill>
                <a:latin typeface="Aptos"/>
                <a:ea typeface="Aptos"/>
                <a:cs typeface="Aptos"/>
              </a:rPr>
              <a:t>Optimized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2BB1CF-3C8A-4B15-9CC7-213CB47A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600700"/>
            <a:ext cx="3295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Cross-entropy summed over soprano, alto, tenor, and bass next-token predictions.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0F4059-C825-418B-9F96-F70F493B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41E821-FE7A-4E51-97BF-59F64356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src/baselines.py, src/models.py, src/train_unconditioned.py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9566CF-52C7-4665-B5C0-418EF945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05 / task 1</a:t>
            </a:r>
          </a:p>
        </p:txBody>
      </p:sp>
    </p:spTree>
    <p:extLst>
      <p:ext uri="{BB962C8B-B14F-4D97-AF65-F5344CB8AC3E}">
        <p14:creationId xmlns:p14="http://schemas.microsoft.com/office/powerpoint/2010/main" val="63837057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C19482-41AA-4E4E-8ADF-BDB2B5A1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84921B8-96F5-49DE-B94D-7E974D4E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BB941DF-CD88-433D-A579-8C32DDE9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TASK 1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2904C-B0D5-4FB5-A76D-56C0DDD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The GRU is more varied and pitch-faithful, but it pays with voice-leading errors.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7D3DB-A68B-4D23-8752-F0D1B22B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666875"/>
            <a:ext cx="4114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c948eb3da4dd4"/>
          <a:stretch xmlns:a="http://schemas.openxmlformats.org/drawingml/2006/main"/>
        </p:blipFill>
        <p:spPr>
          <a:xfrm xmlns:a="http://schemas.openxmlformats.org/drawingml/2006/main">
            <a:off x="616744" y="1676400"/>
            <a:ext cx="3967163" cy="2266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999403-F9DC-43E1-9CA9-A312FF76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666875"/>
            <a:ext cx="4114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9752a6f3d14db7"/>
          <a:stretch xmlns:a="http://schemas.openxmlformats.org/drawingml/2006/main"/>
        </p:blipFill>
        <p:spPr>
          <a:xfrm xmlns:a="http://schemas.openxmlformats.org/drawingml/2006/main">
            <a:off x="5042958" y="1676400"/>
            <a:ext cx="4030133" cy="22669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24C30-FB90-42B9-8EA7-CE614D9C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9545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6D1F7-1FEB-440F-8361-E19876B8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19275"/>
            <a:ext cx="1562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7.61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E8C59F-2925-4E1D-A951-035765A4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19075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GRU per-voice perplexity on the generated evaluation 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C8729-53DB-4515-A20A-8ADB2D67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360FB-5FD8-43BD-AC85-D8F1869D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05125"/>
            <a:ext cx="1562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rPr>
              <a:t>0.072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9F28C8-D746-44BC-856D-D1A505BB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pitch-class distance vs. 1.135 for Markov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7363B1-90CC-4C3C-A926-FA853E51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6715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4C285-AE1F-4271-9874-268629F3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990975"/>
            <a:ext cx="1562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rPr>
              <a:t>22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E1BECB-9028-49D0-AFD0-4A93924C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36245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voice crossings in the GRU sample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C2389-776C-409C-A351-F2B78C1E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4248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1F0C27-BFA1-44F6-B528-B4805B42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424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A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3F39E6-818D-407C-9480-B539B173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95800"/>
            <a:ext cx="1028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AC78EB-45BE-47B5-8B82-9776F930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400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092DE1-D483-48B9-B0A2-E51EA6EF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9580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Repeat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A35874-791F-4409-91CA-960517E8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400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2D57A3-438A-48C0-ADA9-214AD8E9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49580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399B3D-6661-41DB-BDCD-89D4DA7C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00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3FED30-AADA-46E5-94A7-D84F9F73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49580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Parallel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EC1F11-6522-485B-B712-A42D03A2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4248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DC6A2C-E624-4A50-A649-96CBE285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33950"/>
            <a:ext cx="1028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Markov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5655C8-6859-4FCA-B368-E7D7B672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38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98060C-F4EB-44E0-A9C5-E3004D4E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93395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97.6%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D76610-5879-4DAF-A851-5EB764F0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38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7C46D7-A3E4-4DEF-9969-D21F335E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9339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4.2%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4E8426-66F3-4E56-824C-5DD26679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38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EC75B4-7A94-42F3-8725-12FB9431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93395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62BEAF-9384-4A51-BBF4-58BA93BA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76850"/>
            <a:ext cx="4248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3B6027-FE5D-4E53-A384-7A62A72A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72100"/>
            <a:ext cx="1028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GRU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AA3E9E-68B9-4C70-BCB7-1951AC3D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276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23CBBC-ADC4-47B7-BE89-C02DBFFC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37210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17.9%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7814D9-0375-4710-ACA0-9CD07406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76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B578E7-8C03-488C-A253-F1024798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7210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2343C2-DCA1-45E7-9FBF-4D6F6252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76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95D240-50EF-4EC2-9F3F-F51A8B4E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37210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3C33697-4F29-4DB3-A446-F93448CA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533900"/>
            <a:ext cx="3619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Interpretation: the Markov sample is overly sticky, while the GRU uses many more sonorities. The tradeoff is that a small model without explicit harmony constraints can still cross voices or create parallel perfect intervals.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2482B7-8307-467F-832F-BF75F2AD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562600"/>
            <a:ext cx="3619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33A5B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33A5B"/>
                </a:solidFill>
                <a:latin typeface="Aptos"/>
                <a:ea typeface="Aptos"/>
                <a:cs typeface="Aptos"/>
              </a:rPr>
              <a:t>Caveat: Markov tuple NLL and four-head GRU loss are on different modeling scales, so the musical metrics carry the comparison.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B0BA12E-9861-45DC-A2B6-199232E1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071F11-BD87-4283-B6C6-D129B180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outputs/logs/unconditioned_history.json, outputs/tables/unconditioned_metrics.csv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8DDC82-BFE8-4A98-B259-A77F41A5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06 / task 1</a:t>
            </a:r>
          </a:p>
        </p:txBody>
      </p:sp>
    </p:spTree>
    <p:extLst>
      <p:ext uri="{BB962C8B-B14F-4D97-AF65-F5344CB8AC3E}">
        <p14:creationId xmlns:p14="http://schemas.microsoft.com/office/powerpoint/2010/main" val="209909181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DC834-18C1-4895-9FF8-7FCAC585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2E41E58-52AE-47E3-A3B5-C5B03BA2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C4305F2-9BDB-4B0B-8371-0BBF071E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TASK 2 MODELING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99B9F-2608-45F6-9445-AAC8D30C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Harmonization turns the known soprano line into three lower voices.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53F486-06DE-4E20-8B32-5297B424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5346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242C01-152F-4AC7-B5B9-4304AD95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80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3507C-A140-4F94-86EE-D1C44C4C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0002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A1F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171A1F"/>
                </a:solidFill>
                <a:latin typeface="Aptos Mono"/>
                <a:ea typeface="Aptos Mono"/>
                <a:cs typeface="Aptos Mono"/>
              </a:rPr>
              <a:t>soprano_0 ... soprano_T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78B4D-DC17-49F5-909E-C8C87B87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9812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53595-B581-435F-906B-3653471E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0025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66E2C2-28E8-4CD4-9DFC-28998302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00250"/>
            <a:ext cx="3733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A1F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171A1F"/>
                </a:solidFill>
                <a:latin typeface="Aptos Mono"/>
                <a:ea typeface="Aptos Mono"/>
                <a:cs typeface="Aptos Mono"/>
              </a:rPr>
              <a:t>[alto_t, tenor_t, bass_t] for each time 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3F5D1-C23D-4E59-ADDB-FC211073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47053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1F3160-6D42-4189-BB74-96CCB9DF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Lookup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61B968-F916-4F88-9917-655FC9D2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1352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6C8"/>
          </a:solidFill>
          <a:ln xmlns:a="http://schemas.openxmlformats.org/drawingml/2006/main" w="9525">
            <a:solidFill>
              <a:srgbClr val="C9942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345CD-3304-4DF3-AEB2-E5DF8558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86250"/>
            <a:ext cx="1085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soprano pitch class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A21E22-EEE9-4E39-A901-8DB1579D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343400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9942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9942F"/>
                </a:solidFill>
                <a:latin typeface="Aptos"/>
                <a:ea typeface="Aptos"/>
                <a:cs typeface="Aptos"/>
              </a:rPr>
              <a:t>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47417B-6C49-406F-8669-2401EA86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9100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6C8"/>
          </a:solidFill>
          <a:ln xmlns:a="http://schemas.openxmlformats.org/drawingml/2006/main" w="9525">
            <a:solidFill>
              <a:srgbClr val="C9942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6E033F-A65D-4464-AEBF-B4A73A5D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86250"/>
            <a:ext cx="895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beat position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F12267-DC7B-4B72-B696-D382E80A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24350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9942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C9942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CE6FA3-2BC7-4504-8E98-1AA6DC69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52900"/>
            <a:ext cx="933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942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C42A7D-38E5-4C5E-B169-8CE0A6D9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48150"/>
            <a:ext cx="666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most common</a:t>
            </a:r>
          </a:p>
          <a:p xmlns:a="http://schemas.openxmlformats.org/drawingml/2006/main">
            <a:pPr algn="ctr">
              <a:defRPr sz="9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ATB tuple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4665B3-2B9D-4B98-8580-B2BF441E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81350"/>
            <a:ext cx="52387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A268A4-A80E-47F4-8F3B-8E332E09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480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BiGRU harmonizer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75E8D0-AFD6-41B2-8F90-3E160FCE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95750"/>
            <a:ext cx="1295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FA7FAC-A39F-4FD0-BD49-B259FA80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91000"/>
            <a:ext cx="1028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soprano token sequence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C99C8B-048C-4C54-A378-01B3C90D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57675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683971-892F-48E4-9A9F-A555974A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895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2322A7-4F71-4FDD-B0FB-C27E1D9E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91000"/>
            <a:ext cx="628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embedding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71E35-68E9-4CFC-88AE-63A246B1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57675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68C7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8F7A44-B97D-4BEE-BBF6-4B25812A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38600"/>
            <a:ext cx="1238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864F40-3858-444B-9894-DE9841C9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33850"/>
            <a:ext cx="971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2-layer</a:t>
            </a:r>
          </a:p>
          <a:p xmlns:a="http://schemas.openxmlformats.org/drawingml/2006/main">
            <a:pPr algn="ctr">
              <a:defRPr sz="105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bidirectional GRU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384540-F272-4E3A-AFCA-F9D45C2E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80060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A43550-DD16-43E1-958B-9E9E3DF3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029200"/>
            <a:ext cx="590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9525">
            <a:solidFill>
              <a:srgbClr val="3A6EA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DB9F21-697F-4A51-94AD-633FE751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12445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alto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5483E9-9640-46F4-849A-753D25E3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029200"/>
            <a:ext cx="590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9525">
            <a:solidFill>
              <a:srgbClr val="3A6EA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711104-3DF3-44EB-814B-CB303FD6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12445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tenor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0132F0-31D1-4EAA-A352-0AECA0B7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29200"/>
            <a:ext cx="590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9525">
            <a:solidFill>
              <a:srgbClr val="3A6EA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0B64E4-B72B-40B3-B009-567E6809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12445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bass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568543-AECB-4E79-9777-AA76EF87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73405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9525">
            <a:solidFill>
              <a:srgbClr val="3A6EA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E74098-E525-4A5C-A4CF-3888CAFE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791200"/>
            <a:ext cx="1219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3A6EA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3A6EA5"/>
                </a:solidFill>
                <a:latin typeface="Aptos"/>
                <a:ea typeface="Aptos"/>
                <a:cs typeface="Aptos"/>
              </a:rPr>
              <a:t>Why bidirectional?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72E738B-E1E5-4598-87FC-A685FBCC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734050"/>
            <a:ext cx="2362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The full melody is known before harmonization, so looking ahead is allowed.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87F286-96B1-455D-9507-DFCEAC09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DF8AD7-5C1A-4AAA-9F48-D55AB1DE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src/baselines.py, src/models.py, src/train_conditioned.py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A6F9F2-5077-4E1B-BD1C-6C00E0C0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07 / task 2</a:t>
            </a:r>
          </a:p>
        </p:txBody>
      </p:sp>
    </p:spTree>
    <p:extLst>
      <p:ext uri="{BB962C8B-B14F-4D97-AF65-F5344CB8AC3E}">
        <p14:creationId xmlns:p14="http://schemas.microsoft.com/office/powerpoint/2010/main" val="22320145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A6DDFF-1464-4A37-AE18-9D2A6DFA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C02A3B6-06EC-48CD-90AC-73416743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E4032A7-491A-4C7A-A9F0-876F312F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TASK 2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597CC2-E08A-4B35-AD5F-67CA8FF1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The BiGRU lifts accuracy and cuts parallels, but cadence is weaker.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6C235-3244-4A11-B91E-415D7A5A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666875"/>
            <a:ext cx="4114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0490061f04337"/>
          <a:stretch xmlns:a="http://schemas.openxmlformats.org/drawingml/2006/main"/>
        </p:blipFill>
        <p:spPr>
          <a:xfrm xmlns:a="http://schemas.openxmlformats.org/drawingml/2006/main">
            <a:off x="616744" y="1676400"/>
            <a:ext cx="3967163" cy="2266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613807-A990-4A2F-B35C-9D273BFA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666875"/>
            <a:ext cx="4114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6471aba93c4a81"/>
          <a:stretch xmlns:a="http://schemas.openxmlformats.org/drawingml/2006/main"/>
        </p:blipFill>
        <p:spPr>
          <a:xfrm xmlns:a="http://schemas.openxmlformats.org/drawingml/2006/main">
            <a:off x="5042958" y="1676400"/>
            <a:ext cx="4030133" cy="22669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98C325-CD68-49A7-96DC-77EC2E7C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9545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607DA4-B071-48CD-ACD2-A19A6AC9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19275"/>
            <a:ext cx="1562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29.2%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956485-C2C4-486F-BF22-9802410B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19075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BiGRU average lower-voice accuracy vs. 27.0% lookup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0DE6FC-392B-4BE9-8CF9-AFD4117F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2B9309-6CA0-45F5-BBE2-C75DF8A8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05125"/>
            <a:ext cx="1562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rPr>
              <a:t>12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194AB3-D911-4B0B-93D9-87EDA41D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parallel fifth/octave count vs. 42 for lookup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07A49C-C056-4913-B3E5-15DEF33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6715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CDB0F-1D17-4C98-98FC-6F92481E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990975"/>
            <a:ext cx="1562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rPr>
              <a:t>0.40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5D1179-10FA-483C-80CA-86D7423B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36245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cadence heuristic vs. 1.00 lookup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6C2EC1-AC48-485B-8170-B21F39C6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44005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CF7FA8-5A83-4505-AF62-E9A9807C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4400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A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1C3B0B-3E21-4E33-8534-FEE44C7C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933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F6A8D9-7E60-4E75-8511-EAB33DB6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00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D8F15B-5EF7-4099-BC5D-54BDFB8D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49580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Alto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521CFF-B926-4A53-9D10-E46AAE7F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00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548BE3-3A4C-4AE4-AD4C-586D4EA3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Tenor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76C7DB-1DAC-419D-85B5-0DB3C0D9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400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EB4D0C-5EA6-4E00-906B-4B2C3DE9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49580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E48ECE-6832-4445-AA9E-DC272F44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00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9C5F40-61DD-4CC4-858C-D3690CDD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9580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Exact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8DD8F8-0379-420D-AF7A-5F117D68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B3B731-C1A0-49BC-B020-E7C09C92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933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Lookup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E2210F-AADA-4619-9FF1-CE3C0FA1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38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1180D7-DD7C-4705-8C00-3215BF78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3395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18.4%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46199D-4CF8-4AE3-A1A0-16AB29B6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38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5F6A65-1A5A-4F04-9321-D0A590E0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3395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24.6%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D080BA-8DD2-4843-B7FA-57C7787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838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55A8FA-9F3C-420E-8BE7-E60E3E57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3395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37.9%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5499A6-35B6-4D4D-9ECD-2198ACDB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838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724CB4-0120-49F6-BA71-C45155AC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93395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7.4%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3CC162-B248-4B45-BD5E-6F72F893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768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019BFA-91D4-4D30-8150-EE2E87C0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72100"/>
            <a:ext cx="933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BiGRU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B158305-BB24-472D-BC3F-3DB933CA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276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B6219C-765B-4E48-87CC-43A7DE2B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37210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26.3%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01F26D-37A4-4767-A892-61892270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76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CBA86-D6EA-4D12-85E7-D1D805B5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7210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22.7%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48A375C-F134-419F-ADD5-FB2B5929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276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187E50-CD29-4C3D-ADEE-C7943361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37210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38.5%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14B86E5-B3F6-493C-97CF-17D46637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276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BD8B09-FF3C-4028-89BA-242EE5759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372100"/>
            <a:ext cx="628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3.6%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AF13A1-0B87-4A9A-BE0F-E9FBD521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33900"/>
            <a:ext cx="3619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Interpretation: exact ATB match is harsh because many harmonizations can be valid. The useful signal is the combination of per-voice accuracy, range/crossing sanity, and fewer parallel perfect intervals.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7F2E03-333C-4448-9FE0-D9D230A6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562600"/>
            <a:ext cx="3619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33A5B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33A5B"/>
                </a:solidFill>
                <a:latin typeface="Aptos"/>
                <a:ea typeface="Aptos"/>
                <a:cs typeface="Aptos"/>
              </a:rPr>
              <a:t>Failure mode to mention during playback: the neural harmonizer is plausible locally but does not always land with a strong final cadence.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9A09D2-7DDE-41B0-B138-914D9D04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B82A5FF-0AA8-4754-BBFB-43336E2A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outputs/logs/conditioned_history.json, outputs/tables/conditioned_metrics.csv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D99DB7B-223E-4C73-8BAF-AF182E0B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08 / task 2</a:t>
            </a:r>
          </a:p>
        </p:txBody>
      </p:sp>
    </p:spTree>
    <p:extLst>
      <p:ext uri="{BB962C8B-B14F-4D97-AF65-F5344CB8AC3E}">
        <p14:creationId xmlns:p14="http://schemas.microsoft.com/office/powerpoint/2010/main" val="14435971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6497F7-680E-4620-9700-5E35501C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4583433-1D2E-4B4E-A294-570CE3FB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B1B4AA1-B310-448F-9CE6-59ED58C8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EVALUATION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C01618-7215-4858-95F9-F3B84D7F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Predictive fit and musical plausibility answer different questions.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5AE3E-0AE9-4868-B958-D6EE554F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238125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2BBFE-F523-430F-8B0A-B3F24967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6E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1FF1EC-1D1B-4CDC-A73D-B4A91FE8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rPr>
              <a:t>ML 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F8F56-10FC-42A1-B055-38423F0D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919A22-47CB-4A00-A315-D3EB739E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validation/test loss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CE381F-F23D-49B2-A640-F4F28CA2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F49C57-5D29-48AB-AB46-380AE9FD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perplexity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D1256D-20F1-46E8-83D1-FADACDB5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C8F560-C006-4A32-8291-E9053B43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per-voice accuracy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F89853-A7F6-4276-8D9D-CFA79255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32D099-00CC-419E-B161-667E4BE0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exact ATB accuracy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6CF57-554C-4E54-88BB-115DB335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38350"/>
            <a:ext cx="238125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EBABFB-C267-4253-8AA9-AF28CC86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383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829C98-24D1-42AE-B39A-32654D63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050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Voice-leading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F8F355-2037-4566-9CB3-3F187E34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384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CCEA64-81A1-46B9-8AC2-DAB1A6ED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146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range violations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A5D44C-3031-4304-89AC-D12B4F79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956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813976-316F-4E03-8C8E-5E40DC30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718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voice crossings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5E04C4-BDEC-4B12-8F72-93F855B8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528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8AFB51-881F-4B91-87B0-EF19D9AF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290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repeated-note ratio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88F574-9A98-424E-BDBD-56E39A36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100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249F1-7461-4F14-BBA5-1CF04A67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286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parallel fifths/octaves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E88726-5F7A-4F10-B096-B1E58B05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238125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3B3ECE-1F1E-4377-9F72-4E594DB2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4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089DC6-4733-4466-AA6A-B52D991D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050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rPr>
              <a:t>Harmony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C776B0-E917-4883-B53E-40F7C8B9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E84016-A4FB-42A3-AF38-36EAB863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146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strong-beat consonance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584E-1805-40C2-834F-609ECD2F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956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A5A0FD-1D2F-49F7-9479-8BAD3522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718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chord diversity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D04629-C3B6-4825-BB94-2F8D3771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10593F-518F-4C1B-AD74-379319FF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290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cadence heuristic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2C5890-5F1D-4DC1-B9C2-EB61C6C8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38350"/>
            <a:ext cx="238125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3B1AEF-9F1E-4FED-8ED8-BDC6115D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383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318E52-4DAA-40E6-BFEE-7882BFC9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050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rPr>
              <a:t>Distribution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CDC109-B8C6-4936-8247-5C7D9978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8384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D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DA1741-777F-47E1-979A-7049FA81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146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pitch-class histogram distance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6BDD52-139C-444A-B9A6-72771476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956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D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CB8A45-2FAE-4BA0-9B2F-2EC43A35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718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generated vs. training pitch footprint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E858D2-DE03-40F8-BECF-A5C3E9EF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4864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9525">
            <a:solidFill>
              <a:srgbClr val="171A1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C222E2-B179-4104-8DA0-0C614838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5435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Core message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7281A37-B7AD-4168-8720-0036C6EB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476875"/>
            <a:ext cx="712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Good likelihood alone is not enough: a generated chorale also needs singable ranges, stable sonorities, varied chords, and a convincing ending.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B1737FA-8603-492D-8F95-42DD8940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8E71350-34CD-40D8-8D48-1395A96D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src/evaluate.py, src/metrics_music.py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5F9A139-2B58-4BE2-B8BD-63F558A3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09 / evaluation</a:t>
            </a:r>
          </a:p>
        </p:txBody>
      </p:sp>
    </p:spTree>
    <p:extLst>
      <p:ext uri="{BB962C8B-B14F-4D97-AF65-F5344CB8AC3E}">
        <p14:creationId xmlns:p14="http://schemas.microsoft.com/office/powerpoint/2010/main" val="165670693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15410C-1608-49BF-AFA2-DF45DDE3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7421639-3B11-463A-926F-82322702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86F42DE-A74A-4185-AD2F-2C5E1977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LISTENING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010C0E-8B22-4CA3-A899-831DD3BB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Use playback to connect the metric tradeoffs to what graders hear.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EA21B8-CB41-4A51-9C53-34E38E02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49530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095D4-4E91-4983-B9E6-65DF86B2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955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Playback order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1DBDF4-2FDA-496A-82F0-E0EFE25A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6C8"/>
          </a:solidFill>
          <a:ln xmlns:a="http://schemas.openxmlformats.org/drawingml/2006/main" w="9525">
            <a:solidFill>
              <a:srgbClr val="C9942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72B6A-BCAF-4C33-9FFF-8270C63B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76550"/>
            <a:ext cx="3390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1. symbolic_unconditioned.mid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546B2-A690-4C35-8A6B-E7B2520E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6235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9525">
            <a:solidFill>
              <a:srgbClr val="168C7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6BA24A-C0A7-4C8C-BEBF-A83F5D3B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57600"/>
            <a:ext cx="3390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A1F"/>
                </a:solidFill>
                <a:latin typeface="Aptos"/>
                <a:ea typeface="Aptos"/>
                <a:cs typeface="Aptos"/>
              </a:rPr>
              <a:t>2. symbolic_conditioned.mid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A63A2C-5BA3-4DAC-B8D2-FB002DD1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Optional comparison files live in `outputs/midi/`: baseline_unconditioned.mid, baseline_conditioned.mid, and reference_test_chorale.mid.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E3594-AFF4-4DD3-8C6C-C68DA61D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90700"/>
            <a:ext cx="51625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DF0415-9F09-48CB-A0FD-F542EAE8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95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What to listen for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63C98-FB18-4BF1-B220-68C6DC69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051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CC2FDA-328F-459D-945D-4CDA5BE0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28925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Variety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9860C4-51C9-476D-957B-8FE69E6F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00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Does it move beyond repeated states?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9EC408-353C-4773-A962-C819F83C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5613CD-E935-435D-8954-75F979A4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28925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3A6EA5"/>
                </a:solidFill>
                <a:latin typeface="Aptos Display"/>
                <a:ea typeface="Aptos Display"/>
                <a:cs typeface="Aptos Display"/>
              </a:rPr>
              <a:t>Ordering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85B9AC-401E-4044-86B0-FBCDE52C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Do lower voices stay below upper voices?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C83C57-6A42-469F-9B6D-7605B23E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7051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22566F-CBAB-4357-B453-786D4E21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828925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B33A5B"/>
                </a:solidFill>
                <a:latin typeface="Aptos Display"/>
                <a:ea typeface="Aptos Display"/>
                <a:cs typeface="Aptos Display"/>
              </a:rPr>
              <a:t>Cadence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BBE09-55C0-4E0E-A868-D1E5D08D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200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Does the ending sound final?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54CA3B-325B-4E67-A696-3963982E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57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6C8"/>
          </a:solidFill>
          <a:ln xmlns:a="http://schemas.openxmlformats.org/drawingml/2006/main" w="9525">
            <a:solidFill>
              <a:srgbClr val="C9942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67B77F-4525-4F7D-AD13-61F395AC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1480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C9942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C9942F"/>
                </a:solidFill>
                <a:latin typeface="Aptos"/>
                <a:ea typeface="Aptos"/>
                <a:cs typeface="Aptos"/>
              </a:rPr>
              <a:t>Narration cue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6250E7-AA76-460D-B6D6-F860496A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57650"/>
            <a:ext cx="2762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A3F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A3F44"/>
                </a:solidFill>
                <a:latin typeface="Aptos"/>
                <a:ea typeface="Aptos"/>
                <a:cs typeface="Aptos"/>
              </a:rPr>
              <a:t>Frame imperfections as model behavior: this helps graders see that the evaluation and listening discussion match the code.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8E501E-7F4E-4343-AF97-07358E8C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932097-D75E-4E3E-A703-A84AA8E1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outputs/midi/symbolic_unconditioned.mid, outputs/midi/symbolic_conditioned.mid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02D162-771D-4EE0-8325-8A4F9222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10 / demo</a:t>
            </a:r>
          </a:p>
        </p:txBody>
      </p:sp>
    </p:spTree>
    <p:extLst>
      <p:ext uri="{BB962C8B-B14F-4D97-AF65-F5344CB8AC3E}">
        <p14:creationId xmlns:p14="http://schemas.microsoft.com/office/powerpoint/2010/main" val="15202111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291BF8-FA0A-4203-B5D7-7F8079BF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8DF87BE-600A-4CF0-8FB4-E7912CBE9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FF1F3A2-E4F8-4115-AD5B-D59BB7CA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C7F"/>
                </a:solidFill>
                <a:latin typeface="Aptos"/>
                <a:ea typeface="Aptos"/>
                <a:cs typeface="Aptos"/>
              </a:rPr>
              <a:t>RELATED WORK AND LIMITS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83E43-F559-43FE-9FCF-817C56A6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81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1A1F"/>
                </a:solidFill>
                <a:latin typeface="Aptos Display"/>
                <a:ea typeface="Aptos Display"/>
                <a:cs typeface="Aptos Display"/>
              </a:rPr>
              <a:t>BachBot is smaller than research systems, so the tradeoffs are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47758-9C98-441B-B368-254F0674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98869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AB42C-192E-4D84-9DA3-F7759408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9886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A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7E19F-487A-495D-87CB-9FC61C16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05000"/>
            <a:ext cx="1600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Reference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FAA90-4678-40A8-AB26-B9104A2C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097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E7F638-0CFC-4A71-A43F-D4228BA7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05000"/>
            <a:ext cx="3371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brings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E2E55-9DBE-40D7-91E8-7080F0B5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097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A353C1-433A-42AB-8042-9F1A5620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05000"/>
            <a:ext cx="4343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How BachBot differs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A6BCC4-2092-4D32-98FD-3A1A7297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222A2F-8ED9-4316-9886-EBE06C69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1600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DeepBach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B30FF9-DAF5-4035-AC6D-55908A93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765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5C3241-D020-41BB-A581-051A72F5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571750"/>
            <a:ext cx="3371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Direct Bach chorale generation and harmonization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75CD29-209C-4477-A58A-F3BB9165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765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8F4EF7-FFD8-495E-8A20-C4E1B71A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4343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lighter grid representation, GRU models, class-scale training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94762A-35D0-42F7-AA53-CD592D3E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E3898E-D9DE-474B-857C-8AB0DC9C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1600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Music Transformer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3635CB-B6BA-4CFA-9C8A-173B3A6D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432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355894-CD59-42C6-8E06-2DF4D572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38500"/>
            <a:ext cx="3371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self-attention for longer-range symbolic structure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CA0C06-37E0-4A4D-A931-150C3C4C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432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AE0F1A-9426-4A85-A0BB-47CA7459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38500"/>
            <a:ext cx="4343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GRU is cheaper and easier to train for the MVP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B0DDCA-35D4-4B35-99F9-7BADE92D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7C347B-797B-4F2C-BCAC-1CAE7060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1600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Bach chorales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D0FA77-A313-4CCB-98AF-BCC2D38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100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F345ED-5218-4F84-BD60-6A6DBFFC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05250"/>
            <a:ext cx="3371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compact SATB benchmark with harmonic regularities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41059-EA78-4F78-B844-41BCA267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100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DC8D55-C9C2-474F-B851-D26D8F20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05250"/>
            <a:ext cx="4343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fallback corpus keeps pipeline runnable without corpus access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7A7184-BD54-47CF-A6CC-C1FBA77A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72100"/>
            <a:ext cx="958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DE4"/>
          </a:solidFill>
          <a:ln xmlns:a="http://schemas.openxmlformats.org/drawingml/2006/main" w="9525">
            <a:solidFill>
              <a:srgbClr val="B33A5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3B27CE-F543-4305-8B35-D8D344B0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05450"/>
            <a:ext cx="876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33A5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B87985-479C-4BD6-B5D6-C2821B2C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626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B33A5B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B33A5B"/>
                </a:solidFill>
                <a:latin typeface="Aptos"/>
                <a:ea typeface="Aptos"/>
                <a:cs typeface="Aptos"/>
              </a:rPr>
              <a:t>Limits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D81C60-73BB-44F9-9205-091DB148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505450"/>
            <a:ext cx="786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A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1A1F"/>
                </a:solidFill>
                <a:latin typeface="Aptos"/>
                <a:ea typeface="Aptos"/>
                <a:cs typeface="Aptos"/>
              </a:rPr>
              <a:t>Small data, fixed eighth-note grid, short training, and no explicit harmony constraints explain many of the remaining musical errors.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4A6B34-1253-4204-A5A6-06794186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EF8583-AB7B-4DAE-B7FC-4F77EAF5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bachbot_group_project_plan.md, notebooks/workbook.html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F946A3-5BA0-4BC5-83F9-886CDB35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68706D"/>
                </a:solidFill>
                <a:latin typeface="Aptos Mono"/>
                <a:ea typeface="Aptos Mono"/>
                <a:cs typeface="Aptos Mono"/>
              </a:rPr>
              <a:t>11 / related work</a:t>
            </a:r>
          </a:p>
        </p:txBody>
      </p:sp>
    </p:spTree>
    <p:extLst>
      <p:ext uri="{BB962C8B-B14F-4D97-AF65-F5344CB8AC3E}">
        <p14:creationId xmlns:p14="http://schemas.microsoft.com/office/powerpoint/2010/main" val="108687266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6BEC18-6044-42FA-95EF-00249D2B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A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86C036A-5FE8-4156-A720-4CF3FF99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4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B4FCA7A-D3BB-4F31-AABB-F5EDD90D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72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942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42F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563240-3F11-4830-B756-31E84352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876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project is complete enough to grade, and honest enough to improve.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E6689-ADAC-4D59-9B61-E4B50C3D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48958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D9082A-5361-4919-BB0B-A48D5485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Key takeaways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5A4FF3-602B-4FB7-9483-EE6DF324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09950"/>
            <a:ext cx="39624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1. A shared SATB representation supports both tasks.</a:t>
            </a:r>
          </a:p>
          <a:p xmlns:a="http://schemas.openxmlformats.org/drawingml/2006/main">
            <a:pPr algn="l">
              <a:defRPr sz="1350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2. Neural models beat simple baselines on some signals, but not every musical property.</a:t>
            </a:r>
          </a:p>
          <a:p xmlns:a="http://schemas.openxmlformats.org/drawingml/2006/main">
            <a:pPr algn="l">
              <a:defRPr sz="1350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3. The next step is adding real Bach corpus access, stronger constraints, and longer-range models.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A3130-B367-4067-93C3-B056013C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28900"/>
            <a:ext cx="485775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8C0ED-135B-4026-AD0A-6BC1DA32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146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Submission checklist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BCA97-9385-48CE-A0DD-BECE4FF9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A444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8B87D5-7FE0-4D00-B583-A1355E7D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52825"/>
            <a:ext cx="150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rPr>
              <a:t>workbook.html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C8F35D-E9DE-408A-97EF-96A3AA4E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2430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exported notebook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5B74B7-74BC-4EBC-B4B2-F372874B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2900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A444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12A685-0866-43B4-A791-B71794C1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552825"/>
            <a:ext cx="150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C9942F"/>
                </a:solidFill>
                <a:latin typeface="Aptos Display"/>
                <a:ea typeface="Aptos Display"/>
                <a:cs typeface="Aptos Display"/>
              </a:rPr>
              <a:t>video_url.txt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20844A-FEEC-4320-A808-3465E43E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recording link placeholder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647AD0-0315-49EA-8C94-38BA6664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41960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3A444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09E252-31D1-4A09-8A8A-B55B54D8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543425"/>
            <a:ext cx="150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8C7F"/>
                </a:solidFill>
                <a:latin typeface="Aptos Display"/>
                <a:ea typeface="Aptos Display"/>
                <a:cs typeface="Aptos Display"/>
              </a:rPr>
              <a:t>2 MIDI files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6B868A-3859-405B-B1EF-54030FCA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91490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symbolic task outputs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86D4CA-0F66-477B-9099-30AE380B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59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B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D84CF0-6B03-4A10-9855-BF1DA521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8102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62B"/>
          </a:solidFill>
          <a:ln xmlns:a="http://schemas.openxmlformats.org/drawingml/2006/main" w="9525">
            <a:solidFill>
              <a:srgbClr val="C9942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9E3056-895D-4678-909F-CA90465E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674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C9942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C9942F"/>
                </a:solidFill>
                <a:latin typeface="Aptos"/>
                <a:ea typeface="Aptos"/>
                <a:cs typeface="Aptos"/>
              </a:rPr>
              <a:t>End with audio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F4B92C-7CF6-4D09-9325-9A0C6426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829300"/>
            <a:ext cx="3771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D8DEDC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D8DEDC"/>
                </a:solidFill>
                <a:latin typeface="Aptos"/>
                <a:ea typeface="Aptos"/>
                <a:cs typeface="Aptos"/>
              </a:rPr>
              <a:t>Play `symbolic_unconditioned.mid` and `symbolic_conditioned.mid` after Q&amp;A or as the final minute.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23FFF5-4F92-4B83-9350-5610BEB4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B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AFFB34-8D9F-486E-9121-59099BC6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9D0CE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9D0CE"/>
                </a:solidFill>
                <a:latin typeface="Aptos Mono"/>
                <a:ea typeface="Aptos Mono"/>
                <a:cs typeface="Aptos Mono"/>
              </a:rPr>
              <a:t>README.md, submission/*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38776B-E4E4-4558-BD18-114CCB46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C9D0CE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9D0CE"/>
                </a:solidFill>
                <a:latin typeface="Aptos Mono"/>
                <a:ea typeface="Aptos Mono"/>
                <a:cs typeface="Aptos Mono"/>
              </a:rPr>
              <a:t>12 / wrap</a:t>
            </a:r>
          </a:p>
        </p:txBody>
      </p:sp>
    </p:spTree>
    <p:extLst>
      <p:ext uri="{BB962C8B-B14F-4D97-AF65-F5344CB8AC3E}">
        <p14:creationId xmlns:p14="http://schemas.microsoft.com/office/powerpoint/2010/main" val="17679944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2026-05-28T04:09:20.5700000Z</dcterms:created>
  <dcterms:modified xsi:type="dcterms:W3CDTF">2026-05-28T04:09:20.5700000Z</dcterms:modified>
</coreProperties>
</file>